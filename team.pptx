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jpg" ContentType="image/jp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4630400" cy="8229600"/>
  <p:notesSz cx="14630400" cy="8229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97280" y="2551176"/>
            <a:ext cx="12435840" cy="17282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94560" y="4608576"/>
            <a:ext cx="10241280" cy="205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rgbClr val="272424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rgbClr val="272424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731520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7534656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894576" y="7803970"/>
            <a:ext cx="1614272" cy="30372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24217" y="803274"/>
            <a:ext cx="13181964" cy="1313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70890" y="1608772"/>
            <a:ext cx="7459345" cy="55156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rgbClr val="272424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amma.app/?utm_source=made-with-gamma" TargetMode="Externa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amma.app/?utm_source=made-with-gamma" TargetMode="Externa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Relationship Id="rId3" Type="http://schemas.openxmlformats.org/officeDocument/2006/relationships/image" Target="../media/image9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0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Relationship Id="rId9" Type="http://schemas.openxmlformats.org/officeDocument/2006/relationships/image" Target="../media/image33.png"/><Relationship Id="rId10" Type="http://schemas.openxmlformats.org/officeDocument/2006/relationships/image" Target="../media/image34.png"/><Relationship Id="rId11" Type="http://schemas.openxmlformats.org/officeDocument/2006/relationships/image" Target="../media/image35.png"/><Relationship Id="rId12" Type="http://schemas.openxmlformats.org/officeDocument/2006/relationships/image" Target="../media/image36.png"/><Relationship Id="rId13" Type="http://schemas.openxmlformats.org/officeDocument/2006/relationships/image" Target="../media/image37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2685776" y="7780337"/>
            <a:ext cx="1841500" cy="374650"/>
            <a:chOff x="12685776" y="7780337"/>
            <a:chExt cx="1841500" cy="374650"/>
          </a:xfrm>
        </p:grpSpPr>
        <p:sp>
          <p:nvSpPr>
            <p:cNvPr id="3" name="object 3" descr="">
              <a:hlinkClick r:id="rId2"/>
            </p:cNvPr>
            <p:cNvSpPr/>
            <p:nvPr/>
          </p:nvSpPr>
          <p:spPr>
            <a:xfrm>
              <a:off x="12692126" y="7786687"/>
              <a:ext cx="1828800" cy="361950"/>
            </a:xfrm>
            <a:custGeom>
              <a:avLst/>
              <a:gdLst/>
              <a:ahLst/>
              <a:cxnLst/>
              <a:rect l="l" t="t" r="r" b="b"/>
              <a:pathLst>
                <a:path w="1828800" h="361950">
                  <a:moveTo>
                    <a:pt x="1828800" y="0"/>
                  </a:moveTo>
                  <a:lnTo>
                    <a:pt x="0" y="0"/>
                  </a:lnTo>
                  <a:lnTo>
                    <a:pt x="0" y="361950"/>
                  </a:lnTo>
                  <a:lnTo>
                    <a:pt x="1828800" y="361950"/>
                  </a:lnTo>
                  <a:lnTo>
                    <a:pt x="1828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>
              <a:hlinkClick r:id="rId2"/>
            </p:cNvPr>
            <p:cNvSpPr/>
            <p:nvPr/>
          </p:nvSpPr>
          <p:spPr>
            <a:xfrm>
              <a:off x="12692126" y="7786687"/>
              <a:ext cx="1828800" cy="361950"/>
            </a:xfrm>
            <a:custGeom>
              <a:avLst/>
              <a:gdLst/>
              <a:ahLst/>
              <a:cxnLst/>
              <a:rect l="l" t="t" r="r" b="b"/>
              <a:pathLst>
                <a:path w="1828800" h="361950">
                  <a:moveTo>
                    <a:pt x="0" y="361950"/>
                  </a:moveTo>
                  <a:lnTo>
                    <a:pt x="1828800" y="361950"/>
                  </a:lnTo>
                  <a:lnTo>
                    <a:pt x="1828800" y="0"/>
                  </a:lnTo>
                  <a:lnTo>
                    <a:pt x="0" y="0"/>
                  </a:lnTo>
                  <a:lnTo>
                    <a:pt x="0" y="36195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81684" y="2920110"/>
            <a:ext cx="11346180" cy="145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6600"/>
              </a:lnSpc>
              <a:spcBef>
                <a:spcPts val="95"/>
              </a:spcBef>
            </a:pPr>
            <a:r>
              <a:rPr dirty="0" spc="-670"/>
              <a:t>InsurAI</a:t>
            </a:r>
            <a:r>
              <a:rPr dirty="0" spc="-220"/>
              <a:t> </a:t>
            </a:r>
            <a:r>
              <a:rPr dirty="0" spc="-940"/>
              <a:t>–</a:t>
            </a:r>
            <a:r>
              <a:rPr dirty="0" spc="-235"/>
              <a:t> </a:t>
            </a:r>
            <a:r>
              <a:rPr dirty="0" spc="-385"/>
              <a:t>Corporate</a:t>
            </a:r>
            <a:r>
              <a:rPr dirty="0" spc="-254"/>
              <a:t> </a:t>
            </a:r>
            <a:r>
              <a:rPr dirty="0" spc="-360"/>
              <a:t>Policy</a:t>
            </a:r>
            <a:r>
              <a:rPr dirty="0" spc="-240"/>
              <a:t> </a:t>
            </a:r>
            <a:r>
              <a:rPr dirty="0" spc="-495"/>
              <a:t>Automation</a:t>
            </a:r>
            <a:r>
              <a:rPr dirty="0" spc="-220"/>
              <a:t> </a:t>
            </a:r>
            <a:r>
              <a:rPr dirty="0" spc="-480"/>
              <a:t>and </a:t>
            </a:r>
            <a:r>
              <a:rPr dirty="0" spc="-465"/>
              <a:t>Intelligence</a:t>
            </a:r>
            <a:r>
              <a:rPr dirty="0" spc="-265"/>
              <a:t> </a:t>
            </a:r>
            <a:r>
              <a:rPr dirty="0" spc="-445"/>
              <a:t>System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781684" y="4919027"/>
            <a:ext cx="4314825" cy="2889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700" spc="-65">
                <a:solidFill>
                  <a:srgbClr val="272424"/>
                </a:solidFill>
                <a:latin typeface="Verdana"/>
                <a:cs typeface="Verdana"/>
              </a:rPr>
              <a:t>AI-</a:t>
            </a:r>
            <a:r>
              <a:rPr dirty="0" sz="1700" spc="-35">
                <a:solidFill>
                  <a:srgbClr val="272424"/>
                </a:solidFill>
                <a:latin typeface="Verdana"/>
                <a:cs typeface="Verdana"/>
              </a:rPr>
              <a:t>Driven</a:t>
            </a:r>
            <a:r>
              <a:rPr dirty="0" sz="1700" spc="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45">
                <a:solidFill>
                  <a:srgbClr val="272424"/>
                </a:solidFill>
                <a:latin typeface="Verdana"/>
                <a:cs typeface="Verdana"/>
              </a:rPr>
              <a:t>Insurance</a:t>
            </a:r>
            <a:r>
              <a:rPr dirty="0" sz="1700" spc="-6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272424"/>
                </a:solidFill>
                <a:latin typeface="Verdana"/>
                <a:cs typeface="Verdana"/>
              </a:rPr>
              <a:t>Process</a:t>
            </a:r>
            <a:r>
              <a:rPr dirty="0" sz="1700" spc="-4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20">
                <a:solidFill>
                  <a:srgbClr val="272424"/>
                </a:solidFill>
                <a:latin typeface="Verdana"/>
                <a:cs typeface="Verdana"/>
              </a:rPr>
              <a:t>Automation</a:t>
            </a:r>
            <a:endParaRPr sz="17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2685776" y="7780337"/>
            <a:ext cx="1841500" cy="374650"/>
            <a:chOff x="12685776" y="7780337"/>
            <a:chExt cx="1841500" cy="374650"/>
          </a:xfrm>
        </p:grpSpPr>
        <p:sp>
          <p:nvSpPr>
            <p:cNvPr id="3" name="object 3" descr="">
              <a:hlinkClick r:id="rId2"/>
            </p:cNvPr>
            <p:cNvSpPr/>
            <p:nvPr/>
          </p:nvSpPr>
          <p:spPr>
            <a:xfrm>
              <a:off x="12692126" y="7786687"/>
              <a:ext cx="1828800" cy="361950"/>
            </a:xfrm>
            <a:custGeom>
              <a:avLst/>
              <a:gdLst/>
              <a:ahLst/>
              <a:cxnLst/>
              <a:rect l="l" t="t" r="r" b="b"/>
              <a:pathLst>
                <a:path w="1828800" h="361950">
                  <a:moveTo>
                    <a:pt x="1828800" y="0"/>
                  </a:moveTo>
                  <a:lnTo>
                    <a:pt x="0" y="0"/>
                  </a:lnTo>
                  <a:lnTo>
                    <a:pt x="0" y="361950"/>
                  </a:lnTo>
                  <a:lnTo>
                    <a:pt x="1828800" y="361950"/>
                  </a:lnTo>
                  <a:lnTo>
                    <a:pt x="1828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>
              <a:hlinkClick r:id="rId2"/>
            </p:cNvPr>
            <p:cNvSpPr/>
            <p:nvPr/>
          </p:nvSpPr>
          <p:spPr>
            <a:xfrm>
              <a:off x="12692126" y="7786687"/>
              <a:ext cx="1828800" cy="361950"/>
            </a:xfrm>
            <a:custGeom>
              <a:avLst/>
              <a:gdLst/>
              <a:ahLst/>
              <a:cxnLst/>
              <a:rect l="l" t="t" r="r" b="b"/>
              <a:pathLst>
                <a:path w="1828800" h="361950">
                  <a:moveTo>
                    <a:pt x="0" y="361950"/>
                  </a:moveTo>
                  <a:lnTo>
                    <a:pt x="1828800" y="361950"/>
                  </a:lnTo>
                  <a:lnTo>
                    <a:pt x="1828800" y="0"/>
                  </a:lnTo>
                  <a:lnTo>
                    <a:pt x="0" y="0"/>
                  </a:lnTo>
                  <a:lnTo>
                    <a:pt x="0" y="36195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47700" rIns="0" bIns="0" rtlCol="0" vert="horz">
            <a:spAutoFit/>
          </a:bodyPr>
          <a:lstStyle/>
          <a:p>
            <a:pPr marL="69850">
              <a:lnSpc>
                <a:spcPct val="100000"/>
              </a:lnSpc>
              <a:spcBef>
                <a:spcPts val="130"/>
              </a:spcBef>
            </a:pPr>
            <a:r>
              <a:rPr dirty="0" spc="-505"/>
              <a:t>Introduction:</a:t>
            </a:r>
            <a:r>
              <a:rPr dirty="0" spc="-210"/>
              <a:t> </a:t>
            </a:r>
            <a:r>
              <a:rPr dirty="0" spc="-450"/>
              <a:t>Navigating</a:t>
            </a:r>
            <a:r>
              <a:rPr dirty="0" spc="-220"/>
              <a:t> </a:t>
            </a:r>
            <a:r>
              <a:rPr dirty="0" spc="-475"/>
              <a:t>the</a:t>
            </a:r>
            <a:r>
              <a:rPr dirty="0" spc="-235"/>
              <a:t> </a:t>
            </a:r>
            <a:r>
              <a:rPr dirty="0" spc="-445"/>
              <a:t>Future</a:t>
            </a:r>
            <a:r>
              <a:rPr dirty="0" spc="-240"/>
              <a:t> </a:t>
            </a:r>
            <a:r>
              <a:rPr dirty="0" spc="-295"/>
              <a:t>of</a:t>
            </a:r>
            <a:r>
              <a:rPr dirty="0" spc="-275"/>
              <a:t> </a:t>
            </a:r>
            <a:r>
              <a:rPr dirty="0" spc="-509"/>
              <a:t>Insurance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781684" y="3171126"/>
            <a:ext cx="12905105" cy="113220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 marR="5080">
              <a:lnSpc>
                <a:spcPct val="141700"/>
              </a:lnSpc>
              <a:spcBef>
                <a:spcPts val="130"/>
              </a:spcBef>
            </a:pPr>
            <a:r>
              <a:rPr dirty="0" sz="1700">
                <a:solidFill>
                  <a:srgbClr val="272424"/>
                </a:solidFill>
                <a:latin typeface="Verdana"/>
                <a:cs typeface="Verdana"/>
              </a:rPr>
              <a:t>The</a:t>
            </a:r>
            <a:r>
              <a:rPr dirty="0" sz="1700" spc="-7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20">
                <a:solidFill>
                  <a:srgbClr val="272424"/>
                </a:solidFill>
                <a:latin typeface="Verdana"/>
                <a:cs typeface="Verdana"/>
              </a:rPr>
              <a:t>insurance</a:t>
            </a:r>
            <a:r>
              <a:rPr dirty="0" sz="1700" spc="-6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40">
                <a:solidFill>
                  <a:srgbClr val="272424"/>
                </a:solidFill>
                <a:latin typeface="Verdana"/>
                <a:cs typeface="Verdana"/>
              </a:rPr>
              <a:t>industry</a:t>
            </a:r>
            <a:r>
              <a:rPr dirty="0" sz="170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272424"/>
                </a:solidFill>
                <a:latin typeface="Verdana"/>
                <a:cs typeface="Verdana"/>
              </a:rPr>
              <a:t>faces</a:t>
            </a:r>
            <a:r>
              <a:rPr dirty="0" sz="1700" spc="-4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20">
                <a:solidFill>
                  <a:srgbClr val="272424"/>
                </a:solidFill>
                <a:latin typeface="Verdana"/>
                <a:cs typeface="Verdana"/>
              </a:rPr>
              <a:t>unprecedented</a:t>
            </a:r>
            <a:r>
              <a:rPr dirty="0" sz="170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20">
                <a:solidFill>
                  <a:srgbClr val="272424"/>
                </a:solidFill>
                <a:latin typeface="Verdana"/>
                <a:cs typeface="Verdana"/>
              </a:rPr>
              <a:t>challenges,</a:t>
            </a:r>
            <a:r>
              <a:rPr dirty="0" sz="1700" spc="-8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30">
                <a:solidFill>
                  <a:srgbClr val="272424"/>
                </a:solidFill>
                <a:latin typeface="Verdana"/>
                <a:cs typeface="Verdana"/>
              </a:rPr>
              <a:t>from</a:t>
            </a:r>
            <a:r>
              <a:rPr dirty="0" sz="1700" spc="-4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25">
                <a:solidFill>
                  <a:srgbClr val="272424"/>
                </a:solidFill>
                <a:latin typeface="Verdana"/>
                <a:cs typeface="Verdana"/>
              </a:rPr>
              <a:t>escalating</a:t>
            </a:r>
            <a:r>
              <a:rPr dirty="0" sz="1700" spc="-3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45">
                <a:solidFill>
                  <a:srgbClr val="272424"/>
                </a:solidFill>
                <a:latin typeface="Verdana"/>
                <a:cs typeface="Verdana"/>
              </a:rPr>
              <a:t>operational</a:t>
            </a:r>
            <a:r>
              <a:rPr dirty="0" sz="1700" spc="-7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272424"/>
                </a:solidFill>
                <a:latin typeface="Verdana"/>
                <a:cs typeface="Verdana"/>
              </a:rPr>
              <a:t>costs</a:t>
            </a:r>
            <a:r>
              <a:rPr dirty="0" sz="1700" spc="-4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90">
                <a:solidFill>
                  <a:srgbClr val="272424"/>
                </a:solidFill>
                <a:latin typeface="Verdana"/>
                <a:cs typeface="Verdana"/>
              </a:rPr>
              <a:t>to</a:t>
            </a:r>
            <a:r>
              <a:rPr dirty="0" sz="1700" spc="-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25">
                <a:solidFill>
                  <a:srgbClr val="272424"/>
                </a:solidFill>
                <a:latin typeface="Verdana"/>
                <a:cs typeface="Verdana"/>
              </a:rPr>
              <a:t>complex</a:t>
            </a:r>
            <a:r>
              <a:rPr dirty="0" sz="1700" spc="-7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10">
                <a:solidFill>
                  <a:srgbClr val="272424"/>
                </a:solidFill>
                <a:latin typeface="Verdana"/>
                <a:cs typeface="Verdana"/>
              </a:rPr>
              <a:t>regulatory </a:t>
            </a:r>
            <a:r>
              <a:rPr dirty="0" sz="1700" spc="-55">
                <a:solidFill>
                  <a:srgbClr val="272424"/>
                </a:solidFill>
                <a:latin typeface="Verdana"/>
                <a:cs typeface="Verdana"/>
              </a:rPr>
              <a:t>environments.</a:t>
            </a:r>
            <a:r>
              <a:rPr dirty="0" sz="170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20">
                <a:solidFill>
                  <a:srgbClr val="272424"/>
                </a:solidFill>
                <a:latin typeface="Verdana"/>
                <a:cs typeface="Verdana"/>
              </a:rPr>
              <a:t>Manual</a:t>
            </a:r>
            <a:r>
              <a:rPr dirty="0" sz="1700" spc="-9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272424"/>
                </a:solidFill>
                <a:latin typeface="Verdana"/>
                <a:cs typeface="Verdana"/>
              </a:rPr>
              <a:t>processes</a:t>
            </a:r>
            <a:r>
              <a:rPr dirty="0" sz="1700" spc="-7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30">
                <a:solidFill>
                  <a:srgbClr val="272424"/>
                </a:solidFill>
                <a:latin typeface="Verdana"/>
                <a:cs typeface="Verdana"/>
              </a:rPr>
              <a:t>and</a:t>
            </a:r>
            <a:r>
              <a:rPr dirty="0" sz="1700" spc="-6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10">
                <a:solidFill>
                  <a:srgbClr val="272424"/>
                </a:solidFill>
                <a:latin typeface="Verdana"/>
                <a:cs typeface="Verdana"/>
              </a:rPr>
              <a:t>legacy</a:t>
            </a:r>
            <a:r>
              <a:rPr dirty="0" sz="1700" spc="-12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20">
                <a:solidFill>
                  <a:srgbClr val="272424"/>
                </a:solidFill>
                <a:latin typeface="Verdana"/>
                <a:cs typeface="Verdana"/>
              </a:rPr>
              <a:t>systems</a:t>
            </a:r>
            <a:r>
              <a:rPr dirty="0" sz="1700" spc="-7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25">
                <a:solidFill>
                  <a:srgbClr val="272424"/>
                </a:solidFill>
                <a:latin typeface="Verdana"/>
                <a:cs typeface="Verdana"/>
              </a:rPr>
              <a:t>often</a:t>
            </a:r>
            <a:r>
              <a:rPr dirty="0" sz="170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30">
                <a:solidFill>
                  <a:srgbClr val="272424"/>
                </a:solidFill>
                <a:latin typeface="Verdana"/>
                <a:cs typeface="Verdana"/>
              </a:rPr>
              <a:t>hinder</a:t>
            </a:r>
            <a:r>
              <a:rPr dirty="0" sz="170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45">
                <a:solidFill>
                  <a:srgbClr val="272424"/>
                </a:solidFill>
                <a:latin typeface="Verdana"/>
                <a:cs typeface="Verdana"/>
              </a:rPr>
              <a:t>agility</a:t>
            </a:r>
            <a:r>
              <a:rPr dirty="0" sz="1700" spc="-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30">
                <a:solidFill>
                  <a:srgbClr val="272424"/>
                </a:solidFill>
                <a:latin typeface="Verdana"/>
                <a:cs typeface="Verdana"/>
              </a:rPr>
              <a:t>and</a:t>
            </a:r>
            <a:r>
              <a:rPr dirty="0" sz="1700" spc="-6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35">
                <a:solidFill>
                  <a:srgbClr val="272424"/>
                </a:solidFill>
                <a:latin typeface="Verdana"/>
                <a:cs typeface="Verdana"/>
              </a:rPr>
              <a:t>customer</a:t>
            </a:r>
            <a:r>
              <a:rPr dirty="0" sz="170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30">
                <a:solidFill>
                  <a:srgbClr val="272424"/>
                </a:solidFill>
                <a:latin typeface="Verdana"/>
                <a:cs typeface="Verdana"/>
              </a:rPr>
              <a:t>satisfaction.</a:t>
            </a:r>
            <a:r>
              <a:rPr dirty="0" sz="170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55">
                <a:solidFill>
                  <a:srgbClr val="272424"/>
                </a:solidFill>
                <a:latin typeface="Verdana"/>
                <a:cs typeface="Verdana"/>
              </a:rPr>
              <a:t>Automation,</a:t>
            </a:r>
            <a:r>
              <a:rPr dirty="0" sz="1700" spc="-30">
                <a:solidFill>
                  <a:srgbClr val="272424"/>
                </a:solidFill>
                <a:latin typeface="Verdana"/>
                <a:cs typeface="Verdana"/>
              </a:rPr>
              <a:t> driven</a:t>
            </a:r>
            <a:r>
              <a:rPr dirty="0" sz="1700" spc="-25">
                <a:solidFill>
                  <a:srgbClr val="272424"/>
                </a:solidFill>
                <a:latin typeface="Verdana"/>
                <a:cs typeface="Verdana"/>
              </a:rPr>
              <a:t> by </a:t>
            </a:r>
            <a:r>
              <a:rPr dirty="0" sz="1700" spc="-35">
                <a:solidFill>
                  <a:srgbClr val="272424"/>
                </a:solidFill>
                <a:latin typeface="Verdana"/>
                <a:cs typeface="Verdana"/>
              </a:rPr>
              <a:t>artificial</a:t>
            </a:r>
            <a:r>
              <a:rPr dirty="0" sz="170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35">
                <a:solidFill>
                  <a:srgbClr val="272424"/>
                </a:solidFill>
                <a:latin typeface="Verdana"/>
                <a:cs typeface="Verdana"/>
              </a:rPr>
              <a:t>intelligence,</a:t>
            </a:r>
            <a:r>
              <a:rPr dirty="0" sz="1700" spc="-12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10">
                <a:solidFill>
                  <a:srgbClr val="272424"/>
                </a:solidFill>
                <a:latin typeface="Verdana"/>
                <a:cs typeface="Verdana"/>
              </a:rPr>
              <a:t>is</a:t>
            </a:r>
            <a:r>
              <a:rPr dirty="0" sz="1700" spc="-16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272424"/>
                </a:solidFill>
                <a:latin typeface="Verdana"/>
                <a:cs typeface="Verdana"/>
              </a:rPr>
              <a:t>no</a:t>
            </a:r>
            <a:r>
              <a:rPr dirty="0" sz="1700" spc="-7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25">
                <a:solidFill>
                  <a:srgbClr val="272424"/>
                </a:solidFill>
                <a:latin typeface="Verdana"/>
                <a:cs typeface="Verdana"/>
              </a:rPr>
              <a:t>longer</a:t>
            </a:r>
            <a:r>
              <a:rPr dirty="0" sz="1700" spc="-6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65">
                <a:solidFill>
                  <a:srgbClr val="272424"/>
                </a:solidFill>
                <a:latin typeface="Verdana"/>
                <a:cs typeface="Verdana"/>
              </a:rPr>
              <a:t>a</a:t>
            </a:r>
            <a:r>
              <a:rPr dirty="0" sz="1700" spc="-14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40">
                <a:solidFill>
                  <a:srgbClr val="272424"/>
                </a:solidFill>
                <a:latin typeface="Verdana"/>
                <a:cs typeface="Verdana"/>
              </a:rPr>
              <a:t>luxury</a:t>
            </a:r>
            <a:r>
              <a:rPr dirty="0" sz="1700" spc="-7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60">
                <a:solidFill>
                  <a:srgbClr val="272424"/>
                </a:solidFill>
                <a:latin typeface="Verdana"/>
                <a:cs typeface="Verdana"/>
              </a:rPr>
              <a:t>but</a:t>
            </a:r>
            <a:r>
              <a:rPr dirty="0" sz="170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272424"/>
                </a:solidFill>
                <a:latin typeface="Verdana"/>
                <a:cs typeface="Verdana"/>
              </a:rPr>
              <a:t>a</a:t>
            </a:r>
            <a:r>
              <a:rPr dirty="0" sz="1700" spc="-7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10">
                <a:solidFill>
                  <a:srgbClr val="272424"/>
                </a:solidFill>
                <a:latin typeface="Verdana"/>
                <a:cs typeface="Verdana"/>
              </a:rPr>
              <a:t>necessity</a:t>
            </a:r>
            <a:r>
              <a:rPr dirty="0" sz="1700" spc="-8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272424"/>
                </a:solidFill>
                <a:latin typeface="Verdana"/>
                <a:cs typeface="Verdana"/>
              </a:rPr>
              <a:t>for</a:t>
            </a:r>
            <a:r>
              <a:rPr dirty="0" sz="1700" spc="-13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45">
                <a:solidFill>
                  <a:srgbClr val="272424"/>
                </a:solidFill>
                <a:latin typeface="Verdana"/>
                <a:cs typeface="Verdana"/>
              </a:rPr>
              <a:t>modern</a:t>
            </a:r>
            <a:r>
              <a:rPr dirty="0" sz="1700" spc="-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30">
                <a:solidFill>
                  <a:srgbClr val="272424"/>
                </a:solidFill>
                <a:latin typeface="Verdana"/>
                <a:cs typeface="Verdana"/>
              </a:rPr>
              <a:t>enterprises</a:t>
            </a:r>
            <a:r>
              <a:rPr dirty="0" sz="1700" spc="-9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50">
                <a:solidFill>
                  <a:srgbClr val="272424"/>
                </a:solidFill>
                <a:latin typeface="Verdana"/>
                <a:cs typeface="Verdana"/>
              </a:rPr>
              <a:t>to</a:t>
            </a:r>
            <a:r>
              <a:rPr dirty="0" sz="1700" spc="-14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60">
                <a:solidFill>
                  <a:srgbClr val="272424"/>
                </a:solidFill>
                <a:latin typeface="Verdana"/>
                <a:cs typeface="Verdana"/>
              </a:rPr>
              <a:t>thrive</a:t>
            </a:r>
            <a:r>
              <a:rPr dirty="0" sz="170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25">
                <a:solidFill>
                  <a:srgbClr val="272424"/>
                </a:solidFill>
                <a:latin typeface="Verdana"/>
                <a:cs typeface="Verdana"/>
              </a:rPr>
              <a:t>and</a:t>
            </a:r>
            <a:r>
              <a:rPr dirty="0" sz="1700" spc="-9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10">
                <a:solidFill>
                  <a:srgbClr val="272424"/>
                </a:solidFill>
                <a:latin typeface="Verdana"/>
                <a:cs typeface="Verdana"/>
              </a:rPr>
              <a:t>innovate.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885057" y="4600266"/>
            <a:ext cx="497205" cy="629920"/>
          </a:xfrm>
          <a:custGeom>
            <a:avLst/>
            <a:gdLst/>
            <a:ahLst/>
            <a:cxnLst/>
            <a:rect l="l" t="t" r="r" b="b"/>
            <a:pathLst>
              <a:path w="497205" h="629920">
                <a:moveTo>
                  <a:pt x="294634" y="144675"/>
                </a:moveTo>
                <a:lnTo>
                  <a:pt x="320095" y="107261"/>
                </a:lnTo>
                <a:lnTo>
                  <a:pt x="325608" y="86199"/>
                </a:lnTo>
                <a:lnTo>
                  <a:pt x="325459" y="74685"/>
                </a:lnTo>
                <a:lnTo>
                  <a:pt x="312617" y="33861"/>
                </a:lnTo>
                <a:lnTo>
                  <a:pt x="278179" y="5379"/>
                </a:lnTo>
                <a:lnTo>
                  <a:pt x="242426" y="0"/>
                </a:lnTo>
                <a:lnTo>
                  <a:pt x="233480" y="425"/>
                </a:lnTo>
                <a:lnTo>
                  <a:pt x="198688" y="16260"/>
                </a:lnTo>
                <a:lnTo>
                  <a:pt x="174285" y="52396"/>
                </a:lnTo>
                <a:lnTo>
                  <a:pt x="170302" y="79089"/>
                </a:lnTo>
                <a:lnTo>
                  <a:pt x="170967" y="87023"/>
                </a:lnTo>
                <a:lnTo>
                  <a:pt x="191712" y="131486"/>
                </a:lnTo>
                <a:lnTo>
                  <a:pt x="201133" y="144702"/>
                </a:lnTo>
              </a:path>
              <a:path w="497205" h="629920">
                <a:moveTo>
                  <a:pt x="496811" y="438732"/>
                </a:moveTo>
                <a:lnTo>
                  <a:pt x="460469" y="456422"/>
                </a:lnTo>
                <a:lnTo>
                  <a:pt x="442399" y="458989"/>
                </a:lnTo>
                <a:lnTo>
                  <a:pt x="433263" y="458719"/>
                </a:lnTo>
                <a:lnTo>
                  <a:pt x="392678" y="444777"/>
                </a:lnTo>
                <a:lnTo>
                  <a:pt x="365690" y="411345"/>
                </a:lnTo>
                <a:lnTo>
                  <a:pt x="360971" y="377018"/>
                </a:lnTo>
                <a:lnTo>
                  <a:pt x="361956" y="368958"/>
                </a:lnTo>
                <a:lnTo>
                  <a:pt x="378590" y="332751"/>
                </a:lnTo>
                <a:lnTo>
                  <a:pt x="412671" y="308953"/>
                </a:lnTo>
                <a:lnTo>
                  <a:pt x="435814" y="304885"/>
                </a:lnTo>
                <a:lnTo>
                  <a:pt x="443766" y="304886"/>
                </a:lnTo>
                <a:lnTo>
                  <a:pt x="496838" y="325063"/>
                </a:lnTo>
              </a:path>
              <a:path w="497205" h="629920">
                <a:moveTo>
                  <a:pt x="326286" y="629301"/>
                </a:moveTo>
                <a:lnTo>
                  <a:pt x="317606" y="587895"/>
                </a:lnTo>
                <a:lnTo>
                  <a:pt x="292395" y="557914"/>
                </a:lnTo>
                <a:lnTo>
                  <a:pt x="256488" y="544569"/>
                </a:lnTo>
                <a:lnTo>
                  <a:pt x="248512" y="544266"/>
                </a:lnTo>
                <a:lnTo>
                  <a:pt x="238743" y="545239"/>
                </a:lnTo>
                <a:lnTo>
                  <a:pt x="202676" y="558387"/>
                </a:lnTo>
                <a:lnTo>
                  <a:pt x="176631" y="593186"/>
                </a:lnTo>
                <a:lnTo>
                  <a:pt x="171711" y="609954"/>
                </a:lnTo>
                <a:lnTo>
                  <a:pt x="170141" y="629248"/>
                </a:lnTo>
              </a:path>
              <a:path w="497205" h="629920">
                <a:moveTo>
                  <a:pt x="496856" y="144613"/>
                </a:moveTo>
                <a:lnTo>
                  <a:pt x="294634" y="144675"/>
                </a:lnTo>
              </a:path>
              <a:path w="497205" h="629920">
                <a:moveTo>
                  <a:pt x="496856" y="144613"/>
                </a:moveTo>
                <a:lnTo>
                  <a:pt x="496838" y="325063"/>
                </a:lnTo>
              </a:path>
              <a:path w="497205" h="629920">
                <a:moveTo>
                  <a:pt x="496874" y="629312"/>
                </a:moveTo>
                <a:lnTo>
                  <a:pt x="496811" y="438732"/>
                </a:lnTo>
              </a:path>
              <a:path w="497205" h="629920">
                <a:moveTo>
                  <a:pt x="496874" y="629312"/>
                </a:moveTo>
                <a:lnTo>
                  <a:pt x="326286" y="629301"/>
                </a:lnTo>
              </a:path>
              <a:path w="497205" h="629920">
                <a:moveTo>
                  <a:pt x="170141" y="629248"/>
                </a:moveTo>
                <a:lnTo>
                  <a:pt x="26" y="629312"/>
                </a:lnTo>
              </a:path>
              <a:path w="497205" h="629920">
                <a:moveTo>
                  <a:pt x="26" y="629312"/>
                </a:moveTo>
                <a:lnTo>
                  <a:pt x="0" y="144675"/>
                </a:lnTo>
              </a:path>
              <a:path w="497205" h="629920">
                <a:moveTo>
                  <a:pt x="201133" y="144702"/>
                </a:moveTo>
                <a:lnTo>
                  <a:pt x="0" y="144675"/>
                </a:lnTo>
              </a:path>
            </a:pathLst>
          </a:custGeom>
          <a:ln w="27898">
            <a:solidFill>
              <a:srgbClr val="4850B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781684" y="5523547"/>
            <a:ext cx="3546475" cy="12185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150" spc="-260" b="1">
                <a:solidFill>
                  <a:srgbClr val="272424"/>
                </a:solidFill>
                <a:latin typeface="Verdana"/>
                <a:cs typeface="Verdana"/>
              </a:rPr>
              <a:t>Industry</a:t>
            </a:r>
            <a:r>
              <a:rPr dirty="0" sz="2150" spc="-70" b="1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2150" spc="-65" b="1">
                <a:solidFill>
                  <a:srgbClr val="272424"/>
                </a:solidFill>
                <a:latin typeface="Verdana"/>
                <a:cs typeface="Verdana"/>
              </a:rPr>
              <a:t>Challenges</a:t>
            </a:r>
            <a:endParaRPr sz="21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815"/>
              </a:spcBef>
            </a:pPr>
            <a:r>
              <a:rPr dirty="0" sz="1700" spc="-30">
                <a:solidFill>
                  <a:srgbClr val="272424"/>
                </a:solidFill>
                <a:latin typeface="Verdana"/>
                <a:cs typeface="Verdana"/>
              </a:rPr>
              <a:t>Complexities</a:t>
            </a:r>
            <a:r>
              <a:rPr dirty="0" sz="1700" spc="-15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45">
                <a:solidFill>
                  <a:srgbClr val="272424"/>
                </a:solidFill>
                <a:latin typeface="Verdana"/>
                <a:cs typeface="Verdana"/>
              </a:rPr>
              <a:t>in</a:t>
            </a:r>
            <a:r>
              <a:rPr dirty="0" sz="170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272424"/>
                </a:solidFill>
                <a:latin typeface="Verdana"/>
                <a:cs typeface="Verdana"/>
              </a:rPr>
              <a:t>a</a:t>
            </a:r>
            <a:r>
              <a:rPr dirty="0" sz="1700" spc="-6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30">
                <a:solidFill>
                  <a:srgbClr val="272424"/>
                </a:solidFill>
                <a:latin typeface="Verdana"/>
                <a:cs typeface="Verdana"/>
              </a:rPr>
              <a:t>rapidly</a:t>
            </a:r>
            <a:r>
              <a:rPr dirty="0" sz="1700" spc="-7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10">
                <a:solidFill>
                  <a:srgbClr val="272424"/>
                </a:solidFill>
                <a:latin typeface="Verdana"/>
                <a:cs typeface="Verdana"/>
              </a:rPr>
              <a:t>evolving</a:t>
            </a:r>
            <a:endParaRPr sz="17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dirty="0" sz="1700" spc="-70">
                <a:solidFill>
                  <a:srgbClr val="272424"/>
                </a:solidFill>
                <a:latin typeface="Verdana"/>
                <a:cs typeface="Verdana"/>
              </a:rPr>
              <a:t>market</a:t>
            </a:r>
            <a:r>
              <a:rPr dirty="0" sz="170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10">
                <a:solidFill>
                  <a:srgbClr val="272424"/>
                </a:solidFill>
                <a:latin typeface="Verdana"/>
                <a:cs typeface="Verdana"/>
              </a:rPr>
              <a:t>landscape.</a:t>
            </a:r>
            <a:endParaRPr sz="1700">
              <a:latin typeface="Verdana"/>
              <a:cs typeface="Verdana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5286141" y="4600237"/>
            <a:ext cx="581660" cy="643255"/>
            <a:chOff x="5286141" y="4600237"/>
            <a:chExt cx="581660" cy="643255"/>
          </a:xfrm>
        </p:grpSpPr>
        <p:sp>
          <p:nvSpPr>
            <p:cNvPr id="10" name="object 10" descr=""/>
            <p:cNvSpPr/>
            <p:nvPr/>
          </p:nvSpPr>
          <p:spPr>
            <a:xfrm>
              <a:off x="5299981" y="4693691"/>
              <a:ext cx="554355" cy="535940"/>
            </a:xfrm>
            <a:custGeom>
              <a:avLst/>
              <a:gdLst/>
              <a:ahLst/>
              <a:cxnLst/>
              <a:rect l="l" t="t" r="r" b="b"/>
              <a:pathLst>
                <a:path w="554354" h="535939">
                  <a:moveTo>
                    <a:pt x="20722" y="535909"/>
                  </a:moveTo>
                  <a:lnTo>
                    <a:pt x="23001" y="488004"/>
                  </a:lnTo>
                  <a:lnTo>
                    <a:pt x="41166" y="448378"/>
                  </a:lnTo>
                  <a:lnTo>
                    <a:pt x="73663" y="423624"/>
                  </a:lnTo>
                  <a:lnTo>
                    <a:pt x="112790" y="415718"/>
                  </a:lnTo>
                  <a:lnTo>
                    <a:pt x="126613" y="415515"/>
                  </a:lnTo>
                  <a:lnTo>
                    <a:pt x="144056" y="415425"/>
                  </a:lnTo>
                </a:path>
                <a:path w="554354" h="535939">
                  <a:moveTo>
                    <a:pt x="36345" y="95827"/>
                  </a:moveTo>
                  <a:lnTo>
                    <a:pt x="2894" y="119271"/>
                  </a:lnTo>
                  <a:lnTo>
                    <a:pt x="540" y="128379"/>
                  </a:lnTo>
                  <a:lnTo>
                    <a:pt x="33" y="133589"/>
                  </a:lnTo>
                </a:path>
                <a:path w="554354" h="535939">
                  <a:moveTo>
                    <a:pt x="0" y="221432"/>
                  </a:moveTo>
                  <a:lnTo>
                    <a:pt x="23380" y="254992"/>
                  </a:lnTo>
                  <a:lnTo>
                    <a:pt x="31867" y="257749"/>
                  </a:lnTo>
                  <a:lnTo>
                    <a:pt x="36389" y="258605"/>
                  </a:lnTo>
                </a:path>
                <a:path w="554354" h="535939">
                  <a:moveTo>
                    <a:pt x="517747" y="95702"/>
                  </a:moveTo>
                  <a:lnTo>
                    <a:pt x="550965" y="118450"/>
                  </a:lnTo>
                  <a:lnTo>
                    <a:pt x="553226" y="126488"/>
                  </a:lnTo>
                  <a:lnTo>
                    <a:pt x="553841" y="130850"/>
                  </a:lnTo>
                </a:path>
                <a:path w="554354" h="535939">
                  <a:moveTo>
                    <a:pt x="553850" y="220371"/>
                  </a:moveTo>
                  <a:lnTo>
                    <a:pt x="530309" y="255189"/>
                  </a:lnTo>
                  <a:lnTo>
                    <a:pt x="522594" y="257606"/>
                  </a:lnTo>
                  <a:lnTo>
                    <a:pt x="517712" y="258570"/>
                  </a:lnTo>
                </a:path>
                <a:path w="554354" h="535939">
                  <a:moveTo>
                    <a:pt x="421507" y="356342"/>
                  </a:moveTo>
                  <a:lnTo>
                    <a:pt x="458684" y="346226"/>
                  </a:lnTo>
                  <a:lnTo>
                    <a:pt x="486342" y="315476"/>
                  </a:lnTo>
                  <a:lnTo>
                    <a:pt x="493445" y="272682"/>
                  </a:lnTo>
                  <a:lnTo>
                    <a:pt x="493590" y="260497"/>
                  </a:lnTo>
                </a:path>
                <a:path w="554354" h="535939">
                  <a:moveTo>
                    <a:pt x="493581" y="75024"/>
                  </a:moveTo>
                  <a:lnTo>
                    <a:pt x="481120" y="33025"/>
                  </a:lnTo>
                  <a:lnTo>
                    <a:pt x="445092" y="4005"/>
                  </a:lnTo>
                  <a:lnTo>
                    <a:pt x="413044" y="133"/>
                  </a:lnTo>
                  <a:lnTo>
                    <a:pt x="401819" y="0"/>
                  </a:lnTo>
                </a:path>
                <a:path w="554354" h="535939">
                  <a:moveTo>
                    <a:pt x="136781" y="0"/>
                  </a:moveTo>
                  <a:lnTo>
                    <a:pt x="97301" y="9705"/>
                  </a:lnTo>
                  <a:lnTo>
                    <a:pt x="68007" y="42042"/>
                  </a:lnTo>
                  <a:lnTo>
                    <a:pt x="60815" y="91218"/>
                  </a:lnTo>
                  <a:lnTo>
                    <a:pt x="60712" y="106255"/>
                  </a:lnTo>
                </a:path>
                <a:path w="554354" h="535939">
                  <a:moveTo>
                    <a:pt x="60721" y="275457"/>
                  </a:moveTo>
                  <a:lnTo>
                    <a:pt x="70808" y="318882"/>
                  </a:lnTo>
                  <a:lnTo>
                    <a:pt x="99613" y="348224"/>
                  </a:lnTo>
                  <a:lnTo>
                    <a:pt x="141558" y="356164"/>
                  </a:lnTo>
                  <a:lnTo>
                    <a:pt x="158979" y="356304"/>
                  </a:lnTo>
                  <a:lnTo>
                    <a:pt x="181461" y="356378"/>
                  </a:lnTo>
                </a:path>
              </a:pathLst>
            </a:custGeom>
            <a:ln w="27682">
              <a:solidFill>
                <a:srgbClr val="4850B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30143" y="5095391"/>
              <a:ext cx="116645" cy="148023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5299981" y="4600237"/>
              <a:ext cx="554355" cy="509270"/>
            </a:xfrm>
            <a:custGeom>
              <a:avLst/>
              <a:gdLst/>
              <a:ahLst/>
              <a:cxnLst/>
              <a:rect l="l" t="t" r="r" b="b"/>
              <a:pathLst>
                <a:path w="554354" h="509270">
                  <a:moveTo>
                    <a:pt x="181461" y="449832"/>
                  </a:moveTo>
                  <a:lnTo>
                    <a:pt x="421507" y="449797"/>
                  </a:lnTo>
                </a:path>
                <a:path w="554354" h="509270">
                  <a:moveTo>
                    <a:pt x="372120" y="508915"/>
                  </a:moveTo>
                  <a:lnTo>
                    <a:pt x="372112" y="449886"/>
                  </a:lnTo>
                </a:path>
                <a:path w="554354" h="509270">
                  <a:moveTo>
                    <a:pt x="180212" y="508906"/>
                  </a:moveTo>
                  <a:lnTo>
                    <a:pt x="180186" y="449823"/>
                  </a:lnTo>
                </a:path>
                <a:path w="554354" h="509270">
                  <a:moveTo>
                    <a:pt x="277103" y="93445"/>
                  </a:moveTo>
                  <a:lnTo>
                    <a:pt x="277182" y="0"/>
                  </a:lnTo>
                </a:path>
                <a:path w="554354" h="509270">
                  <a:moveTo>
                    <a:pt x="220608" y="235474"/>
                  </a:moveTo>
                  <a:lnTo>
                    <a:pt x="217053" y="253331"/>
                  </a:lnTo>
                  <a:lnTo>
                    <a:pt x="207359" y="267914"/>
                  </a:lnTo>
                  <a:lnTo>
                    <a:pt x="192978" y="277748"/>
                  </a:lnTo>
                  <a:lnTo>
                    <a:pt x="175365" y="281353"/>
                  </a:lnTo>
                  <a:lnTo>
                    <a:pt x="157756" y="277747"/>
                  </a:lnTo>
                  <a:lnTo>
                    <a:pt x="143374" y="267914"/>
                  </a:lnTo>
                  <a:lnTo>
                    <a:pt x="133677" y="253331"/>
                  </a:lnTo>
                  <a:lnTo>
                    <a:pt x="130121" y="235474"/>
                  </a:lnTo>
                  <a:lnTo>
                    <a:pt x="133677" y="217613"/>
                  </a:lnTo>
                  <a:lnTo>
                    <a:pt x="143374" y="203030"/>
                  </a:lnTo>
                  <a:lnTo>
                    <a:pt x="157755" y="193199"/>
                  </a:lnTo>
                  <a:lnTo>
                    <a:pt x="175365" y="189594"/>
                  </a:lnTo>
                  <a:lnTo>
                    <a:pt x="192978" y="193199"/>
                  </a:lnTo>
                  <a:lnTo>
                    <a:pt x="207359" y="203030"/>
                  </a:lnTo>
                  <a:lnTo>
                    <a:pt x="217053" y="217613"/>
                  </a:lnTo>
                  <a:lnTo>
                    <a:pt x="220608" y="235474"/>
                  </a:lnTo>
                  <a:close/>
                </a:path>
                <a:path w="554354" h="509270">
                  <a:moveTo>
                    <a:pt x="424005" y="235483"/>
                  </a:moveTo>
                  <a:lnTo>
                    <a:pt x="420443" y="253370"/>
                  </a:lnTo>
                  <a:lnTo>
                    <a:pt x="410731" y="267976"/>
                  </a:lnTo>
                  <a:lnTo>
                    <a:pt x="396327" y="277823"/>
                  </a:lnTo>
                  <a:lnTo>
                    <a:pt x="378692" y="281434"/>
                  </a:lnTo>
                  <a:lnTo>
                    <a:pt x="361053" y="277823"/>
                  </a:lnTo>
                  <a:lnTo>
                    <a:pt x="346649" y="267976"/>
                  </a:lnTo>
                  <a:lnTo>
                    <a:pt x="336939" y="253370"/>
                  </a:lnTo>
                  <a:lnTo>
                    <a:pt x="333378" y="235483"/>
                  </a:lnTo>
                  <a:lnTo>
                    <a:pt x="336939" y="217601"/>
                  </a:lnTo>
                  <a:lnTo>
                    <a:pt x="346649" y="202997"/>
                  </a:lnTo>
                  <a:lnTo>
                    <a:pt x="361053" y="193151"/>
                  </a:lnTo>
                  <a:lnTo>
                    <a:pt x="378692" y="189540"/>
                  </a:lnTo>
                  <a:lnTo>
                    <a:pt x="396327" y="193151"/>
                  </a:lnTo>
                  <a:lnTo>
                    <a:pt x="410731" y="202997"/>
                  </a:lnTo>
                  <a:lnTo>
                    <a:pt x="420443" y="217601"/>
                  </a:lnTo>
                  <a:lnTo>
                    <a:pt x="424005" y="235483"/>
                  </a:lnTo>
                  <a:close/>
                </a:path>
                <a:path w="554354" h="509270">
                  <a:moveTo>
                    <a:pt x="33" y="227043"/>
                  </a:moveTo>
                  <a:lnTo>
                    <a:pt x="0" y="314887"/>
                  </a:lnTo>
                </a:path>
                <a:path w="554354" h="509270">
                  <a:moveTo>
                    <a:pt x="168732" y="371882"/>
                  </a:moveTo>
                  <a:lnTo>
                    <a:pt x="200032" y="371837"/>
                  </a:lnTo>
                </a:path>
                <a:path w="554354" h="509270">
                  <a:moveTo>
                    <a:pt x="261779" y="371837"/>
                  </a:moveTo>
                  <a:lnTo>
                    <a:pt x="293087" y="371873"/>
                  </a:lnTo>
                </a:path>
                <a:path w="554354" h="509270">
                  <a:moveTo>
                    <a:pt x="553841" y="224305"/>
                  </a:moveTo>
                  <a:lnTo>
                    <a:pt x="553850" y="313825"/>
                  </a:lnTo>
                </a:path>
                <a:path w="554354" h="509270">
                  <a:moveTo>
                    <a:pt x="353022" y="371989"/>
                  </a:moveTo>
                  <a:lnTo>
                    <a:pt x="382932" y="371811"/>
                  </a:lnTo>
                </a:path>
                <a:path w="554354" h="509270">
                  <a:moveTo>
                    <a:pt x="493590" y="353951"/>
                  </a:moveTo>
                  <a:lnTo>
                    <a:pt x="493581" y="168478"/>
                  </a:lnTo>
                </a:path>
                <a:path w="554354" h="509270">
                  <a:moveTo>
                    <a:pt x="401819" y="93454"/>
                  </a:moveTo>
                  <a:lnTo>
                    <a:pt x="136781" y="93454"/>
                  </a:lnTo>
                </a:path>
                <a:path w="554354" h="509270">
                  <a:moveTo>
                    <a:pt x="60712" y="199710"/>
                  </a:moveTo>
                  <a:lnTo>
                    <a:pt x="60721" y="368911"/>
                  </a:lnTo>
                </a:path>
                <a:path w="554354" h="509270">
                  <a:moveTo>
                    <a:pt x="144056" y="508879"/>
                  </a:moveTo>
                  <a:lnTo>
                    <a:pt x="443975" y="508969"/>
                  </a:lnTo>
                </a:path>
              </a:pathLst>
            </a:custGeom>
            <a:ln w="27682">
              <a:solidFill>
                <a:srgbClr val="4850B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5226684" y="5523547"/>
            <a:ext cx="3982085" cy="12185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150" spc="-229" b="1">
                <a:solidFill>
                  <a:srgbClr val="272424"/>
                </a:solidFill>
                <a:latin typeface="Verdana"/>
                <a:cs typeface="Verdana"/>
              </a:rPr>
              <a:t>Automation</a:t>
            </a:r>
            <a:r>
              <a:rPr dirty="0" sz="2150" spc="-135" b="1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2150" spc="-265" b="1">
                <a:solidFill>
                  <a:srgbClr val="272424"/>
                </a:solidFill>
                <a:latin typeface="Verdana"/>
                <a:cs typeface="Verdana"/>
              </a:rPr>
              <a:t>Imperative</a:t>
            </a:r>
            <a:endParaRPr sz="21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815"/>
              </a:spcBef>
            </a:pPr>
            <a:r>
              <a:rPr dirty="0" sz="1700" spc="-55">
                <a:solidFill>
                  <a:srgbClr val="272424"/>
                </a:solidFill>
                <a:latin typeface="Verdana"/>
                <a:cs typeface="Verdana"/>
              </a:rPr>
              <a:t>Streamlining</a:t>
            </a:r>
            <a:r>
              <a:rPr dirty="0" sz="170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30">
                <a:solidFill>
                  <a:srgbClr val="272424"/>
                </a:solidFill>
                <a:latin typeface="Verdana"/>
                <a:cs typeface="Verdana"/>
              </a:rPr>
              <a:t>operations</a:t>
            </a:r>
            <a:r>
              <a:rPr dirty="0" sz="1700" spc="-12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272424"/>
                </a:solidFill>
                <a:latin typeface="Verdana"/>
                <a:cs typeface="Verdana"/>
              </a:rPr>
              <a:t>for</a:t>
            </a:r>
            <a:r>
              <a:rPr dirty="0" sz="1700" spc="-8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10">
                <a:solidFill>
                  <a:srgbClr val="272424"/>
                </a:solidFill>
                <a:latin typeface="Verdana"/>
                <a:cs typeface="Verdana"/>
              </a:rPr>
              <a:t>efficiency</a:t>
            </a:r>
            <a:endParaRPr sz="17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dirty="0" sz="1700" spc="-30">
                <a:solidFill>
                  <a:srgbClr val="272424"/>
                </a:solidFill>
                <a:latin typeface="Verdana"/>
                <a:cs typeface="Verdana"/>
              </a:rPr>
              <a:t>and</a:t>
            </a:r>
            <a:r>
              <a:rPr dirty="0" sz="170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10">
                <a:solidFill>
                  <a:srgbClr val="272424"/>
                </a:solidFill>
                <a:latin typeface="Verdana"/>
                <a:cs typeface="Verdana"/>
              </a:rPr>
              <a:t>speed.</a:t>
            </a:r>
            <a:endParaRPr sz="1700">
              <a:latin typeface="Verdana"/>
              <a:cs typeface="Verdana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9715198" y="4586349"/>
            <a:ext cx="603250" cy="657225"/>
            <a:chOff x="9715198" y="4586349"/>
            <a:chExt cx="603250" cy="657225"/>
          </a:xfrm>
        </p:grpSpPr>
        <p:pic>
          <p:nvPicPr>
            <p:cNvPr id="15" name="object 1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215701" y="4848243"/>
              <a:ext cx="102240" cy="101335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9772610" y="4600862"/>
              <a:ext cx="427355" cy="629285"/>
            </a:xfrm>
            <a:custGeom>
              <a:avLst/>
              <a:gdLst/>
              <a:ahLst/>
              <a:cxnLst/>
              <a:rect l="l" t="t" r="r" b="b"/>
              <a:pathLst>
                <a:path w="427354" h="629285">
                  <a:moveTo>
                    <a:pt x="253733" y="41686"/>
                  </a:moveTo>
                  <a:lnTo>
                    <a:pt x="224477" y="9725"/>
                  </a:lnTo>
                  <a:lnTo>
                    <a:pt x="190252" y="0"/>
                  </a:lnTo>
                  <a:lnTo>
                    <a:pt x="179702" y="481"/>
                  </a:lnTo>
                  <a:lnTo>
                    <a:pt x="137704" y="13706"/>
                  </a:lnTo>
                  <a:lnTo>
                    <a:pt x="106321" y="40883"/>
                  </a:lnTo>
                  <a:lnTo>
                    <a:pt x="86985" y="80420"/>
                  </a:lnTo>
                  <a:lnTo>
                    <a:pt x="83431" y="97824"/>
                  </a:lnTo>
                </a:path>
                <a:path w="427354" h="629285">
                  <a:moveTo>
                    <a:pt x="253655" y="582354"/>
                  </a:moveTo>
                  <a:lnTo>
                    <a:pt x="227906" y="615745"/>
                  </a:lnTo>
                  <a:lnTo>
                    <a:pt x="184250" y="627816"/>
                  </a:lnTo>
                  <a:lnTo>
                    <a:pt x="173928" y="627070"/>
                  </a:lnTo>
                  <a:lnTo>
                    <a:pt x="133707" y="612495"/>
                  </a:lnTo>
                  <a:lnTo>
                    <a:pt x="99882" y="580090"/>
                  </a:lnTo>
                  <a:lnTo>
                    <a:pt x="85903" y="550565"/>
                  </a:lnTo>
                  <a:lnTo>
                    <a:pt x="82253" y="535596"/>
                  </a:lnTo>
                </a:path>
                <a:path w="427354" h="629285">
                  <a:moveTo>
                    <a:pt x="83431" y="97824"/>
                  </a:moveTo>
                  <a:lnTo>
                    <a:pt x="44284" y="113406"/>
                  </a:lnTo>
                  <a:lnTo>
                    <a:pt x="12803" y="143761"/>
                  </a:lnTo>
                  <a:lnTo>
                    <a:pt x="0" y="186239"/>
                  </a:lnTo>
                  <a:lnTo>
                    <a:pt x="351" y="195623"/>
                  </a:lnTo>
                  <a:lnTo>
                    <a:pt x="1231" y="202314"/>
                  </a:lnTo>
                  <a:lnTo>
                    <a:pt x="4090" y="216623"/>
                  </a:lnTo>
                </a:path>
                <a:path w="427354" h="629285">
                  <a:moveTo>
                    <a:pt x="253655" y="582354"/>
                  </a:moveTo>
                  <a:lnTo>
                    <a:pt x="276791" y="613884"/>
                  </a:lnTo>
                  <a:lnTo>
                    <a:pt x="314826" y="628266"/>
                  </a:lnTo>
                  <a:lnTo>
                    <a:pt x="320803" y="628732"/>
                  </a:lnTo>
                  <a:lnTo>
                    <a:pt x="329820" y="628219"/>
                  </a:lnTo>
                  <a:lnTo>
                    <a:pt x="368685" y="615871"/>
                  </a:lnTo>
                  <a:lnTo>
                    <a:pt x="400892" y="589303"/>
                  </a:lnTo>
                  <a:lnTo>
                    <a:pt x="421533" y="547185"/>
                  </a:lnTo>
                  <a:lnTo>
                    <a:pt x="424491" y="534546"/>
                  </a:lnTo>
                  <a:lnTo>
                    <a:pt x="426992" y="520797"/>
                  </a:lnTo>
                </a:path>
              </a:pathLst>
            </a:custGeom>
            <a:ln w="27688">
              <a:solidFill>
                <a:srgbClr val="4850B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012663" y="4964605"/>
              <a:ext cx="119889" cy="82058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10026599" y="4600245"/>
              <a:ext cx="170815" cy="237490"/>
            </a:xfrm>
            <a:custGeom>
              <a:avLst/>
              <a:gdLst/>
              <a:ahLst/>
              <a:cxnLst/>
              <a:rect l="l" t="t" r="r" b="b"/>
              <a:pathLst>
                <a:path w="170815" h="237489">
                  <a:moveTo>
                    <a:pt x="66541" y="175651"/>
                  </a:moveTo>
                  <a:lnTo>
                    <a:pt x="61755" y="177580"/>
                  </a:lnTo>
                  <a:lnTo>
                    <a:pt x="52681" y="185006"/>
                  </a:lnTo>
                  <a:lnTo>
                    <a:pt x="33901" y="203134"/>
                  </a:lnTo>
                  <a:lnTo>
                    <a:pt x="0" y="237169"/>
                  </a:lnTo>
                </a:path>
                <a:path w="170815" h="237489">
                  <a:moveTo>
                    <a:pt x="721" y="43685"/>
                  </a:moveTo>
                  <a:lnTo>
                    <a:pt x="25924" y="12114"/>
                  </a:lnTo>
                  <a:lnTo>
                    <a:pt x="64730" y="222"/>
                  </a:lnTo>
                  <a:lnTo>
                    <a:pt x="71775" y="0"/>
                  </a:lnTo>
                  <a:lnTo>
                    <a:pt x="78901" y="1047"/>
                  </a:lnTo>
                  <a:lnTo>
                    <a:pt x="118725" y="15185"/>
                  </a:lnTo>
                  <a:lnTo>
                    <a:pt x="151892" y="46559"/>
                  </a:lnTo>
                  <a:lnTo>
                    <a:pt x="166607" y="77325"/>
                  </a:lnTo>
                  <a:lnTo>
                    <a:pt x="170302" y="94730"/>
                  </a:lnTo>
                </a:path>
              </a:pathLst>
            </a:custGeom>
            <a:ln w="27688">
              <a:solidFill>
                <a:srgbClr val="4850B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183198" y="4981023"/>
              <a:ext cx="101548" cy="102596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10026265" y="4645519"/>
              <a:ext cx="245110" cy="537845"/>
            </a:xfrm>
            <a:custGeom>
              <a:avLst/>
              <a:gdLst/>
              <a:ahLst/>
              <a:cxnLst/>
              <a:rect l="l" t="t" r="r" b="b"/>
              <a:pathLst>
                <a:path w="245109" h="537845">
                  <a:moveTo>
                    <a:pt x="244971" y="124249"/>
                  </a:moveTo>
                  <a:lnTo>
                    <a:pt x="242082" y="138760"/>
                  </a:lnTo>
                  <a:lnTo>
                    <a:pt x="234204" y="150610"/>
                  </a:lnTo>
                  <a:lnTo>
                    <a:pt x="222518" y="158599"/>
                  </a:lnTo>
                  <a:lnTo>
                    <a:pt x="208208" y="161529"/>
                  </a:lnTo>
                  <a:lnTo>
                    <a:pt x="193899" y="158599"/>
                  </a:lnTo>
                  <a:lnTo>
                    <a:pt x="182213" y="150610"/>
                  </a:lnTo>
                  <a:lnTo>
                    <a:pt x="174334" y="138760"/>
                  </a:lnTo>
                  <a:lnTo>
                    <a:pt x="171445" y="124249"/>
                  </a:lnTo>
                  <a:lnTo>
                    <a:pt x="174334" y="109738"/>
                  </a:lnTo>
                  <a:lnTo>
                    <a:pt x="182213" y="97888"/>
                  </a:lnTo>
                  <a:lnTo>
                    <a:pt x="193898" y="89898"/>
                  </a:lnTo>
                  <a:lnTo>
                    <a:pt x="208208" y="86969"/>
                  </a:lnTo>
                  <a:lnTo>
                    <a:pt x="222518" y="89898"/>
                  </a:lnTo>
                  <a:lnTo>
                    <a:pt x="234204" y="97888"/>
                  </a:lnTo>
                  <a:lnTo>
                    <a:pt x="242082" y="109738"/>
                  </a:lnTo>
                  <a:lnTo>
                    <a:pt x="244971" y="124249"/>
                  </a:lnTo>
                  <a:close/>
                </a:path>
                <a:path w="245109" h="537845">
                  <a:moveTo>
                    <a:pt x="0" y="537697"/>
                  </a:moveTo>
                  <a:lnTo>
                    <a:pt x="105" y="0"/>
                  </a:lnTo>
                </a:path>
              </a:pathLst>
            </a:custGeom>
            <a:ln w="27688">
              <a:solidFill>
                <a:srgbClr val="4850B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715198" y="4803930"/>
              <a:ext cx="153544" cy="345159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10026529" y="4775870"/>
              <a:ext cx="206375" cy="257175"/>
            </a:xfrm>
            <a:custGeom>
              <a:avLst/>
              <a:gdLst/>
              <a:ahLst/>
              <a:cxnLst/>
              <a:rect l="l" t="t" r="r" b="b"/>
              <a:pathLst>
                <a:path w="206375" h="257175">
                  <a:moveTo>
                    <a:pt x="202711" y="123946"/>
                  </a:moveTo>
                  <a:lnTo>
                    <a:pt x="0" y="124320"/>
                  </a:lnTo>
                </a:path>
                <a:path w="206375" h="257175">
                  <a:moveTo>
                    <a:pt x="167945" y="256224"/>
                  </a:moveTo>
                  <a:lnTo>
                    <a:pt x="92131" y="256901"/>
                  </a:lnTo>
                </a:path>
                <a:path w="206375" h="257175">
                  <a:moveTo>
                    <a:pt x="170627" y="0"/>
                  </a:moveTo>
                  <a:lnTo>
                    <a:pt x="66611" y="26"/>
                  </a:lnTo>
                </a:path>
                <a:path w="206375" h="257175">
                  <a:moveTo>
                    <a:pt x="205869" y="113838"/>
                  </a:moveTo>
                  <a:lnTo>
                    <a:pt x="203230" y="123928"/>
                  </a:lnTo>
                </a:path>
              </a:pathLst>
            </a:custGeom>
            <a:ln w="27688">
              <a:solidFill>
                <a:srgbClr val="4850B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9671304" y="5523547"/>
            <a:ext cx="3476625" cy="12185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150" spc="-240" b="1">
                <a:solidFill>
                  <a:srgbClr val="272424"/>
                </a:solidFill>
                <a:latin typeface="Verdana"/>
                <a:cs typeface="Verdana"/>
              </a:rPr>
              <a:t>AI's</a:t>
            </a:r>
            <a:r>
              <a:rPr dirty="0" sz="2150" spc="-35" b="1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2150" spc="-185" b="1">
                <a:solidFill>
                  <a:srgbClr val="272424"/>
                </a:solidFill>
                <a:latin typeface="Verdana"/>
                <a:cs typeface="Verdana"/>
              </a:rPr>
              <a:t>Strategic</a:t>
            </a:r>
            <a:r>
              <a:rPr dirty="0" sz="2150" spc="-55" b="1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2150" spc="-20" b="1">
                <a:solidFill>
                  <a:srgbClr val="272424"/>
                </a:solidFill>
                <a:latin typeface="Verdana"/>
                <a:cs typeface="Verdana"/>
              </a:rPr>
              <a:t>Role</a:t>
            </a:r>
            <a:endParaRPr sz="21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815"/>
              </a:spcBef>
            </a:pPr>
            <a:r>
              <a:rPr dirty="0" sz="1700" spc="-25">
                <a:solidFill>
                  <a:srgbClr val="272424"/>
                </a:solidFill>
                <a:latin typeface="Verdana"/>
                <a:cs typeface="Verdana"/>
              </a:rPr>
              <a:t>Empowering</a:t>
            </a:r>
            <a:r>
              <a:rPr dirty="0" sz="1700" spc="-5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45">
                <a:solidFill>
                  <a:srgbClr val="272424"/>
                </a:solidFill>
                <a:latin typeface="Verdana"/>
                <a:cs typeface="Verdana"/>
              </a:rPr>
              <a:t>intelligent</a:t>
            </a:r>
            <a:r>
              <a:rPr dirty="0" sz="1700" spc="-8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10">
                <a:solidFill>
                  <a:srgbClr val="272424"/>
                </a:solidFill>
                <a:latin typeface="Verdana"/>
                <a:cs typeface="Verdana"/>
              </a:rPr>
              <a:t>decision-</a:t>
            </a:r>
            <a:endParaRPr sz="17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dirty="0" sz="1700" spc="-60">
                <a:solidFill>
                  <a:srgbClr val="272424"/>
                </a:solidFill>
                <a:latin typeface="Verdana"/>
                <a:cs typeface="Verdana"/>
              </a:rPr>
              <a:t>making</a:t>
            </a:r>
            <a:r>
              <a:rPr dirty="0" sz="1700" spc="-8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20">
                <a:solidFill>
                  <a:srgbClr val="272424"/>
                </a:solidFill>
                <a:latin typeface="Verdana"/>
                <a:cs typeface="Verdana"/>
              </a:rPr>
              <a:t>and</a:t>
            </a:r>
            <a:r>
              <a:rPr dirty="0" sz="1700" spc="-8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10">
                <a:solidFill>
                  <a:srgbClr val="272424"/>
                </a:solidFill>
                <a:latin typeface="Verdana"/>
                <a:cs typeface="Verdana"/>
              </a:rPr>
              <a:t>growth.</a:t>
            </a:r>
            <a:endParaRPr sz="17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2685776" y="7780337"/>
            <a:ext cx="1841500" cy="374650"/>
            <a:chOff x="12685776" y="7780337"/>
            <a:chExt cx="1841500" cy="374650"/>
          </a:xfrm>
        </p:grpSpPr>
        <p:sp>
          <p:nvSpPr>
            <p:cNvPr id="3" name="object 3" descr="">
              <a:hlinkClick r:id="rId2"/>
            </p:cNvPr>
            <p:cNvSpPr/>
            <p:nvPr/>
          </p:nvSpPr>
          <p:spPr>
            <a:xfrm>
              <a:off x="12692126" y="7786687"/>
              <a:ext cx="1828800" cy="361950"/>
            </a:xfrm>
            <a:custGeom>
              <a:avLst/>
              <a:gdLst/>
              <a:ahLst/>
              <a:cxnLst/>
              <a:rect l="l" t="t" r="r" b="b"/>
              <a:pathLst>
                <a:path w="1828800" h="361950">
                  <a:moveTo>
                    <a:pt x="1828800" y="0"/>
                  </a:moveTo>
                  <a:lnTo>
                    <a:pt x="0" y="0"/>
                  </a:lnTo>
                  <a:lnTo>
                    <a:pt x="0" y="361950"/>
                  </a:lnTo>
                  <a:lnTo>
                    <a:pt x="1828800" y="361950"/>
                  </a:lnTo>
                  <a:lnTo>
                    <a:pt x="1828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>
              <a:hlinkClick r:id="rId2"/>
            </p:cNvPr>
            <p:cNvSpPr/>
            <p:nvPr/>
          </p:nvSpPr>
          <p:spPr>
            <a:xfrm>
              <a:off x="12692126" y="7786687"/>
              <a:ext cx="1828800" cy="361950"/>
            </a:xfrm>
            <a:custGeom>
              <a:avLst/>
              <a:gdLst/>
              <a:ahLst/>
              <a:cxnLst/>
              <a:rect l="l" t="t" r="r" b="b"/>
              <a:pathLst>
                <a:path w="1828800" h="361950">
                  <a:moveTo>
                    <a:pt x="0" y="361950"/>
                  </a:moveTo>
                  <a:lnTo>
                    <a:pt x="1828800" y="361950"/>
                  </a:lnTo>
                  <a:lnTo>
                    <a:pt x="1828800" y="0"/>
                  </a:lnTo>
                  <a:lnTo>
                    <a:pt x="0" y="0"/>
                  </a:lnTo>
                  <a:lnTo>
                    <a:pt x="0" y="36195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ts val="5180"/>
              </a:lnSpc>
            </a:pPr>
            <a:r>
              <a:rPr dirty="0" sz="4100" spc="-445"/>
              <a:t>Problem</a:t>
            </a:r>
            <a:r>
              <a:rPr dirty="0" sz="4100" spc="-285"/>
              <a:t> </a:t>
            </a:r>
            <a:r>
              <a:rPr dirty="0" sz="4100" spc="-470"/>
              <a:t>Statement:</a:t>
            </a:r>
            <a:r>
              <a:rPr dirty="0" sz="4100" spc="-260"/>
              <a:t> </a:t>
            </a:r>
            <a:r>
              <a:rPr dirty="0" sz="4100" spc="-350"/>
              <a:t>The</a:t>
            </a:r>
            <a:r>
              <a:rPr dirty="0" sz="4100" spc="-200"/>
              <a:t> </a:t>
            </a:r>
            <a:r>
              <a:rPr dirty="0" sz="4100" spc="-405"/>
              <a:t>Bottlenecks</a:t>
            </a:r>
            <a:r>
              <a:rPr dirty="0" sz="4100" spc="-275"/>
              <a:t> </a:t>
            </a:r>
            <a:r>
              <a:rPr dirty="0" sz="4100" spc="-465"/>
              <a:t>in</a:t>
            </a:r>
            <a:r>
              <a:rPr dirty="0" sz="4100" spc="-235"/>
              <a:t> </a:t>
            </a:r>
            <a:r>
              <a:rPr dirty="0" sz="4100" spc="-430"/>
              <a:t>Traditional </a:t>
            </a:r>
            <a:r>
              <a:rPr dirty="0" sz="4100" spc="-490"/>
              <a:t>Insurance</a:t>
            </a:r>
            <a:endParaRPr sz="4100"/>
          </a:p>
        </p:txBody>
      </p:sp>
      <p:sp>
        <p:nvSpPr>
          <p:cNvPr id="6" name="object 6" descr=""/>
          <p:cNvSpPr txBox="1"/>
          <p:nvPr/>
        </p:nvSpPr>
        <p:spPr>
          <a:xfrm>
            <a:off x="724217" y="2495867"/>
            <a:ext cx="12817475" cy="693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2700"/>
              </a:lnSpc>
              <a:spcBef>
                <a:spcPts val="100"/>
              </a:spcBef>
            </a:pPr>
            <a:r>
              <a:rPr dirty="0" sz="1650" spc="-65">
                <a:solidFill>
                  <a:srgbClr val="272424"/>
                </a:solidFill>
                <a:latin typeface="Verdana"/>
                <a:cs typeface="Verdana"/>
              </a:rPr>
              <a:t>Current</a:t>
            </a:r>
            <a:r>
              <a:rPr dirty="0" sz="16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650" spc="-50">
                <a:solidFill>
                  <a:srgbClr val="272424"/>
                </a:solidFill>
                <a:latin typeface="Verdana"/>
                <a:cs typeface="Verdana"/>
              </a:rPr>
              <a:t>insurance</a:t>
            </a:r>
            <a:r>
              <a:rPr dirty="0" sz="1650" spc="-8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650" spc="-30">
                <a:solidFill>
                  <a:srgbClr val="272424"/>
                </a:solidFill>
                <a:latin typeface="Verdana"/>
                <a:cs typeface="Verdana"/>
              </a:rPr>
              <a:t>practices</a:t>
            </a:r>
            <a:r>
              <a:rPr dirty="0" sz="1650" spc="-14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650" spc="-55">
                <a:solidFill>
                  <a:srgbClr val="272424"/>
                </a:solidFill>
                <a:latin typeface="Verdana"/>
                <a:cs typeface="Verdana"/>
              </a:rPr>
              <a:t>are</a:t>
            </a:r>
            <a:r>
              <a:rPr dirty="0" sz="1650" spc="-8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650" spc="-45">
                <a:solidFill>
                  <a:srgbClr val="272424"/>
                </a:solidFill>
                <a:latin typeface="Verdana"/>
                <a:cs typeface="Verdana"/>
              </a:rPr>
              <a:t>plagued</a:t>
            </a:r>
            <a:r>
              <a:rPr dirty="0" sz="1650" spc="-12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650" spc="-25">
                <a:solidFill>
                  <a:srgbClr val="272424"/>
                </a:solidFill>
                <a:latin typeface="Verdana"/>
                <a:cs typeface="Verdana"/>
              </a:rPr>
              <a:t>by</a:t>
            </a:r>
            <a:r>
              <a:rPr dirty="0" sz="1650" spc="-12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650" spc="-25">
                <a:solidFill>
                  <a:srgbClr val="272424"/>
                </a:solidFill>
                <a:latin typeface="Verdana"/>
                <a:cs typeface="Verdana"/>
              </a:rPr>
              <a:t>inefficiencies</a:t>
            </a:r>
            <a:r>
              <a:rPr dirty="0" sz="1650" spc="-6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650" spc="-90">
                <a:solidFill>
                  <a:srgbClr val="272424"/>
                </a:solidFill>
                <a:latin typeface="Verdana"/>
                <a:cs typeface="Verdana"/>
              </a:rPr>
              <a:t>that</a:t>
            </a:r>
            <a:r>
              <a:rPr dirty="0" sz="16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650" spc="-65">
                <a:solidFill>
                  <a:srgbClr val="272424"/>
                </a:solidFill>
                <a:latin typeface="Verdana"/>
                <a:cs typeface="Verdana"/>
              </a:rPr>
              <a:t>impact</a:t>
            </a:r>
            <a:r>
              <a:rPr dirty="0" sz="16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650" spc="-60">
                <a:solidFill>
                  <a:srgbClr val="272424"/>
                </a:solidFill>
                <a:latin typeface="Verdana"/>
                <a:cs typeface="Verdana"/>
              </a:rPr>
              <a:t>both</a:t>
            </a:r>
            <a:r>
              <a:rPr dirty="0" sz="1650" spc="-9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650" spc="-55">
                <a:solidFill>
                  <a:srgbClr val="272424"/>
                </a:solidFill>
                <a:latin typeface="Verdana"/>
                <a:cs typeface="Verdana"/>
              </a:rPr>
              <a:t>profitability</a:t>
            </a:r>
            <a:r>
              <a:rPr dirty="0" sz="1650" spc="-4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650" spc="-75">
                <a:solidFill>
                  <a:srgbClr val="272424"/>
                </a:solidFill>
                <a:latin typeface="Verdana"/>
                <a:cs typeface="Verdana"/>
              </a:rPr>
              <a:t>and</a:t>
            </a:r>
            <a:r>
              <a:rPr dirty="0" sz="1650" spc="-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650" spc="-65">
                <a:solidFill>
                  <a:srgbClr val="272424"/>
                </a:solidFill>
                <a:latin typeface="Verdana"/>
                <a:cs typeface="Verdana"/>
              </a:rPr>
              <a:t>customer</a:t>
            </a:r>
            <a:r>
              <a:rPr dirty="0" sz="1650" spc="-4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650" spc="-55">
                <a:solidFill>
                  <a:srgbClr val="272424"/>
                </a:solidFill>
                <a:latin typeface="Verdana"/>
                <a:cs typeface="Verdana"/>
              </a:rPr>
              <a:t>experience.</a:t>
            </a:r>
            <a:r>
              <a:rPr dirty="0" sz="1650" spc="-12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650" spc="-10">
                <a:solidFill>
                  <a:srgbClr val="272424"/>
                </a:solidFill>
                <a:latin typeface="Verdana"/>
                <a:cs typeface="Verdana"/>
              </a:rPr>
              <a:t>These</a:t>
            </a:r>
            <a:r>
              <a:rPr dirty="0" sz="1650" spc="-8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650" spc="-10">
                <a:solidFill>
                  <a:srgbClr val="272424"/>
                </a:solidFill>
                <a:latin typeface="Verdana"/>
                <a:cs typeface="Verdana"/>
              </a:rPr>
              <a:t>systemic </a:t>
            </a:r>
            <a:r>
              <a:rPr dirty="0" sz="1650" spc="-25">
                <a:solidFill>
                  <a:srgbClr val="272424"/>
                </a:solidFill>
                <a:latin typeface="Verdana"/>
                <a:cs typeface="Verdana"/>
              </a:rPr>
              <a:t>issues</a:t>
            </a:r>
            <a:r>
              <a:rPr dirty="0" sz="1650" spc="-14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650" spc="-75">
                <a:solidFill>
                  <a:srgbClr val="272424"/>
                </a:solidFill>
                <a:latin typeface="Verdana"/>
                <a:cs typeface="Verdana"/>
              </a:rPr>
              <a:t>demand</a:t>
            </a:r>
            <a:r>
              <a:rPr dirty="0" sz="1650" spc="-4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650" spc="-70">
                <a:solidFill>
                  <a:srgbClr val="272424"/>
                </a:solidFill>
                <a:latin typeface="Verdana"/>
                <a:cs typeface="Verdana"/>
              </a:rPr>
              <a:t>a</a:t>
            </a:r>
            <a:r>
              <a:rPr dirty="0" sz="1650" spc="-3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650" spc="-75">
                <a:solidFill>
                  <a:srgbClr val="272424"/>
                </a:solidFill>
                <a:latin typeface="Verdana"/>
                <a:cs typeface="Verdana"/>
              </a:rPr>
              <a:t>transformative</a:t>
            </a:r>
            <a:r>
              <a:rPr dirty="0" sz="1650" spc="-6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650" spc="-10">
                <a:solidFill>
                  <a:srgbClr val="272424"/>
                </a:solidFill>
                <a:latin typeface="Verdana"/>
                <a:cs typeface="Verdana"/>
              </a:rPr>
              <a:t>solution.</a:t>
            </a:r>
            <a:endParaRPr sz="1650">
              <a:latin typeface="Verdana"/>
              <a:cs typeface="Verdana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714375" y="3408045"/>
            <a:ext cx="4288155" cy="1908810"/>
            <a:chOff x="714375" y="3408045"/>
            <a:chExt cx="4288155" cy="1908810"/>
          </a:xfrm>
        </p:grpSpPr>
        <p:sp>
          <p:nvSpPr>
            <p:cNvPr id="8" name="object 8" descr=""/>
            <p:cNvSpPr/>
            <p:nvPr/>
          </p:nvSpPr>
          <p:spPr>
            <a:xfrm>
              <a:off x="733425" y="3419475"/>
              <a:ext cx="4257675" cy="1885950"/>
            </a:xfrm>
            <a:custGeom>
              <a:avLst/>
              <a:gdLst/>
              <a:ahLst/>
              <a:cxnLst/>
              <a:rect l="l" t="t" r="r" b="b"/>
              <a:pathLst>
                <a:path w="4257675" h="1885950">
                  <a:moveTo>
                    <a:pt x="0" y="109727"/>
                  </a:moveTo>
                  <a:lnTo>
                    <a:pt x="8620" y="67026"/>
                  </a:lnTo>
                  <a:lnTo>
                    <a:pt x="32129" y="32146"/>
                  </a:lnTo>
                  <a:lnTo>
                    <a:pt x="66999" y="8626"/>
                  </a:lnTo>
                  <a:lnTo>
                    <a:pt x="109702" y="0"/>
                  </a:lnTo>
                  <a:lnTo>
                    <a:pt x="4147947" y="0"/>
                  </a:lnTo>
                  <a:lnTo>
                    <a:pt x="4190648" y="8626"/>
                  </a:lnTo>
                  <a:lnTo>
                    <a:pt x="4225528" y="32146"/>
                  </a:lnTo>
                  <a:lnTo>
                    <a:pt x="4249048" y="67026"/>
                  </a:lnTo>
                  <a:lnTo>
                    <a:pt x="4257675" y="109727"/>
                  </a:lnTo>
                  <a:lnTo>
                    <a:pt x="4257675" y="1776222"/>
                  </a:lnTo>
                  <a:lnTo>
                    <a:pt x="4249048" y="1818923"/>
                  </a:lnTo>
                  <a:lnTo>
                    <a:pt x="4225528" y="1853803"/>
                  </a:lnTo>
                  <a:lnTo>
                    <a:pt x="4190648" y="1877323"/>
                  </a:lnTo>
                  <a:lnTo>
                    <a:pt x="4147947" y="1885950"/>
                  </a:lnTo>
                  <a:lnTo>
                    <a:pt x="109702" y="1885950"/>
                  </a:lnTo>
                  <a:lnTo>
                    <a:pt x="66999" y="1877323"/>
                  </a:lnTo>
                  <a:lnTo>
                    <a:pt x="32129" y="1853803"/>
                  </a:lnTo>
                  <a:lnTo>
                    <a:pt x="8620" y="1818923"/>
                  </a:lnTo>
                  <a:lnTo>
                    <a:pt x="0" y="1776222"/>
                  </a:lnTo>
                  <a:lnTo>
                    <a:pt x="0" y="109727"/>
                  </a:lnTo>
                  <a:close/>
                </a:path>
              </a:pathLst>
            </a:custGeom>
            <a:ln w="22860">
              <a:solidFill>
                <a:srgbClr val="C0C1D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714375" y="3419475"/>
              <a:ext cx="95250" cy="1885950"/>
            </a:xfrm>
            <a:custGeom>
              <a:avLst/>
              <a:gdLst/>
              <a:ahLst/>
              <a:cxnLst/>
              <a:rect l="l" t="t" r="r" b="b"/>
              <a:pathLst>
                <a:path w="95250" h="1885950">
                  <a:moveTo>
                    <a:pt x="47625" y="0"/>
                  </a:moveTo>
                  <a:lnTo>
                    <a:pt x="29087" y="3744"/>
                  </a:lnTo>
                  <a:lnTo>
                    <a:pt x="13949" y="13954"/>
                  </a:lnTo>
                  <a:lnTo>
                    <a:pt x="3742" y="29092"/>
                  </a:lnTo>
                  <a:lnTo>
                    <a:pt x="0" y="47625"/>
                  </a:lnTo>
                  <a:lnTo>
                    <a:pt x="0" y="1838325"/>
                  </a:lnTo>
                  <a:lnTo>
                    <a:pt x="3742" y="1856857"/>
                  </a:lnTo>
                  <a:lnTo>
                    <a:pt x="13949" y="1871995"/>
                  </a:lnTo>
                  <a:lnTo>
                    <a:pt x="29087" y="1882205"/>
                  </a:lnTo>
                  <a:lnTo>
                    <a:pt x="47625" y="1885950"/>
                  </a:lnTo>
                  <a:lnTo>
                    <a:pt x="66162" y="1882205"/>
                  </a:lnTo>
                  <a:lnTo>
                    <a:pt x="81300" y="1871995"/>
                  </a:lnTo>
                  <a:lnTo>
                    <a:pt x="91507" y="1856857"/>
                  </a:lnTo>
                  <a:lnTo>
                    <a:pt x="95250" y="1838325"/>
                  </a:lnTo>
                  <a:lnTo>
                    <a:pt x="95250" y="47625"/>
                  </a:lnTo>
                  <a:lnTo>
                    <a:pt x="91507" y="29092"/>
                  </a:lnTo>
                  <a:lnTo>
                    <a:pt x="81300" y="13954"/>
                  </a:lnTo>
                  <a:lnTo>
                    <a:pt x="66162" y="3744"/>
                  </a:lnTo>
                  <a:lnTo>
                    <a:pt x="47625" y="0"/>
                  </a:lnTo>
                  <a:close/>
                </a:path>
              </a:pathLst>
            </a:custGeom>
            <a:solidFill>
              <a:srgbClr val="4850B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1026160" y="3633406"/>
            <a:ext cx="3331845" cy="143002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175" b="1">
                <a:solidFill>
                  <a:srgbClr val="272424"/>
                </a:solidFill>
                <a:latin typeface="Verdana"/>
                <a:cs typeface="Verdana"/>
              </a:rPr>
              <a:t>Manual</a:t>
            </a:r>
            <a:r>
              <a:rPr dirty="0" sz="2000" spc="-120" b="1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2000" spc="-145" b="1">
                <a:solidFill>
                  <a:srgbClr val="272424"/>
                </a:solidFill>
                <a:latin typeface="Verdana"/>
                <a:cs typeface="Verdana"/>
              </a:rPr>
              <a:t>Processing</a:t>
            </a:r>
            <a:r>
              <a:rPr dirty="0" sz="2000" spc="-120" b="1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2000" spc="-70" b="1">
                <a:solidFill>
                  <a:srgbClr val="272424"/>
                </a:solidFill>
                <a:latin typeface="Verdana"/>
                <a:cs typeface="Verdana"/>
              </a:rPr>
              <a:t>Delays</a:t>
            </a:r>
            <a:endParaRPr sz="2000">
              <a:latin typeface="Verdana"/>
              <a:cs typeface="Verdana"/>
            </a:endParaRPr>
          </a:p>
          <a:p>
            <a:pPr marL="12700" marR="5080">
              <a:lnSpc>
                <a:spcPct val="130900"/>
              </a:lnSpc>
              <a:spcBef>
                <a:spcPts val="855"/>
              </a:spcBef>
            </a:pPr>
            <a:r>
              <a:rPr dirty="0" sz="1650" spc="-30">
                <a:solidFill>
                  <a:srgbClr val="272424"/>
                </a:solidFill>
                <a:latin typeface="Verdana"/>
                <a:cs typeface="Verdana"/>
              </a:rPr>
              <a:t>Slow</a:t>
            </a:r>
            <a:r>
              <a:rPr dirty="0" sz="16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650" spc="-25">
                <a:solidFill>
                  <a:srgbClr val="272424"/>
                </a:solidFill>
                <a:latin typeface="Verdana"/>
                <a:cs typeface="Verdana"/>
              </a:rPr>
              <a:t>policy</a:t>
            </a:r>
            <a:r>
              <a:rPr dirty="0" sz="1650" spc="-13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650" spc="-25">
                <a:solidFill>
                  <a:srgbClr val="272424"/>
                </a:solidFill>
                <a:latin typeface="Verdana"/>
                <a:cs typeface="Verdana"/>
              </a:rPr>
              <a:t>processing</a:t>
            </a:r>
            <a:r>
              <a:rPr dirty="0" sz="1650" spc="-6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650" spc="-75">
                <a:solidFill>
                  <a:srgbClr val="272424"/>
                </a:solidFill>
                <a:latin typeface="Verdana"/>
                <a:cs typeface="Verdana"/>
              </a:rPr>
              <a:t>and</a:t>
            </a:r>
            <a:r>
              <a:rPr dirty="0" sz="1650" spc="-6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650" spc="-35">
                <a:solidFill>
                  <a:srgbClr val="272424"/>
                </a:solidFill>
                <a:latin typeface="Verdana"/>
                <a:cs typeface="Verdana"/>
              </a:rPr>
              <a:t>claim </a:t>
            </a:r>
            <a:r>
              <a:rPr dirty="0" sz="1650" spc="-70">
                <a:solidFill>
                  <a:srgbClr val="272424"/>
                </a:solidFill>
                <a:latin typeface="Verdana"/>
                <a:cs typeface="Verdana"/>
              </a:rPr>
              <a:t>settlements</a:t>
            </a:r>
            <a:r>
              <a:rPr dirty="0" sz="1650" spc="-8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650" spc="-35">
                <a:solidFill>
                  <a:srgbClr val="272424"/>
                </a:solidFill>
                <a:latin typeface="Verdana"/>
                <a:cs typeface="Verdana"/>
              </a:rPr>
              <a:t>due</a:t>
            </a:r>
            <a:r>
              <a:rPr dirty="0" sz="1650" spc="-9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650" spc="-75">
                <a:solidFill>
                  <a:srgbClr val="272424"/>
                </a:solidFill>
                <a:latin typeface="Verdana"/>
                <a:cs typeface="Verdana"/>
              </a:rPr>
              <a:t>to</a:t>
            </a:r>
            <a:r>
              <a:rPr dirty="0" sz="16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650" spc="-20">
                <a:solidFill>
                  <a:srgbClr val="272424"/>
                </a:solidFill>
                <a:latin typeface="Verdana"/>
                <a:cs typeface="Verdana"/>
              </a:rPr>
              <a:t>human </a:t>
            </a:r>
            <a:r>
              <a:rPr dirty="0" sz="1650" spc="-10">
                <a:solidFill>
                  <a:srgbClr val="272424"/>
                </a:solidFill>
                <a:latin typeface="Verdana"/>
                <a:cs typeface="Verdana"/>
              </a:rPr>
              <a:t>intervention.</a:t>
            </a:r>
            <a:endParaRPr sz="1650">
              <a:latin typeface="Verdana"/>
              <a:cs typeface="Verdana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5162550" y="3408045"/>
            <a:ext cx="4288155" cy="1908810"/>
            <a:chOff x="5162550" y="3408045"/>
            <a:chExt cx="4288155" cy="1908810"/>
          </a:xfrm>
        </p:grpSpPr>
        <p:sp>
          <p:nvSpPr>
            <p:cNvPr id="12" name="object 12" descr=""/>
            <p:cNvSpPr/>
            <p:nvPr/>
          </p:nvSpPr>
          <p:spPr>
            <a:xfrm>
              <a:off x="5191125" y="3419475"/>
              <a:ext cx="4248150" cy="1885950"/>
            </a:xfrm>
            <a:custGeom>
              <a:avLst/>
              <a:gdLst/>
              <a:ahLst/>
              <a:cxnLst/>
              <a:rect l="l" t="t" r="r" b="b"/>
              <a:pathLst>
                <a:path w="4248150" h="1885950">
                  <a:moveTo>
                    <a:pt x="0" y="109727"/>
                  </a:moveTo>
                  <a:lnTo>
                    <a:pt x="8626" y="67026"/>
                  </a:lnTo>
                  <a:lnTo>
                    <a:pt x="32146" y="32146"/>
                  </a:lnTo>
                  <a:lnTo>
                    <a:pt x="67026" y="8626"/>
                  </a:lnTo>
                  <a:lnTo>
                    <a:pt x="109727" y="0"/>
                  </a:lnTo>
                  <a:lnTo>
                    <a:pt x="4138422" y="0"/>
                  </a:lnTo>
                  <a:lnTo>
                    <a:pt x="4181123" y="8626"/>
                  </a:lnTo>
                  <a:lnTo>
                    <a:pt x="4216003" y="32146"/>
                  </a:lnTo>
                  <a:lnTo>
                    <a:pt x="4239523" y="67026"/>
                  </a:lnTo>
                  <a:lnTo>
                    <a:pt x="4248150" y="109727"/>
                  </a:lnTo>
                  <a:lnTo>
                    <a:pt x="4248150" y="1776222"/>
                  </a:lnTo>
                  <a:lnTo>
                    <a:pt x="4239523" y="1818923"/>
                  </a:lnTo>
                  <a:lnTo>
                    <a:pt x="4216003" y="1853803"/>
                  </a:lnTo>
                  <a:lnTo>
                    <a:pt x="4181123" y="1877323"/>
                  </a:lnTo>
                  <a:lnTo>
                    <a:pt x="4138422" y="1885950"/>
                  </a:lnTo>
                  <a:lnTo>
                    <a:pt x="109727" y="1885950"/>
                  </a:lnTo>
                  <a:lnTo>
                    <a:pt x="67026" y="1877323"/>
                  </a:lnTo>
                  <a:lnTo>
                    <a:pt x="32146" y="1853803"/>
                  </a:lnTo>
                  <a:lnTo>
                    <a:pt x="8626" y="1818923"/>
                  </a:lnTo>
                  <a:lnTo>
                    <a:pt x="0" y="1776222"/>
                  </a:lnTo>
                  <a:lnTo>
                    <a:pt x="0" y="109727"/>
                  </a:lnTo>
                  <a:close/>
                </a:path>
              </a:pathLst>
            </a:custGeom>
            <a:ln w="22860">
              <a:solidFill>
                <a:srgbClr val="C0C1D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5162550" y="3419475"/>
              <a:ext cx="95250" cy="1885950"/>
            </a:xfrm>
            <a:custGeom>
              <a:avLst/>
              <a:gdLst/>
              <a:ahLst/>
              <a:cxnLst/>
              <a:rect l="l" t="t" r="r" b="b"/>
              <a:pathLst>
                <a:path w="95250" h="1885950">
                  <a:moveTo>
                    <a:pt x="47625" y="0"/>
                  </a:moveTo>
                  <a:lnTo>
                    <a:pt x="29092" y="3744"/>
                  </a:lnTo>
                  <a:lnTo>
                    <a:pt x="13954" y="13954"/>
                  </a:lnTo>
                  <a:lnTo>
                    <a:pt x="3744" y="29092"/>
                  </a:lnTo>
                  <a:lnTo>
                    <a:pt x="0" y="47625"/>
                  </a:lnTo>
                  <a:lnTo>
                    <a:pt x="0" y="1838325"/>
                  </a:lnTo>
                  <a:lnTo>
                    <a:pt x="3744" y="1856857"/>
                  </a:lnTo>
                  <a:lnTo>
                    <a:pt x="13954" y="1871995"/>
                  </a:lnTo>
                  <a:lnTo>
                    <a:pt x="29092" y="1882205"/>
                  </a:lnTo>
                  <a:lnTo>
                    <a:pt x="47625" y="1885950"/>
                  </a:lnTo>
                  <a:lnTo>
                    <a:pt x="66157" y="1882205"/>
                  </a:lnTo>
                  <a:lnTo>
                    <a:pt x="81295" y="1871995"/>
                  </a:lnTo>
                  <a:lnTo>
                    <a:pt x="91505" y="1856857"/>
                  </a:lnTo>
                  <a:lnTo>
                    <a:pt x="95250" y="1838325"/>
                  </a:lnTo>
                  <a:lnTo>
                    <a:pt x="95250" y="47625"/>
                  </a:lnTo>
                  <a:lnTo>
                    <a:pt x="91505" y="29092"/>
                  </a:lnTo>
                  <a:lnTo>
                    <a:pt x="81295" y="13954"/>
                  </a:lnTo>
                  <a:lnTo>
                    <a:pt x="66157" y="3744"/>
                  </a:lnTo>
                  <a:lnTo>
                    <a:pt x="47625" y="0"/>
                  </a:lnTo>
                  <a:close/>
                </a:path>
              </a:pathLst>
            </a:custGeom>
            <a:solidFill>
              <a:srgbClr val="4850B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5480050" y="3633406"/>
            <a:ext cx="3689985" cy="143002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190" b="1">
                <a:solidFill>
                  <a:srgbClr val="272424"/>
                </a:solidFill>
                <a:latin typeface="Verdana"/>
                <a:cs typeface="Verdana"/>
              </a:rPr>
              <a:t>High</a:t>
            </a:r>
            <a:r>
              <a:rPr dirty="0" sz="2000" spc="-45" b="1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2000" spc="-200" b="1">
                <a:solidFill>
                  <a:srgbClr val="272424"/>
                </a:solidFill>
                <a:latin typeface="Verdana"/>
                <a:cs typeface="Verdana"/>
              </a:rPr>
              <a:t>Operational</a:t>
            </a:r>
            <a:r>
              <a:rPr dirty="0" sz="2000" spc="-10" b="1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2000" spc="-20" b="1">
                <a:solidFill>
                  <a:srgbClr val="272424"/>
                </a:solidFill>
                <a:latin typeface="Verdana"/>
                <a:cs typeface="Verdana"/>
              </a:rPr>
              <a:t>Costs</a:t>
            </a:r>
            <a:endParaRPr sz="2000">
              <a:latin typeface="Verdana"/>
              <a:cs typeface="Verdana"/>
            </a:endParaRPr>
          </a:p>
          <a:p>
            <a:pPr marL="12700" marR="5080">
              <a:lnSpc>
                <a:spcPct val="130900"/>
              </a:lnSpc>
              <a:spcBef>
                <a:spcPts val="855"/>
              </a:spcBef>
            </a:pPr>
            <a:r>
              <a:rPr dirty="0" sz="1650" spc="-45">
                <a:solidFill>
                  <a:srgbClr val="272424"/>
                </a:solidFill>
                <a:latin typeface="Verdana"/>
                <a:cs typeface="Verdana"/>
              </a:rPr>
              <a:t>Significant</a:t>
            </a:r>
            <a:r>
              <a:rPr dirty="0" sz="16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650" spc="-35">
                <a:solidFill>
                  <a:srgbClr val="272424"/>
                </a:solidFill>
                <a:latin typeface="Verdana"/>
                <a:cs typeface="Verdana"/>
              </a:rPr>
              <a:t>expenses</a:t>
            </a:r>
            <a:r>
              <a:rPr dirty="0" sz="1650" spc="-7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650" spc="-40">
                <a:solidFill>
                  <a:srgbClr val="272424"/>
                </a:solidFill>
                <a:latin typeface="Verdana"/>
                <a:cs typeface="Verdana"/>
              </a:rPr>
              <a:t>associated</a:t>
            </a:r>
            <a:r>
              <a:rPr dirty="0" sz="1650" spc="-13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650" spc="-20">
                <a:solidFill>
                  <a:srgbClr val="272424"/>
                </a:solidFill>
                <a:latin typeface="Verdana"/>
                <a:cs typeface="Verdana"/>
              </a:rPr>
              <a:t>with </a:t>
            </a:r>
            <a:r>
              <a:rPr dirty="0" sz="1650" spc="-50">
                <a:solidFill>
                  <a:srgbClr val="272424"/>
                </a:solidFill>
                <a:latin typeface="Verdana"/>
                <a:cs typeface="Verdana"/>
              </a:rPr>
              <a:t>labor-</a:t>
            </a:r>
            <a:r>
              <a:rPr dirty="0" sz="1650" spc="-60">
                <a:solidFill>
                  <a:srgbClr val="272424"/>
                </a:solidFill>
                <a:latin typeface="Verdana"/>
                <a:cs typeface="Verdana"/>
              </a:rPr>
              <a:t>intensive</a:t>
            </a:r>
            <a:r>
              <a:rPr dirty="0" sz="1650" spc="-8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650" spc="-55">
                <a:solidFill>
                  <a:srgbClr val="272424"/>
                </a:solidFill>
                <a:latin typeface="Verdana"/>
                <a:cs typeface="Verdana"/>
              </a:rPr>
              <a:t>tasks</a:t>
            </a:r>
            <a:r>
              <a:rPr dirty="0" sz="1650" spc="-6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650" spc="-75">
                <a:solidFill>
                  <a:srgbClr val="272424"/>
                </a:solidFill>
                <a:latin typeface="Verdana"/>
                <a:cs typeface="Verdana"/>
              </a:rPr>
              <a:t>and</a:t>
            </a:r>
            <a:r>
              <a:rPr dirty="0" sz="1650" spc="-5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650" spc="-20">
                <a:solidFill>
                  <a:srgbClr val="272424"/>
                </a:solidFill>
                <a:latin typeface="Verdana"/>
                <a:cs typeface="Verdana"/>
              </a:rPr>
              <a:t>error </a:t>
            </a:r>
            <a:r>
              <a:rPr dirty="0" sz="1650" spc="-10">
                <a:solidFill>
                  <a:srgbClr val="272424"/>
                </a:solidFill>
                <a:latin typeface="Verdana"/>
                <a:cs typeface="Verdana"/>
              </a:rPr>
              <a:t>correction.</a:t>
            </a:r>
            <a:endParaRPr sz="1650">
              <a:latin typeface="Verdana"/>
              <a:cs typeface="Verdana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9610725" y="3408045"/>
            <a:ext cx="4297680" cy="1908810"/>
            <a:chOff x="9610725" y="3408045"/>
            <a:chExt cx="4297680" cy="1908810"/>
          </a:xfrm>
        </p:grpSpPr>
        <p:sp>
          <p:nvSpPr>
            <p:cNvPr id="16" name="object 16" descr=""/>
            <p:cNvSpPr/>
            <p:nvPr/>
          </p:nvSpPr>
          <p:spPr>
            <a:xfrm>
              <a:off x="9639300" y="3419475"/>
              <a:ext cx="4257675" cy="1885950"/>
            </a:xfrm>
            <a:custGeom>
              <a:avLst/>
              <a:gdLst/>
              <a:ahLst/>
              <a:cxnLst/>
              <a:rect l="l" t="t" r="r" b="b"/>
              <a:pathLst>
                <a:path w="4257675" h="1885950">
                  <a:moveTo>
                    <a:pt x="0" y="109727"/>
                  </a:moveTo>
                  <a:lnTo>
                    <a:pt x="8626" y="67026"/>
                  </a:lnTo>
                  <a:lnTo>
                    <a:pt x="32146" y="32146"/>
                  </a:lnTo>
                  <a:lnTo>
                    <a:pt x="67026" y="8626"/>
                  </a:lnTo>
                  <a:lnTo>
                    <a:pt x="109727" y="0"/>
                  </a:lnTo>
                  <a:lnTo>
                    <a:pt x="4147946" y="0"/>
                  </a:lnTo>
                  <a:lnTo>
                    <a:pt x="4190648" y="8626"/>
                  </a:lnTo>
                  <a:lnTo>
                    <a:pt x="4225528" y="32146"/>
                  </a:lnTo>
                  <a:lnTo>
                    <a:pt x="4249048" y="67026"/>
                  </a:lnTo>
                  <a:lnTo>
                    <a:pt x="4257675" y="109727"/>
                  </a:lnTo>
                  <a:lnTo>
                    <a:pt x="4257675" y="1776222"/>
                  </a:lnTo>
                  <a:lnTo>
                    <a:pt x="4249048" y="1818923"/>
                  </a:lnTo>
                  <a:lnTo>
                    <a:pt x="4225528" y="1853803"/>
                  </a:lnTo>
                  <a:lnTo>
                    <a:pt x="4190648" y="1877323"/>
                  </a:lnTo>
                  <a:lnTo>
                    <a:pt x="4147946" y="1885950"/>
                  </a:lnTo>
                  <a:lnTo>
                    <a:pt x="109727" y="1885950"/>
                  </a:lnTo>
                  <a:lnTo>
                    <a:pt x="67026" y="1877323"/>
                  </a:lnTo>
                  <a:lnTo>
                    <a:pt x="32146" y="1853803"/>
                  </a:lnTo>
                  <a:lnTo>
                    <a:pt x="8626" y="1818923"/>
                  </a:lnTo>
                  <a:lnTo>
                    <a:pt x="0" y="1776222"/>
                  </a:lnTo>
                  <a:lnTo>
                    <a:pt x="0" y="109727"/>
                  </a:lnTo>
                  <a:close/>
                </a:path>
              </a:pathLst>
            </a:custGeom>
            <a:ln w="22860">
              <a:solidFill>
                <a:srgbClr val="C0C1D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9610725" y="3419475"/>
              <a:ext cx="95250" cy="1885950"/>
            </a:xfrm>
            <a:custGeom>
              <a:avLst/>
              <a:gdLst/>
              <a:ahLst/>
              <a:cxnLst/>
              <a:rect l="l" t="t" r="r" b="b"/>
              <a:pathLst>
                <a:path w="95250" h="1885950">
                  <a:moveTo>
                    <a:pt x="47625" y="0"/>
                  </a:moveTo>
                  <a:lnTo>
                    <a:pt x="29092" y="3744"/>
                  </a:lnTo>
                  <a:lnTo>
                    <a:pt x="13954" y="13954"/>
                  </a:lnTo>
                  <a:lnTo>
                    <a:pt x="3744" y="29092"/>
                  </a:lnTo>
                  <a:lnTo>
                    <a:pt x="0" y="47625"/>
                  </a:lnTo>
                  <a:lnTo>
                    <a:pt x="0" y="1838325"/>
                  </a:lnTo>
                  <a:lnTo>
                    <a:pt x="3744" y="1856857"/>
                  </a:lnTo>
                  <a:lnTo>
                    <a:pt x="13954" y="1871995"/>
                  </a:lnTo>
                  <a:lnTo>
                    <a:pt x="29092" y="1882205"/>
                  </a:lnTo>
                  <a:lnTo>
                    <a:pt x="47625" y="1885950"/>
                  </a:lnTo>
                  <a:lnTo>
                    <a:pt x="66157" y="1882205"/>
                  </a:lnTo>
                  <a:lnTo>
                    <a:pt x="81295" y="1871995"/>
                  </a:lnTo>
                  <a:lnTo>
                    <a:pt x="91505" y="1856857"/>
                  </a:lnTo>
                  <a:lnTo>
                    <a:pt x="95250" y="1838325"/>
                  </a:lnTo>
                  <a:lnTo>
                    <a:pt x="95250" y="47625"/>
                  </a:lnTo>
                  <a:lnTo>
                    <a:pt x="91505" y="29092"/>
                  </a:lnTo>
                  <a:lnTo>
                    <a:pt x="81295" y="13954"/>
                  </a:lnTo>
                  <a:lnTo>
                    <a:pt x="66157" y="3744"/>
                  </a:lnTo>
                  <a:lnTo>
                    <a:pt x="47625" y="0"/>
                  </a:lnTo>
                  <a:close/>
                </a:path>
              </a:pathLst>
            </a:custGeom>
            <a:solidFill>
              <a:srgbClr val="4850B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9933685" y="3633406"/>
            <a:ext cx="3432175" cy="143002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225" b="1">
                <a:solidFill>
                  <a:srgbClr val="272424"/>
                </a:solidFill>
                <a:latin typeface="Verdana"/>
                <a:cs typeface="Verdana"/>
              </a:rPr>
              <a:t>Human</a:t>
            </a:r>
            <a:r>
              <a:rPr dirty="0" sz="2000" spc="-75" b="1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2000" spc="-204" b="1">
                <a:solidFill>
                  <a:srgbClr val="272424"/>
                </a:solidFill>
                <a:latin typeface="Verdana"/>
                <a:cs typeface="Verdana"/>
              </a:rPr>
              <a:t>Error</a:t>
            </a:r>
            <a:r>
              <a:rPr dirty="0" sz="2000" spc="-85" b="1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2000" spc="-100" b="1">
                <a:solidFill>
                  <a:srgbClr val="272424"/>
                </a:solidFill>
                <a:latin typeface="Verdana"/>
                <a:cs typeface="Verdana"/>
              </a:rPr>
              <a:t>Susceptibility</a:t>
            </a:r>
            <a:endParaRPr sz="2000">
              <a:latin typeface="Verdana"/>
              <a:cs typeface="Verdana"/>
            </a:endParaRPr>
          </a:p>
          <a:p>
            <a:pPr marL="12700" marR="5080">
              <a:lnSpc>
                <a:spcPct val="130900"/>
              </a:lnSpc>
              <a:spcBef>
                <a:spcPts val="855"/>
              </a:spcBef>
            </a:pPr>
            <a:r>
              <a:rPr dirty="0" sz="1650" spc="-50">
                <a:solidFill>
                  <a:srgbClr val="272424"/>
                </a:solidFill>
                <a:latin typeface="Verdana"/>
                <a:cs typeface="Verdana"/>
              </a:rPr>
              <a:t>Inconsistencies</a:t>
            </a:r>
            <a:r>
              <a:rPr dirty="0" sz="1650" spc="-6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650" spc="-75">
                <a:solidFill>
                  <a:srgbClr val="272424"/>
                </a:solidFill>
                <a:latin typeface="Verdana"/>
                <a:cs typeface="Verdana"/>
              </a:rPr>
              <a:t>and</a:t>
            </a:r>
            <a:r>
              <a:rPr dirty="0" sz="1650" spc="-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650" spc="-70">
                <a:solidFill>
                  <a:srgbClr val="272424"/>
                </a:solidFill>
                <a:latin typeface="Verdana"/>
                <a:cs typeface="Verdana"/>
              </a:rPr>
              <a:t>mistakes</a:t>
            </a:r>
            <a:r>
              <a:rPr dirty="0" sz="1650" spc="-6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650" spc="-25">
                <a:solidFill>
                  <a:srgbClr val="272424"/>
                </a:solidFill>
                <a:latin typeface="Verdana"/>
                <a:cs typeface="Verdana"/>
              </a:rPr>
              <a:t>in </a:t>
            </a:r>
            <a:r>
              <a:rPr dirty="0" sz="1650" spc="-65">
                <a:solidFill>
                  <a:srgbClr val="272424"/>
                </a:solidFill>
                <a:latin typeface="Verdana"/>
                <a:cs typeface="Verdana"/>
              </a:rPr>
              <a:t>underwriting</a:t>
            </a:r>
            <a:r>
              <a:rPr dirty="0" sz="1650" spc="-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650" spc="-75">
                <a:solidFill>
                  <a:srgbClr val="272424"/>
                </a:solidFill>
                <a:latin typeface="Verdana"/>
                <a:cs typeface="Verdana"/>
              </a:rPr>
              <a:t>and</a:t>
            </a:r>
            <a:r>
              <a:rPr dirty="0" sz="1650" spc="-4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650" spc="-65">
                <a:solidFill>
                  <a:srgbClr val="272424"/>
                </a:solidFill>
                <a:latin typeface="Verdana"/>
                <a:cs typeface="Verdana"/>
              </a:rPr>
              <a:t>claims</a:t>
            </a:r>
            <a:r>
              <a:rPr dirty="0" sz="1650" spc="-6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650" spc="-50">
                <a:solidFill>
                  <a:srgbClr val="272424"/>
                </a:solidFill>
                <a:latin typeface="Verdana"/>
                <a:cs typeface="Verdana"/>
              </a:rPr>
              <a:t>leading</a:t>
            </a:r>
            <a:r>
              <a:rPr dirty="0" sz="1650" spc="-13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650" spc="-25">
                <a:solidFill>
                  <a:srgbClr val="272424"/>
                </a:solidFill>
                <a:latin typeface="Verdana"/>
                <a:cs typeface="Verdana"/>
              </a:rPr>
              <a:t>to </a:t>
            </a:r>
            <a:r>
              <a:rPr dirty="0" sz="1650" spc="-40">
                <a:solidFill>
                  <a:srgbClr val="272424"/>
                </a:solidFill>
                <a:latin typeface="Verdana"/>
                <a:cs typeface="Verdana"/>
              </a:rPr>
              <a:t>financial</a:t>
            </a:r>
            <a:r>
              <a:rPr dirty="0" sz="1650" spc="-8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650" spc="-10">
                <a:solidFill>
                  <a:srgbClr val="272424"/>
                </a:solidFill>
                <a:latin typeface="Verdana"/>
                <a:cs typeface="Verdana"/>
              </a:rPr>
              <a:t>losses.</a:t>
            </a:r>
            <a:endParaRPr sz="1650">
              <a:latin typeface="Verdana"/>
              <a:cs typeface="Verdana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714375" y="5484495"/>
            <a:ext cx="4288155" cy="1908810"/>
            <a:chOff x="714375" y="5484495"/>
            <a:chExt cx="4288155" cy="1908810"/>
          </a:xfrm>
        </p:grpSpPr>
        <p:sp>
          <p:nvSpPr>
            <p:cNvPr id="20" name="object 20" descr=""/>
            <p:cNvSpPr/>
            <p:nvPr/>
          </p:nvSpPr>
          <p:spPr>
            <a:xfrm>
              <a:off x="733425" y="5495925"/>
              <a:ext cx="4257675" cy="1885950"/>
            </a:xfrm>
            <a:custGeom>
              <a:avLst/>
              <a:gdLst/>
              <a:ahLst/>
              <a:cxnLst/>
              <a:rect l="l" t="t" r="r" b="b"/>
              <a:pathLst>
                <a:path w="4257675" h="1885950">
                  <a:moveTo>
                    <a:pt x="0" y="109727"/>
                  </a:moveTo>
                  <a:lnTo>
                    <a:pt x="8620" y="67026"/>
                  </a:lnTo>
                  <a:lnTo>
                    <a:pt x="32129" y="32146"/>
                  </a:lnTo>
                  <a:lnTo>
                    <a:pt x="66999" y="8626"/>
                  </a:lnTo>
                  <a:lnTo>
                    <a:pt x="109702" y="0"/>
                  </a:lnTo>
                  <a:lnTo>
                    <a:pt x="4147947" y="0"/>
                  </a:lnTo>
                  <a:lnTo>
                    <a:pt x="4190648" y="8626"/>
                  </a:lnTo>
                  <a:lnTo>
                    <a:pt x="4225528" y="32146"/>
                  </a:lnTo>
                  <a:lnTo>
                    <a:pt x="4249048" y="67026"/>
                  </a:lnTo>
                  <a:lnTo>
                    <a:pt x="4257675" y="109727"/>
                  </a:lnTo>
                  <a:lnTo>
                    <a:pt x="4257675" y="1776247"/>
                  </a:lnTo>
                  <a:lnTo>
                    <a:pt x="4249048" y="1818950"/>
                  </a:lnTo>
                  <a:lnTo>
                    <a:pt x="4225528" y="1853820"/>
                  </a:lnTo>
                  <a:lnTo>
                    <a:pt x="4190648" y="1877329"/>
                  </a:lnTo>
                  <a:lnTo>
                    <a:pt x="4147947" y="1885950"/>
                  </a:lnTo>
                  <a:lnTo>
                    <a:pt x="109702" y="1885950"/>
                  </a:lnTo>
                  <a:lnTo>
                    <a:pt x="66999" y="1877329"/>
                  </a:lnTo>
                  <a:lnTo>
                    <a:pt x="32129" y="1853820"/>
                  </a:lnTo>
                  <a:lnTo>
                    <a:pt x="8620" y="1818950"/>
                  </a:lnTo>
                  <a:lnTo>
                    <a:pt x="0" y="1776247"/>
                  </a:lnTo>
                  <a:lnTo>
                    <a:pt x="0" y="109727"/>
                  </a:lnTo>
                  <a:close/>
                </a:path>
              </a:pathLst>
            </a:custGeom>
            <a:ln w="22860">
              <a:solidFill>
                <a:srgbClr val="C0C1D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714375" y="5495925"/>
              <a:ext cx="95250" cy="1885950"/>
            </a:xfrm>
            <a:custGeom>
              <a:avLst/>
              <a:gdLst/>
              <a:ahLst/>
              <a:cxnLst/>
              <a:rect l="l" t="t" r="r" b="b"/>
              <a:pathLst>
                <a:path w="95250" h="1885950">
                  <a:moveTo>
                    <a:pt x="47625" y="0"/>
                  </a:moveTo>
                  <a:lnTo>
                    <a:pt x="29087" y="3744"/>
                  </a:lnTo>
                  <a:lnTo>
                    <a:pt x="13949" y="13954"/>
                  </a:lnTo>
                  <a:lnTo>
                    <a:pt x="3742" y="29092"/>
                  </a:lnTo>
                  <a:lnTo>
                    <a:pt x="0" y="47625"/>
                  </a:lnTo>
                  <a:lnTo>
                    <a:pt x="0" y="1838325"/>
                  </a:lnTo>
                  <a:lnTo>
                    <a:pt x="3742" y="1856862"/>
                  </a:lnTo>
                  <a:lnTo>
                    <a:pt x="13949" y="1872000"/>
                  </a:lnTo>
                  <a:lnTo>
                    <a:pt x="29087" y="1882207"/>
                  </a:lnTo>
                  <a:lnTo>
                    <a:pt x="47625" y="1885950"/>
                  </a:lnTo>
                  <a:lnTo>
                    <a:pt x="66162" y="1882207"/>
                  </a:lnTo>
                  <a:lnTo>
                    <a:pt x="81300" y="1872000"/>
                  </a:lnTo>
                  <a:lnTo>
                    <a:pt x="91507" y="1856862"/>
                  </a:lnTo>
                  <a:lnTo>
                    <a:pt x="95250" y="1838325"/>
                  </a:lnTo>
                  <a:lnTo>
                    <a:pt x="95250" y="47625"/>
                  </a:lnTo>
                  <a:lnTo>
                    <a:pt x="91507" y="29092"/>
                  </a:lnTo>
                  <a:lnTo>
                    <a:pt x="81300" y="13954"/>
                  </a:lnTo>
                  <a:lnTo>
                    <a:pt x="66162" y="3744"/>
                  </a:lnTo>
                  <a:lnTo>
                    <a:pt x="47625" y="0"/>
                  </a:lnTo>
                  <a:close/>
                </a:path>
              </a:pathLst>
            </a:custGeom>
            <a:solidFill>
              <a:srgbClr val="4850B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1026160" y="5717222"/>
            <a:ext cx="3418840" cy="110553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195" b="1">
                <a:solidFill>
                  <a:srgbClr val="272424"/>
                </a:solidFill>
                <a:latin typeface="Verdana"/>
                <a:cs typeface="Verdana"/>
              </a:rPr>
              <a:t>Limited</a:t>
            </a:r>
            <a:r>
              <a:rPr dirty="0" sz="2000" spc="-100" b="1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2000" spc="-190" b="1">
                <a:solidFill>
                  <a:srgbClr val="272424"/>
                </a:solidFill>
                <a:latin typeface="Verdana"/>
                <a:cs typeface="Verdana"/>
              </a:rPr>
              <a:t>Fraud</a:t>
            </a:r>
            <a:r>
              <a:rPr dirty="0" sz="2000" spc="-25" b="1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2000" spc="-65" b="1">
                <a:solidFill>
                  <a:srgbClr val="272424"/>
                </a:solidFill>
                <a:latin typeface="Verdana"/>
                <a:cs typeface="Verdana"/>
              </a:rPr>
              <a:t>Detection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470"/>
              </a:spcBef>
            </a:pPr>
            <a:r>
              <a:rPr dirty="0" sz="1650" spc="-50">
                <a:solidFill>
                  <a:srgbClr val="272424"/>
                </a:solidFill>
                <a:latin typeface="Verdana"/>
                <a:cs typeface="Verdana"/>
              </a:rPr>
              <a:t>Ineffective</a:t>
            </a:r>
            <a:r>
              <a:rPr dirty="0" sz="16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650" spc="-50">
                <a:solidFill>
                  <a:srgbClr val="272424"/>
                </a:solidFill>
                <a:latin typeface="Verdana"/>
                <a:cs typeface="Verdana"/>
              </a:rPr>
              <a:t>systems</a:t>
            </a:r>
            <a:r>
              <a:rPr dirty="0" sz="1650" spc="-9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650" spc="-20">
                <a:solidFill>
                  <a:srgbClr val="272424"/>
                </a:solidFill>
                <a:latin typeface="Verdana"/>
                <a:cs typeface="Verdana"/>
              </a:rPr>
              <a:t>for</a:t>
            </a:r>
            <a:r>
              <a:rPr dirty="0" sz="1650" spc="-7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650" spc="-35">
                <a:solidFill>
                  <a:srgbClr val="272424"/>
                </a:solidFill>
                <a:latin typeface="Verdana"/>
                <a:cs typeface="Verdana"/>
              </a:rPr>
              <a:t>identifying</a:t>
            </a:r>
            <a:endParaRPr sz="1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dirty="0" sz="1650" spc="-75">
                <a:solidFill>
                  <a:srgbClr val="272424"/>
                </a:solidFill>
                <a:latin typeface="Verdana"/>
                <a:cs typeface="Verdana"/>
              </a:rPr>
              <a:t>and</a:t>
            </a:r>
            <a:r>
              <a:rPr dirty="0" sz="1650" spc="-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650" spc="-70">
                <a:solidFill>
                  <a:srgbClr val="272424"/>
                </a:solidFill>
                <a:latin typeface="Verdana"/>
                <a:cs typeface="Verdana"/>
              </a:rPr>
              <a:t>preventing</a:t>
            </a:r>
            <a:r>
              <a:rPr dirty="0" sz="1650" spc="-1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650" spc="-65">
                <a:solidFill>
                  <a:srgbClr val="272424"/>
                </a:solidFill>
                <a:latin typeface="Verdana"/>
                <a:cs typeface="Verdana"/>
              </a:rPr>
              <a:t>fraudulent</a:t>
            </a:r>
            <a:r>
              <a:rPr dirty="0" sz="1650" spc="-7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650" spc="-10">
                <a:solidFill>
                  <a:srgbClr val="272424"/>
                </a:solidFill>
                <a:latin typeface="Verdana"/>
                <a:cs typeface="Verdana"/>
              </a:rPr>
              <a:t>claims.</a:t>
            </a:r>
            <a:endParaRPr sz="1650">
              <a:latin typeface="Verdana"/>
              <a:cs typeface="Verdana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5162550" y="5484495"/>
            <a:ext cx="4288155" cy="1908810"/>
            <a:chOff x="5162550" y="5484495"/>
            <a:chExt cx="4288155" cy="1908810"/>
          </a:xfrm>
        </p:grpSpPr>
        <p:sp>
          <p:nvSpPr>
            <p:cNvPr id="24" name="object 24" descr=""/>
            <p:cNvSpPr/>
            <p:nvPr/>
          </p:nvSpPr>
          <p:spPr>
            <a:xfrm>
              <a:off x="5191125" y="5495925"/>
              <a:ext cx="4248150" cy="1885950"/>
            </a:xfrm>
            <a:custGeom>
              <a:avLst/>
              <a:gdLst/>
              <a:ahLst/>
              <a:cxnLst/>
              <a:rect l="l" t="t" r="r" b="b"/>
              <a:pathLst>
                <a:path w="4248150" h="1885950">
                  <a:moveTo>
                    <a:pt x="0" y="109727"/>
                  </a:moveTo>
                  <a:lnTo>
                    <a:pt x="8626" y="67026"/>
                  </a:lnTo>
                  <a:lnTo>
                    <a:pt x="32146" y="32146"/>
                  </a:lnTo>
                  <a:lnTo>
                    <a:pt x="67026" y="8626"/>
                  </a:lnTo>
                  <a:lnTo>
                    <a:pt x="109727" y="0"/>
                  </a:lnTo>
                  <a:lnTo>
                    <a:pt x="4138422" y="0"/>
                  </a:lnTo>
                  <a:lnTo>
                    <a:pt x="4181123" y="8626"/>
                  </a:lnTo>
                  <a:lnTo>
                    <a:pt x="4216003" y="32146"/>
                  </a:lnTo>
                  <a:lnTo>
                    <a:pt x="4239523" y="67026"/>
                  </a:lnTo>
                  <a:lnTo>
                    <a:pt x="4248150" y="109727"/>
                  </a:lnTo>
                  <a:lnTo>
                    <a:pt x="4248150" y="1776247"/>
                  </a:lnTo>
                  <a:lnTo>
                    <a:pt x="4239523" y="1818945"/>
                  </a:lnTo>
                  <a:lnTo>
                    <a:pt x="4216003" y="1853815"/>
                  </a:lnTo>
                  <a:lnTo>
                    <a:pt x="4181123" y="1877327"/>
                  </a:lnTo>
                  <a:lnTo>
                    <a:pt x="4138422" y="1885950"/>
                  </a:lnTo>
                  <a:lnTo>
                    <a:pt x="109727" y="1885950"/>
                  </a:lnTo>
                  <a:lnTo>
                    <a:pt x="67026" y="1877327"/>
                  </a:lnTo>
                  <a:lnTo>
                    <a:pt x="32146" y="1853815"/>
                  </a:lnTo>
                  <a:lnTo>
                    <a:pt x="8626" y="1818945"/>
                  </a:lnTo>
                  <a:lnTo>
                    <a:pt x="0" y="1776247"/>
                  </a:lnTo>
                  <a:lnTo>
                    <a:pt x="0" y="109727"/>
                  </a:lnTo>
                  <a:close/>
                </a:path>
              </a:pathLst>
            </a:custGeom>
            <a:ln w="22860">
              <a:solidFill>
                <a:srgbClr val="C0C1D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5162550" y="5495925"/>
              <a:ext cx="95250" cy="1885950"/>
            </a:xfrm>
            <a:custGeom>
              <a:avLst/>
              <a:gdLst/>
              <a:ahLst/>
              <a:cxnLst/>
              <a:rect l="l" t="t" r="r" b="b"/>
              <a:pathLst>
                <a:path w="95250" h="1885950">
                  <a:moveTo>
                    <a:pt x="47625" y="0"/>
                  </a:moveTo>
                  <a:lnTo>
                    <a:pt x="29092" y="3744"/>
                  </a:lnTo>
                  <a:lnTo>
                    <a:pt x="13954" y="13954"/>
                  </a:lnTo>
                  <a:lnTo>
                    <a:pt x="3744" y="29092"/>
                  </a:lnTo>
                  <a:lnTo>
                    <a:pt x="0" y="47625"/>
                  </a:lnTo>
                  <a:lnTo>
                    <a:pt x="0" y="1838325"/>
                  </a:lnTo>
                  <a:lnTo>
                    <a:pt x="3744" y="1856862"/>
                  </a:lnTo>
                  <a:lnTo>
                    <a:pt x="13954" y="1872000"/>
                  </a:lnTo>
                  <a:lnTo>
                    <a:pt x="29092" y="1882207"/>
                  </a:lnTo>
                  <a:lnTo>
                    <a:pt x="47625" y="1885950"/>
                  </a:lnTo>
                  <a:lnTo>
                    <a:pt x="66157" y="1882207"/>
                  </a:lnTo>
                  <a:lnTo>
                    <a:pt x="81295" y="1872000"/>
                  </a:lnTo>
                  <a:lnTo>
                    <a:pt x="91505" y="1856862"/>
                  </a:lnTo>
                  <a:lnTo>
                    <a:pt x="95250" y="1838325"/>
                  </a:lnTo>
                  <a:lnTo>
                    <a:pt x="95250" y="47625"/>
                  </a:lnTo>
                  <a:lnTo>
                    <a:pt x="91505" y="29092"/>
                  </a:lnTo>
                  <a:lnTo>
                    <a:pt x="81295" y="13954"/>
                  </a:lnTo>
                  <a:lnTo>
                    <a:pt x="66157" y="3744"/>
                  </a:lnTo>
                  <a:lnTo>
                    <a:pt x="47625" y="0"/>
                  </a:lnTo>
                  <a:close/>
                </a:path>
              </a:pathLst>
            </a:custGeom>
            <a:solidFill>
              <a:srgbClr val="4850B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5480050" y="5717222"/>
            <a:ext cx="3224530" cy="143002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130" b="1">
                <a:solidFill>
                  <a:srgbClr val="272424"/>
                </a:solidFill>
                <a:latin typeface="Verdana"/>
                <a:cs typeface="Verdana"/>
              </a:rPr>
              <a:t>Lack</a:t>
            </a:r>
            <a:r>
              <a:rPr dirty="0" sz="2000" spc="-125" b="1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2000" spc="-110" b="1">
                <a:solidFill>
                  <a:srgbClr val="272424"/>
                </a:solidFill>
                <a:latin typeface="Verdana"/>
                <a:cs typeface="Verdana"/>
              </a:rPr>
              <a:t>of</a:t>
            </a:r>
            <a:r>
              <a:rPr dirty="0" sz="2000" spc="-135" b="1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2000" spc="-155" b="1">
                <a:solidFill>
                  <a:srgbClr val="272424"/>
                </a:solidFill>
                <a:latin typeface="Verdana"/>
                <a:cs typeface="Verdana"/>
              </a:rPr>
              <a:t>Real-</a:t>
            </a:r>
            <a:r>
              <a:rPr dirty="0" sz="2000" spc="-229" b="1">
                <a:solidFill>
                  <a:srgbClr val="272424"/>
                </a:solidFill>
                <a:latin typeface="Verdana"/>
                <a:cs typeface="Verdana"/>
              </a:rPr>
              <a:t>time</a:t>
            </a:r>
            <a:r>
              <a:rPr dirty="0" sz="2000" spc="-120" b="1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2000" spc="-204" b="1">
                <a:solidFill>
                  <a:srgbClr val="272424"/>
                </a:solidFill>
                <a:latin typeface="Verdana"/>
                <a:cs typeface="Verdana"/>
              </a:rPr>
              <a:t>Insights</a:t>
            </a:r>
            <a:endParaRPr sz="2000">
              <a:latin typeface="Verdana"/>
              <a:cs typeface="Verdana"/>
            </a:endParaRPr>
          </a:p>
          <a:p>
            <a:pPr marL="12700" marR="123189">
              <a:lnSpc>
                <a:spcPct val="130800"/>
              </a:lnSpc>
              <a:spcBef>
                <a:spcPts val="860"/>
              </a:spcBef>
            </a:pPr>
            <a:r>
              <a:rPr dirty="0" sz="1650" spc="-95">
                <a:solidFill>
                  <a:srgbClr val="272424"/>
                </a:solidFill>
                <a:latin typeface="Verdana"/>
                <a:cs typeface="Verdana"/>
              </a:rPr>
              <a:t>Inability</a:t>
            </a:r>
            <a:r>
              <a:rPr dirty="0" sz="16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650" spc="-45">
                <a:solidFill>
                  <a:srgbClr val="272424"/>
                </a:solidFill>
                <a:latin typeface="Verdana"/>
                <a:cs typeface="Verdana"/>
              </a:rPr>
              <a:t>to</a:t>
            </a:r>
            <a:r>
              <a:rPr dirty="0" sz="16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650">
                <a:solidFill>
                  <a:srgbClr val="272424"/>
                </a:solidFill>
                <a:latin typeface="Verdana"/>
                <a:cs typeface="Verdana"/>
              </a:rPr>
              <a:t>access</a:t>
            </a:r>
            <a:r>
              <a:rPr dirty="0" sz="1650" spc="-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650" spc="-10">
                <a:solidFill>
                  <a:srgbClr val="272424"/>
                </a:solidFill>
                <a:latin typeface="Verdana"/>
                <a:cs typeface="Verdana"/>
              </a:rPr>
              <a:t>immediate </a:t>
            </a:r>
            <a:r>
              <a:rPr dirty="0" sz="1650" spc="-55">
                <a:solidFill>
                  <a:srgbClr val="272424"/>
                </a:solidFill>
                <a:latin typeface="Verdana"/>
                <a:cs typeface="Verdana"/>
              </a:rPr>
              <a:t>analytics</a:t>
            </a:r>
            <a:r>
              <a:rPr dirty="0" sz="1650" spc="-8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650" spc="-10">
                <a:solidFill>
                  <a:srgbClr val="272424"/>
                </a:solidFill>
                <a:latin typeface="Verdana"/>
                <a:cs typeface="Verdana"/>
              </a:rPr>
              <a:t>for</a:t>
            </a:r>
            <a:r>
              <a:rPr dirty="0" sz="1650" spc="-12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650" spc="-55">
                <a:solidFill>
                  <a:srgbClr val="272424"/>
                </a:solidFill>
                <a:latin typeface="Verdana"/>
                <a:cs typeface="Verdana"/>
              </a:rPr>
              <a:t>strategic</a:t>
            </a:r>
            <a:r>
              <a:rPr dirty="0" sz="1650" spc="-7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650" spc="-20">
                <a:solidFill>
                  <a:srgbClr val="272424"/>
                </a:solidFill>
                <a:latin typeface="Verdana"/>
                <a:cs typeface="Verdana"/>
              </a:rPr>
              <a:t>business </a:t>
            </a:r>
            <a:r>
              <a:rPr dirty="0" sz="1650" spc="-10">
                <a:solidFill>
                  <a:srgbClr val="272424"/>
                </a:solidFill>
                <a:latin typeface="Verdana"/>
                <a:cs typeface="Verdana"/>
              </a:rPr>
              <a:t>decisions.</a:t>
            </a:r>
            <a:endParaRPr sz="16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0" y="0"/>
            <a:ext cx="5486400" cy="82295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49934" y="957071"/>
            <a:ext cx="6256020" cy="139827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6000"/>
              </a:lnSpc>
              <a:spcBef>
                <a:spcPts val="90"/>
              </a:spcBef>
            </a:pPr>
            <a:r>
              <a:rPr dirty="0" sz="4250" spc="-350"/>
              <a:t>The</a:t>
            </a:r>
            <a:r>
              <a:rPr dirty="0" sz="4250" spc="-270"/>
              <a:t> </a:t>
            </a:r>
            <a:r>
              <a:rPr dirty="0" sz="4250" spc="-434"/>
              <a:t>Urgent</a:t>
            </a:r>
            <a:r>
              <a:rPr dirty="0" sz="4250" spc="-220"/>
              <a:t> </a:t>
            </a:r>
            <a:r>
              <a:rPr dirty="0" sz="4250" spc="-390"/>
              <a:t>Need</a:t>
            </a:r>
            <a:r>
              <a:rPr dirty="0" sz="4250" spc="-240"/>
              <a:t> </a:t>
            </a:r>
            <a:r>
              <a:rPr dirty="0" sz="4250" spc="-390"/>
              <a:t>for </a:t>
            </a:r>
            <a:r>
              <a:rPr dirty="0" sz="4250" spc="-434"/>
              <a:t>Transformative</a:t>
            </a:r>
            <a:r>
              <a:rPr dirty="0" sz="4250" spc="-275"/>
              <a:t> </a:t>
            </a:r>
            <a:r>
              <a:rPr dirty="0" sz="4250" spc="-440"/>
              <a:t>Systems</a:t>
            </a:r>
            <a:endParaRPr sz="4250"/>
          </a:p>
        </p:txBody>
      </p:sp>
      <p:sp>
        <p:nvSpPr>
          <p:cNvPr id="4" name="object 4" descr=""/>
          <p:cNvSpPr txBox="1"/>
          <p:nvPr/>
        </p:nvSpPr>
        <p:spPr>
          <a:xfrm>
            <a:off x="749934" y="2654490"/>
            <a:ext cx="7623809" cy="10553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2500"/>
              </a:lnSpc>
              <a:spcBef>
                <a:spcPts val="90"/>
              </a:spcBef>
            </a:pPr>
            <a:r>
              <a:rPr dirty="0" sz="1700" spc="-65">
                <a:solidFill>
                  <a:srgbClr val="272424"/>
                </a:solidFill>
                <a:latin typeface="Verdana"/>
                <a:cs typeface="Verdana"/>
              </a:rPr>
              <a:t>Traditional</a:t>
            </a:r>
            <a:r>
              <a:rPr dirty="0" sz="1700" spc="-8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70">
                <a:solidFill>
                  <a:srgbClr val="272424"/>
                </a:solidFill>
                <a:latin typeface="Verdana"/>
                <a:cs typeface="Verdana"/>
              </a:rPr>
              <a:t>systems,</a:t>
            </a:r>
            <a:r>
              <a:rPr dirty="0" sz="1700" spc="-17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65">
                <a:solidFill>
                  <a:srgbClr val="272424"/>
                </a:solidFill>
                <a:latin typeface="Verdana"/>
                <a:cs typeface="Verdana"/>
              </a:rPr>
              <a:t>built</a:t>
            </a:r>
            <a:r>
              <a:rPr dirty="0" sz="1700" spc="-16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35">
                <a:solidFill>
                  <a:srgbClr val="272424"/>
                </a:solidFill>
                <a:latin typeface="Verdana"/>
                <a:cs typeface="Verdana"/>
              </a:rPr>
              <a:t>on</a:t>
            </a:r>
            <a:r>
              <a:rPr dirty="0" sz="1700" spc="-9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75">
                <a:solidFill>
                  <a:srgbClr val="272424"/>
                </a:solidFill>
                <a:latin typeface="Verdana"/>
                <a:cs typeface="Verdana"/>
              </a:rPr>
              <a:t>outdated</a:t>
            </a:r>
            <a:r>
              <a:rPr dirty="0" sz="1700" spc="-13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75">
                <a:solidFill>
                  <a:srgbClr val="272424"/>
                </a:solidFill>
                <a:latin typeface="Verdana"/>
                <a:cs typeface="Verdana"/>
              </a:rPr>
              <a:t>paradigms,</a:t>
            </a:r>
            <a:r>
              <a:rPr dirty="0" sz="1700" spc="-9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45">
                <a:solidFill>
                  <a:srgbClr val="272424"/>
                </a:solidFill>
                <a:latin typeface="Verdana"/>
                <a:cs typeface="Verdana"/>
              </a:rPr>
              <a:t>can</a:t>
            </a:r>
            <a:r>
              <a:rPr dirty="0" sz="1700" spc="-9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65">
                <a:solidFill>
                  <a:srgbClr val="272424"/>
                </a:solidFill>
                <a:latin typeface="Verdana"/>
                <a:cs typeface="Verdana"/>
              </a:rPr>
              <a:t>no</a:t>
            </a:r>
            <a:r>
              <a:rPr dirty="0" sz="170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50">
                <a:solidFill>
                  <a:srgbClr val="272424"/>
                </a:solidFill>
                <a:latin typeface="Verdana"/>
                <a:cs typeface="Verdana"/>
              </a:rPr>
              <a:t>longer</a:t>
            </a:r>
            <a:r>
              <a:rPr dirty="0" sz="170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55">
                <a:solidFill>
                  <a:srgbClr val="272424"/>
                </a:solidFill>
                <a:latin typeface="Verdana"/>
                <a:cs typeface="Verdana"/>
              </a:rPr>
              <a:t>keep</a:t>
            </a:r>
            <a:r>
              <a:rPr dirty="0" sz="1700" spc="-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20">
                <a:solidFill>
                  <a:srgbClr val="272424"/>
                </a:solidFill>
                <a:latin typeface="Verdana"/>
                <a:cs typeface="Verdana"/>
              </a:rPr>
              <a:t>pace </a:t>
            </a:r>
            <a:r>
              <a:rPr dirty="0" sz="1700" spc="-80">
                <a:solidFill>
                  <a:srgbClr val="272424"/>
                </a:solidFill>
                <a:latin typeface="Verdana"/>
                <a:cs typeface="Verdana"/>
              </a:rPr>
              <a:t>with</a:t>
            </a:r>
            <a:r>
              <a:rPr dirty="0" sz="1700" spc="-9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75">
                <a:solidFill>
                  <a:srgbClr val="272424"/>
                </a:solidFill>
                <a:latin typeface="Verdana"/>
                <a:cs typeface="Verdana"/>
              </a:rPr>
              <a:t>modern</a:t>
            </a:r>
            <a:r>
              <a:rPr dirty="0" sz="1700" spc="-9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80">
                <a:solidFill>
                  <a:srgbClr val="272424"/>
                </a:solidFill>
                <a:latin typeface="Verdana"/>
                <a:cs typeface="Verdana"/>
              </a:rPr>
              <a:t>demands.</a:t>
            </a:r>
            <a:r>
              <a:rPr dirty="0" sz="1700" spc="-9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10">
                <a:solidFill>
                  <a:srgbClr val="272424"/>
                </a:solidFill>
                <a:latin typeface="Verdana"/>
                <a:cs typeface="Verdana"/>
              </a:rPr>
              <a:t>The</a:t>
            </a:r>
            <a:r>
              <a:rPr dirty="0" sz="1700" spc="-7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65">
                <a:solidFill>
                  <a:srgbClr val="272424"/>
                </a:solidFill>
                <a:latin typeface="Verdana"/>
                <a:cs typeface="Verdana"/>
              </a:rPr>
              <a:t>competitive</a:t>
            </a:r>
            <a:r>
              <a:rPr dirty="0" sz="1700" spc="-15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40">
                <a:solidFill>
                  <a:srgbClr val="272424"/>
                </a:solidFill>
                <a:latin typeface="Verdana"/>
                <a:cs typeface="Verdana"/>
              </a:rPr>
              <a:t>landscape</a:t>
            </a:r>
            <a:r>
              <a:rPr dirty="0" sz="1700" spc="-15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75">
                <a:solidFill>
                  <a:srgbClr val="272424"/>
                </a:solidFill>
                <a:latin typeface="Verdana"/>
                <a:cs typeface="Verdana"/>
              </a:rPr>
              <a:t>mandates</a:t>
            </a:r>
            <a:r>
              <a:rPr dirty="0" sz="1700" spc="-5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65">
                <a:solidFill>
                  <a:srgbClr val="272424"/>
                </a:solidFill>
                <a:latin typeface="Verdana"/>
                <a:cs typeface="Verdana"/>
              </a:rPr>
              <a:t>a</a:t>
            </a:r>
            <a:r>
              <a:rPr dirty="0" sz="170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10">
                <a:solidFill>
                  <a:srgbClr val="272424"/>
                </a:solidFill>
                <a:latin typeface="Verdana"/>
                <a:cs typeface="Verdana"/>
              </a:rPr>
              <a:t>shift </a:t>
            </a:r>
            <a:r>
              <a:rPr dirty="0" sz="1700" spc="-55">
                <a:solidFill>
                  <a:srgbClr val="272424"/>
                </a:solidFill>
                <a:latin typeface="Verdana"/>
                <a:cs typeface="Verdana"/>
              </a:rPr>
              <a:t>towards</a:t>
            </a:r>
            <a:r>
              <a:rPr dirty="0" sz="1700" spc="-13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80">
                <a:solidFill>
                  <a:srgbClr val="272424"/>
                </a:solidFill>
                <a:latin typeface="Verdana"/>
                <a:cs typeface="Verdana"/>
              </a:rPr>
              <a:t>intelligent, </a:t>
            </a:r>
            <a:r>
              <a:rPr dirty="0" sz="1700" spc="-50">
                <a:solidFill>
                  <a:srgbClr val="272424"/>
                </a:solidFill>
                <a:latin typeface="Verdana"/>
                <a:cs typeface="Verdana"/>
              </a:rPr>
              <a:t>proactive</a:t>
            </a:r>
            <a:r>
              <a:rPr dirty="0" sz="1700" spc="-6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10">
                <a:solidFill>
                  <a:srgbClr val="272424"/>
                </a:solidFill>
                <a:latin typeface="Verdana"/>
                <a:cs typeface="Verdana"/>
              </a:rPr>
              <a:t>solutions.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49934" y="4125383"/>
            <a:ext cx="3051175" cy="8464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5600"/>
              </a:lnSpc>
              <a:spcBef>
                <a:spcPts val="100"/>
              </a:spcBef>
            </a:pPr>
            <a:r>
              <a:rPr dirty="0" sz="2550" spc="-290" b="1">
                <a:latin typeface="Verdana"/>
                <a:cs typeface="Verdana"/>
              </a:rPr>
              <a:t>Limitations</a:t>
            </a:r>
            <a:r>
              <a:rPr dirty="0" sz="2550" spc="-75" b="1">
                <a:latin typeface="Verdana"/>
                <a:cs typeface="Verdana"/>
              </a:rPr>
              <a:t> </a:t>
            </a:r>
            <a:r>
              <a:rPr dirty="0" sz="2550" spc="-25" b="1">
                <a:latin typeface="Verdana"/>
                <a:cs typeface="Verdana"/>
              </a:rPr>
              <a:t>of </a:t>
            </a:r>
            <a:r>
              <a:rPr dirty="0" sz="2550" spc="-265" b="1">
                <a:latin typeface="Verdana"/>
                <a:cs typeface="Verdana"/>
              </a:rPr>
              <a:t>Traditional</a:t>
            </a:r>
            <a:r>
              <a:rPr dirty="0" sz="2550" spc="-130" b="1">
                <a:latin typeface="Verdana"/>
                <a:cs typeface="Verdana"/>
              </a:rPr>
              <a:t> </a:t>
            </a:r>
            <a:r>
              <a:rPr dirty="0" sz="2550" spc="-265" b="1">
                <a:latin typeface="Verdana"/>
                <a:cs typeface="Verdana"/>
              </a:rPr>
              <a:t>Systems</a:t>
            </a:r>
            <a:endParaRPr sz="2550">
              <a:latin typeface="Verdana"/>
              <a:cs typeface="Verdan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49934" y="5150421"/>
            <a:ext cx="3562350" cy="1742439"/>
          </a:xfrm>
          <a:prstGeom prst="rect">
            <a:avLst/>
          </a:prstGeom>
        </p:spPr>
        <p:txBody>
          <a:bodyPr wrap="square" lIns="0" tIns="9588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55"/>
              </a:spcBef>
              <a:buChar char="•"/>
              <a:tabLst>
                <a:tab pos="355600" algn="l"/>
              </a:tabLst>
            </a:pPr>
            <a:r>
              <a:rPr dirty="0" sz="1700" spc="-75">
                <a:solidFill>
                  <a:srgbClr val="272424"/>
                </a:solidFill>
                <a:latin typeface="Verdana"/>
                <a:cs typeface="Verdana"/>
              </a:rPr>
              <a:t>Fragmented</a:t>
            </a:r>
            <a:r>
              <a:rPr dirty="0" sz="170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80">
                <a:solidFill>
                  <a:srgbClr val="272424"/>
                </a:solidFill>
                <a:latin typeface="Verdana"/>
                <a:cs typeface="Verdana"/>
              </a:rPr>
              <a:t>data</a:t>
            </a:r>
            <a:r>
              <a:rPr dirty="0" sz="1700" spc="-9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20">
                <a:solidFill>
                  <a:srgbClr val="272424"/>
                </a:solidFill>
                <a:latin typeface="Verdana"/>
                <a:cs typeface="Verdana"/>
              </a:rPr>
              <a:t>silos</a:t>
            </a:r>
            <a:endParaRPr sz="170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665"/>
              </a:spcBef>
              <a:buChar char="•"/>
              <a:tabLst>
                <a:tab pos="355600" algn="l"/>
              </a:tabLst>
            </a:pPr>
            <a:r>
              <a:rPr dirty="0" sz="1700" spc="-70">
                <a:solidFill>
                  <a:srgbClr val="272424"/>
                </a:solidFill>
                <a:latin typeface="Verdana"/>
                <a:cs typeface="Verdana"/>
              </a:rPr>
              <a:t>Inflexible</a:t>
            </a:r>
            <a:r>
              <a:rPr dirty="0" sz="170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10">
                <a:solidFill>
                  <a:srgbClr val="272424"/>
                </a:solidFill>
                <a:latin typeface="Verdana"/>
                <a:cs typeface="Verdana"/>
              </a:rPr>
              <a:t>workflows</a:t>
            </a:r>
            <a:endParaRPr sz="170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665"/>
              </a:spcBef>
              <a:buChar char="•"/>
              <a:tabLst>
                <a:tab pos="355600" algn="l"/>
              </a:tabLst>
            </a:pPr>
            <a:r>
              <a:rPr dirty="0" sz="1700" spc="-50">
                <a:solidFill>
                  <a:srgbClr val="272424"/>
                </a:solidFill>
                <a:latin typeface="Verdana"/>
                <a:cs typeface="Verdana"/>
              </a:rPr>
              <a:t>Reactive</a:t>
            </a:r>
            <a:r>
              <a:rPr dirty="0" sz="1700" spc="-7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95">
                <a:solidFill>
                  <a:srgbClr val="272424"/>
                </a:solidFill>
                <a:latin typeface="Verdana"/>
                <a:cs typeface="Verdana"/>
              </a:rPr>
              <a:t>rather</a:t>
            </a:r>
            <a:r>
              <a:rPr dirty="0" sz="1700" spc="-17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90">
                <a:solidFill>
                  <a:srgbClr val="272424"/>
                </a:solidFill>
                <a:latin typeface="Verdana"/>
                <a:cs typeface="Verdana"/>
              </a:rPr>
              <a:t>than</a:t>
            </a:r>
            <a:r>
              <a:rPr dirty="0" sz="1700" spc="-16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10">
                <a:solidFill>
                  <a:srgbClr val="272424"/>
                </a:solidFill>
                <a:latin typeface="Verdana"/>
                <a:cs typeface="Verdana"/>
              </a:rPr>
              <a:t>proactive</a:t>
            </a:r>
            <a:endParaRPr sz="1700">
              <a:latin typeface="Verdana"/>
              <a:cs typeface="Verdana"/>
            </a:endParaRPr>
          </a:p>
          <a:p>
            <a:pPr marL="355600" marR="5080" indent="-343535">
              <a:lnSpc>
                <a:spcPct val="132500"/>
              </a:lnSpc>
              <a:buChar char="•"/>
              <a:tabLst>
                <a:tab pos="355600" algn="l"/>
              </a:tabLst>
            </a:pPr>
            <a:r>
              <a:rPr dirty="0" sz="1700" spc="-45">
                <a:solidFill>
                  <a:srgbClr val="272424"/>
                </a:solidFill>
                <a:latin typeface="Verdana"/>
                <a:cs typeface="Verdana"/>
              </a:rPr>
              <a:t>High</a:t>
            </a:r>
            <a:r>
              <a:rPr dirty="0" sz="170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75">
                <a:solidFill>
                  <a:srgbClr val="272424"/>
                </a:solidFill>
                <a:latin typeface="Verdana"/>
                <a:cs typeface="Verdana"/>
              </a:rPr>
              <a:t>maintenance</a:t>
            </a:r>
            <a:r>
              <a:rPr dirty="0" sz="1700" spc="-8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70">
                <a:solidFill>
                  <a:srgbClr val="272424"/>
                </a:solidFill>
                <a:latin typeface="Verdana"/>
                <a:cs typeface="Verdana"/>
              </a:rPr>
              <a:t>and</a:t>
            </a:r>
            <a:r>
              <a:rPr dirty="0" sz="1700" spc="-13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35">
                <a:solidFill>
                  <a:srgbClr val="272424"/>
                </a:solidFill>
                <a:latin typeface="Verdana"/>
                <a:cs typeface="Verdana"/>
              </a:rPr>
              <a:t>upgrade </a:t>
            </a:r>
            <a:r>
              <a:rPr dirty="0" sz="1700" spc="-10">
                <a:solidFill>
                  <a:srgbClr val="272424"/>
                </a:solidFill>
                <a:latin typeface="Verdana"/>
                <a:cs typeface="Verdana"/>
              </a:rPr>
              <a:t>costs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835525" y="4125383"/>
            <a:ext cx="3289935" cy="8464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5600"/>
              </a:lnSpc>
              <a:spcBef>
                <a:spcPts val="100"/>
              </a:spcBef>
            </a:pPr>
            <a:r>
              <a:rPr dirty="0" sz="2550" spc="-300" b="1">
                <a:latin typeface="Verdana"/>
                <a:cs typeface="Verdana"/>
              </a:rPr>
              <a:t>Why</a:t>
            </a:r>
            <a:r>
              <a:rPr dirty="0" sz="2550" spc="-215" b="1">
                <a:latin typeface="Verdana"/>
                <a:cs typeface="Verdana"/>
              </a:rPr>
              <a:t> </a:t>
            </a:r>
            <a:r>
              <a:rPr dirty="0" sz="2550" spc="-325" b="1">
                <a:latin typeface="Verdana"/>
                <a:cs typeface="Verdana"/>
              </a:rPr>
              <a:t>AI-</a:t>
            </a:r>
            <a:r>
              <a:rPr dirty="0" sz="2550" spc="-35" b="1">
                <a:latin typeface="Verdana"/>
                <a:cs typeface="Verdana"/>
              </a:rPr>
              <a:t>Based </a:t>
            </a:r>
            <a:r>
              <a:rPr dirty="0" sz="2550" spc="-300" b="1">
                <a:latin typeface="Verdana"/>
                <a:cs typeface="Verdana"/>
              </a:rPr>
              <a:t>Automation</a:t>
            </a:r>
            <a:r>
              <a:rPr dirty="0" sz="2550" spc="-120" b="1">
                <a:latin typeface="Verdana"/>
                <a:cs typeface="Verdana"/>
              </a:rPr>
              <a:t> </a:t>
            </a:r>
            <a:r>
              <a:rPr dirty="0" sz="2550" spc="-229" b="1">
                <a:latin typeface="Verdana"/>
                <a:cs typeface="Verdana"/>
              </a:rPr>
              <a:t>is</a:t>
            </a:r>
            <a:r>
              <a:rPr dirty="0" sz="2550" spc="-110" b="1">
                <a:latin typeface="Verdana"/>
                <a:cs typeface="Verdana"/>
              </a:rPr>
              <a:t> </a:t>
            </a:r>
            <a:r>
              <a:rPr dirty="0" sz="2550" spc="-204" b="1">
                <a:latin typeface="Verdana"/>
                <a:cs typeface="Verdana"/>
              </a:rPr>
              <a:t>Critical</a:t>
            </a:r>
            <a:endParaRPr sz="2550">
              <a:latin typeface="Verdana"/>
              <a:cs typeface="Verdan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835525" y="5150421"/>
            <a:ext cx="3485515" cy="17424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0" marR="598170" indent="-343535">
              <a:lnSpc>
                <a:spcPct val="132500"/>
              </a:lnSpc>
              <a:spcBef>
                <a:spcPts val="95"/>
              </a:spcBef>
              <a:buChar char="•"/>
              <a:tabLst>
                <a:tab pos="355600" algn="l"/>
              </a:tabLst>
            </a:pPr>
            <a:r>
              <a:rPr dirty="0" sz="1700" spc="-50">
                <a:solidFill>
                  <a:srgbClr val="272424"/>
                </a:solidFill>
                <a:latin typeface="Verdana"/>
                <a:cs typeface="Verdana"/>
              </a:rPr>
              <a:t>Enhanced</a:t>
            </a:r>
            <a:r>
              <a:rPr dirty="0" sz="1700" spc="-8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20">
                <a:solidFill>
                  <a:srgbClr val="272424"/>
                </a:solidFill>
                <a:latin typeface="Verdana"/>
                <a:cs typeface="Verdana"/>
              </a:rPr>
              <a:t>efficiency</a:t>
            </a:r>
            <a:r>
              <a:rPr dirty="0" sz="1700" spc="-6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30">
                <a:solidFill>
                  <a:srgbClr val="272424"/>
                </a:solidFill>
                <a:latin typeface="Verdana"/>
                <a:cs typeface="Verdana"/>
              </a:rPr>
              <a:t>and </a:t>
            </a:r>
            <a:r>
              <a:rPr dirty="0" sz="1700" spc="-10">
                <a:solidFill>
                  <a:srgbClr val="272424"/>
                </a:solidFill>
                <a:latin typeface="Verdana"/>
                <a:cs typeface="Verdana"/>
              </a:rPr>
              <a:t>speed</a:t>
            </a:r>
            <a:endParaRPr sz="170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665"/>
              </a:spcBef>
              <a:buChar char="•"/>
              <a:tabLst>
                <a:tab pos="355600" algn="l"/>
              </a:tabLst>
            </a:pPr>
            <a:r>
              <a:rPr dirty="0" sz="1700" spc="-40">
                <a:solidFill>
                  <a:srgbClr val="272424"/>
                </a:solidFill>
                <a:latin typeface="Verdana"/>
                <a:cs typeface="Verdana"/>
              </a:rPr>
              <a:t>Reduced</a:t>
            </a:r>
            <a:r>
              <a:rPr dirty="0" sz="170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95">
                <a:solidFill>
                  <a:srgbClr val="272424"/>
                </a:solidFill>
                <a:latin typeface="Verdana"/>
                <a:cs typeface="Verdana"/>
              </a:rPr>
              <a:t>human</a:t>
            </a:r>
            <a:r>
              <a:rPr dirty="0" sz="1700" spc="-1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20">
                <a:solidFill>
                  <a:srgbClr val="272424"/>
                </a:solidFill>
                <a:latin typeface="Verdana"/>
                <a:cs typeface="Verdana"/>
              </a:rPr>
              <a:t>error</a:t>
            </a:r>
            <a:endParaRPr sz="170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660"/>
              </a:spcBef>
              <a:buChar char="•"/>
              <a:tabLst>
                <a:tab pos="355600" algn="l"/>
              </a:tabLst>
            </a:pPr>
            <a:r>
              <a:rPr dirty="0" sz="1700" spc="-65">
                <a:solidFill>
                  <a:srgbClr val="272424"/>
                </a:solidFill>
                <a:latin typeface="Verdana"/>
                <a:cs typeface="Verdana"/>
              </a:rPr>
              <a:t>Superior</a:t>
            </a:r>
            <a:r>
              <a:rPr dirty="0" sz="1700" spc="-16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55">
                <a:solidFill>
                  <a:srgbClr val="272424"/>
                </a:solidFill>
                <a:latin typeface="Verdana"/>
                <a:cs typeface="Verdana"/>
              </a:rPr>
              <a:t>risk</a:t>
            </a:r>
            <a:r>
              <a:rPr dirty="0" sz="1700" spc="-8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10">
                <a:solidFill>
                  <a:srgbClr val="272424"/>
                </a:solidFill>
                <a:latin typeface="Verdana"/>
                <a:cs typeface="Verdana"/>
              </a:rPr>
              <a:t>management</a:t>
            </a:r>
            <a:endParaRPr sz="170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665"/>
              </a:spcBef>
              <a:buChar char="•"/>
              <a:tabLst>
                <a:tab pos="355600" algn="l"/>
              </a:tabLst>
            </a:pPr>
            <a:r>
              <a:rPr dirty="0" sz="1700" spc="-65">
                <a:solidFill>
                  <a:srgbClr val="272424"/>
                </a:solidFill>
                <a:latin typeface="Verdana"/>
                <a:cs typeface="Verdana"/>
              </a:rPr>
              <a:t>Competitive</a:t>
            </a:r>
            <a:r>
              <a:rPr dirty="0" sz="1700" spc="-7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100">
                <a:solidFill>
                  <a:srgbClr val="272424"/>
                </a:solidFill>
                <a:latin typeface="Verdana"/>
                <a:cs typeface="Verdana"/>
              </a:rPr>
              <a:t>market</a:t>
            </a:r>
            <a:r>
              <a:rPr dirty="0" sz="1700" spc="-16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45">
                <a:solidFill>
                  <a:srgbClr val="272424"/>
                </a:solidFill>
                <a:latin typeface="Verdana"/>
                <a:cs typeface="Verdana"/>
              </a:rPr>
              <a:t>advantage</a:t>
            </a:r>
            <a:endParaRPr sz="17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0" y="0"/>
            <a:ext cx="5486400" cy="82295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39762" y="836295"/>
            <a:ext cx="7433945" cy="1168400"/>
          </a:xfrm>
          <a:prstGeom prst="rect"/>
        </p:spPr>
        <p:txBody>
          <a:bodyPr wrap="square" lIns="0" tIns="4445" rIns="0" bIns="0" rtlCol="0" vert="horz">
            <a:spAutoFit/>
          </a:bodyPr>
          <a:lstStyle/>
          <a:p>
            <a:pPr marL="12700" marR="5080">
              <a:lnSpc>
                <a:spcPts val="4580"/>
              </a:lnSpc>
              <a:spcBef>
                <a:spcPts val="35"/>
              </a:spcBef>
            </a:pPr>
            <a:r>
              <a:rPr dirty="0" sz="3650" spc="-425"/>
              <a:t>Introducing</a:t>
            </a:r>
            <a:r>
              <a:rPr dirty="0" sz="3650" spc="-260"/>
              <a:t> </a:t>
            </a:r>
            <a:r>
              <a:rPr dirty="0" sz="3650" spc="-555"/>
              <a:t>InsurAI:</a:t>
            </a:r>
            <a:r>
              <a:rPr dirty="0" sz="3650" spc="-195"/>
              <a:t> </a:t>
            </a:r>
            <a:r>
              <a:rPr dirty="0" sz="3650" spc="-295"/>
              <a:t>The</a:t>
            </a:r>
            <a:r>
              <a:rPr dirty="0" sz="3650" spc="-229"/>
              <a:t> </a:t>
            </a:r>
            <a:r>
              <a:rPr dirty="0" sz="3650" spc="-395"/>
              <a:t>Future</a:t>
            </a:r>
            <a:r>
              <a:rPr dirty="0" sz="3650" spc="-225"/>
              <a:t> </a:t>
            </a:r>
            <a:r>
              <a:rPr dirty="0" sz="3650" spc="-285"/>
              <a:t>of </a:t>
            </a:r>
            <a:r>
              <a:rPr dirty="0" sz="3650" spc="-430"/>
              <a:t>Insurance</a:t>
            </a:r>
            <a:r>
              <a:rPr dirty="0" sz="3650" spc="-245"/>
              <a:t> </a:t>
            </a:r>
            <a:r>
              <a:rPr dirty="0" sz="3650" spc="-445"/>
              <a:t>Automation</a:t>
            </a:r>
            <a:endParaRPr sz="3650"/>
          </a:p>
        </p:txBody>
      </p:sp>
      <p:sp>
        <p:nvSpPr>
          <p:cNvPr id="4" name="object 4" descr=""/>
          <p:cNvSpPr txBox="1"/>
          <p:nvPr/>
        </p:nvSpPr>
        <p:spPr>
          <a:xfrm>
            <a:off x="639762" y="2229992"/>
            <a:ext cx="7614284" cy="82676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5200"/>
              </a:lnSpc>
              <a:spcBef>
                <a:spcPts val="95"/>
              </a:spcBef>
            </a:pPr>
            <a:r>
              <a:rPr dirty="0" sz="1400" spc="-75">
                <a:solidFill>
                  <a:srgbClr val="272424"/>
                </a:solidFill>
                <a:latin typeface="Verdana"/>
                <a:cs typeface="Verdana"/>
              </a:rPr>
              <a:t>InsurAI</a:t>
            </a:r>
            <a:r>
              <a:rPr dirty="0" sz="1400" spc="-5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272424"/>
                </a:solidFill>
                <a:latin typeface="Verdana"/>
                <a:cs typeface="Verdana"/>
              </a:rPr>
              <a:t>is</a:t>
            </a:r>
            <a:r>
              <a:rPr dirty="0" sz="140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400" spc="-20">
                <a:solidFill>
                  <a:srgbClr val="272424"/>
                </a:solidFill>
                <a:latin typeface="Verdana"/>
                <a:cs typeface="Verdana"/>
              </a:rPr>
              <a:t>an</a:t>
            </a:r>
            <a:r>
              <a:rPr dirty="0" sz="1400" spc="-8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400" spc="-55">
                <a:solidFill>
                  <a:srgbClr val="272424"/>
                </a:solidFill>
                <a:latin typeface="Verdana"/>
                <a:cs typeface="Verdana"/>
              </a:rPr>
              <a:t>AI-</a:t>
            </a:r>
            <a:r>
              <a:rPr dirty="0" sz="1400">
                <a:solidFill>
                  <a:srgbClr val="272424"/>
                </a:solidFill>
                <a:latin typeface="Verdana"/>
                <a:cs typeface="Verdana"/>
              </a:rPr>
              <a:t>powered</a:t>
            </a:r>
            <a:r>
              <a:rPr dirty="0" sz="1400" spc="-4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272424"/>
                </a:solidFill>
                <a:latin typeface="Verdana"/>
                <a:cs typeface="Verdana"/>
              </a:rPr>
              <a:t>corporate</a:t>
            </a:r>
            <a:r>
              <a:rPr dirty="0" sz="1400" spc="-7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272424"/>
                </a:solidFill>
                <a:latin typeface="Verdana"/>
                <a:cs typeface="Verdana"/>
              </a:rPr>
              <a:t>policy</a:t>
            </a:r>
            <a:r>
              <a:rPr dirty="0" sz="1400" spc="-45">
                <a:solidFill>
                  <a:srgbClr val="272424"/>
                </a:solidFill>
                <a:latin typeface="Verdana"/>
                <a:cs typeface="Verdana"/>
              </a:rPr>
              <a:t> automation</a:t>
            </a:r>
            <a:r>
              <a:rPr dirty="0" sz="1400" spc="-7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400" spc="-25">
                <a:solidFill>
                  <a:srgbClr val="272424"/>
                </a:solidFill>
                <a:latin typeface="Verdana"/>
                <a:cs typeface="Verdana"/>
              </a:rPr>
              <a:t>system</a:t>
            </a:r>
            <a:r>
              <a:rPr dirty="0" sz="1400" spc="-4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272424"/>
                </a:solidFill>
                <a:latin typeface="Verdana"/>
                <a:cs typeface="Verdana"/>
              </a:rPr>
              <a:t>designed</a:t>
            </a:r>
            <a:r>
              <a:rPr dirty="0" sz="140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400" spc="-55">
                <a:solidFill>
                  <a:srgbClr val="272424"/>
                </a:solidFill>
                <a:latin typeface="Verdana"/>
                <a:cs typeface="Verdana"/>
              </a:rPr>
              <a:t>to</a:t>
            </a:r>
            <a:r>
              <a:rPr dirty="0" sz="1400" spc="-7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272424"/>
                </a:solidFill>
                <a:latin typeface="Verdana"/>
                <a:cs typeface="Verdana"/>
              </a:rPr>
              <a:t>revolutionize </a:t>
            </a:r>
            <a:r>
              <a:rPr dirty="0" sz="1400" spc="-30">
                <a:solidFill>
                  <a:srgbClr val="272424"/>
                </a:solidFill>
                <a:latin typeface="Verdana"/>
                <a:cs typeface="Verdana"/>
              </a:rPr>
              <a:t>the</a:t>
            </a:r>
            <a:r>
              <a:rPr dirty="0" sz="1400" spc="-5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400" spc="-20">
                <a:solidFill>
                  <a:srgbClr val="272424"/>
                </a:solidFill>
                <a:latin typeface="Verdana"/>
                <a:cs typeface="Verdana"/>
              </a:rPr>
              <a:t>insurance</a:t>
            </a:r>
            <a:r>
              <a:rPr dirty="0" sz="1400" spc="-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272424"/>
                </a:solidFill>
                <a:latin typeface="Verdana"/>
                <a:cs typeface="Verdana"/>
              </a:rPr>
              <a:t>lifecycle.</a:t>
            </a:r>
            <a:r>
              <a:rPr dirty="0" sz="1400" spc="-8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400" spc="-160">
                <a:solidFill>
                  <a:srgbClr val="272424"/>
                </a:solidFill>
                <a:latin typeface="Verdana"/>
                <a:cs typeface="Verdana"/>
              </a:rPr>
              <a:t>It</a:t>
            </a:r>
            <a:r>
              <a:rPr dirty="0" sz="1400" spc="-6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400" spc="-20">
                <a:solidFill>
                  <a:srgbClr val="272424"/>
                </a:solidFill>
                <a:latin typeface="Verdana"/>
                <a:cs typeface="Verdana"/>
              </a:rPr>
              <a:t>moves</a:t>
            </a:r>
            <a:r>
              <a:rPr dirty="0" sz="140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272424"/>
                </a:solidFill>
                <a:latin typeface="Verdana"/>
                <a:cs typeface="Verdana"/>
              </a:rPr>
              <a:t>beyond</a:t>
            </a:r>
            <a:r>
              <a:rPr dirty="0" sz="1400" spc="-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400" spc="-25">
                <a:solidFill>
                  <a:srgbClr val="272424"/>
                </a:solidFill>
                <a:latin typeface="Verdana"/>
                <a:cs typeface="Verdana"/>
              </a:rPr>
              <a:t>simple</a:t>
            </a:r>
            <a:r>
              <a:rPr dirty="0" sz="1400" spc="-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400" spc="-45">
                <a:solidFill>
                  <a:srgbClr val="272424"/>
                </a:solidFill>
                <a:latin typeface="Verdana"/>
                <a:cs typeface="Verdana"/>
              </a:rPr>
              <a:t>automation</a:t>
            </a:r>
            <a:r>
              <a:rPr dirty="0" sz="1400" spc="-6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400" spc="-55">
                <a:solidFill>
                  <a:srgbClr val="272424"/>
                </a:solidFill>
                <a:latin typeface="Verdana"/>
                <a:cs typeface="Verdana"/>
              </a:rPr>
              <a:t>to</a:t>
            </a:r>
            <a:r>
              <a:rPr dirty="0" sz="1400" spc="-7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272424"/>
                </a:solidFill>
                <a:latin typeface="Verdana"/>
                <a:cs typeface="Verdana"/>
              </a:rPr>
              <a:t>provide</a:t>
            </a:r>
            <a:r>
              <a:rPr dirty="0" sz="1400" spc="-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272424"/>
                </a:solidFill>
                <a:latin typeface="Verdana"/>
                <a:cs typeface="Verdana"/>
              </a:rPr>
              <a:t>intelligent </a:t>
            </a:r>
            <a:r>
              <a:rPr dirty="0" sz="1400">
                <a:solidFill>
                  <a:srgbClr val="272424"/>
                </a:solidFill>
                <a:latin typeface="Verdana"/>
                <a:cs typeface="Verdana"/>
              </a:rPr>
              <a:t>decision-</a:t>
            </a:r>
            <a:r>
              <a:rPr dirty="0" sz="1400" spc="-40">
                <a:solidFill>
                  <a:srgbClr val="272424"/>
                </a:solidFill>
                <a:latin typeface="Verdana"/>
                <a:cs typeface="Verdana"/>
              </a:rPr>
              <a:t>making</a:t>
            </a:r>
            <a:r>
              <a:rPr dirty="0" sz="1400" spc="-3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400" spc="-20">
                <a:solidFill>
                  <a:srgbClr val="272424"/>
                </a:solidFill>
                <a:latin typeface="Verdana"/>
                <a:cs typeface="Verdana"/>
              </a:rPr>
              <a:t>capabilities</a:t>
            </a:r>
            <a:r>
              <a:rPr dirty="0" sz="1400" spc="-5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272424"/>
                </a:solidFill>
                <a:latin typeface="Verdana"/>
                <a:cs typeface="Verdana"/>
              </a:rPr>
              <a:t>across</a:t>
            </a:r>
            <a:r>
              <a:rPr dirty="0" sz="1400" spc="3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400" spc="-20">
                <a:solidFill>
                  <a:srgbClr val="272424"/>
                </a:solidFill>
                <a:latin typeface="Verdana"/>
                <a:cs typeface="Verdana"/>
              </a:rPr>
              <a:t>all </a:t>
            </a:r>
            <a:r>
              <a:rPr dirty="0" sz="1400" spc="-10">
                <a:solidFill>
                  <a:srgbClr val="272424"/>
                </a:solidFill>
                <a:latin typeface="Verdana"/>
                <a:cs typeface="Verdana"/>
              </a:rPr>
              <a:t>operations.</a:t>
            </a:r>
            <a:endParaRPr sz="1400">
              <a:latin typeface="Verdana"/>
              <a:cs typeface="Verdan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2620" y="3402248"/>
            <a:ext cx="7558758" cy="3091978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1167764" y="5981382"/>
            <a:ext cx="1339850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-120" b="1">
                <a:solidFill>
                  <a:srgbClr val="FFFFFF"/>
                </a:solidFill>
                <a:latin typeface="Verdana"/>
                <a:cs typeface="Verdana"/>
              </a:rPr>
              <a:t>Policy</a:t>
            </a:r>
            <a:r>
              <a:rPr dirty="0" sz="1400" spc="-75" b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140" b="1">
                <a:solidFill>
                  <a:srgbClr val="FFFFFF"/>
                </a:solidFill>
                <a:latin typeface="Verdana"/>
                <a:cs typeface="Verdana"/>
              </a:rPr>
              <a:t>Issuance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167764" y="5197792"/>
            <a:ext cx="1722755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-165" b="1">
                <a:solidFill>
                  <a:srgbClr val="FFFFFF"/>
                </a:solidFill>
                <a:latin typeface="Verdana"/>
                <a:cs typeface="Verdana"/>
              </a:rPr>
              <a:t>Automated</a:t>
            </a:r>
            <a:r>
              <a:rPr dirty="0" sz="1400" spc="-65" b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110" b="1">
                <a:solidFill>
                  <a:srgbClr val="FFFFFF"/>
                </a:solidFill>
                <a:latin typeface="Verdana"/>
                <a:cs typeface="Verdana"/>
              </a:rPr>
              <a:t>Decision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167764" y="4422203"/>
            <a:ext cx="1603375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-225" b="1">
                <a:solidFill>
                  <a:srgbClr val="FFFFFF"/>
                </a:solidFill>
                <a:latin typeface="Verdana"/>
                <a:cs typeface="Verdana"/>
              </a:rPr>
              <a:t>InsurAI</a:t>
            </a:r>
            <a:r>
              <a:rPr dirty="0" sz="1400" spc="-65" b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110" b="1">
                <a:solidFill>
                  <a:srgbClr val="FFFFFF"/>
                </a:solidFill>
                <a:latin typeface="Verdana"/>
                <a:cs typeface="Verdana"/>
              </a:rPr>
              <a:t>Processing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167764" y="3639184"/>
            <a:ext cx="1275715" cy="2425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-120" b="1">
                <a:solidFill>
                  <a:srgbClr val="FFFFFF"/>
                </a:solidFill>
                <a:latin typeface="Verdana"/>
                <a:cs typeface="Verdana"/>
              </a:rPr>
              <a:t>Policy</a:t>
            </a:r>
            <a:r>
              <a:rPr dirty="0" sz="1400" spc="-60" b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130" b="1">
                <a:solidFill>
                  <a:srgbClr val="FFFFFF"/>
                </a:solidFill>
                <a:latin typeface="Verdana"/>
                <a:cs typeface="Verdana"/>
              </a:rPr>
              <a:t>Request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39762" y="6774560"/>
            <a:ext cx="7508240" cy="5594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5099"/>
              </a:lnSpc>
              <a:spcBef>
                <a:spcPts val="95"/>
              </a:spcBef>
            </a:pPr>
            <a:r>
              <a:rPr dirty="0" sz="1400">
                <a:solidFill>
                  <a:srgbClr val="272424"/>
                </a:solidFill>
                <a:latin typeface="Verdana"/>
                <a:cs typeface="Verdana"/>
              </a:rPr>
              <a:t>This</a:t>
            </a:r>
            <a:r>
              <a:rPr dirty="0" sz="140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272424"/>
                </a:solidFill>
                <a:latin typeface="Verdana"/>
                <a:cs typeface="Verdana"/>
              </a:rPr>
              <a:t>end-</a:t>
            </a:r>
            <a:r>
              <a:rPr dirty="0" sz="1400" spc="-25">
                <a:solidFill>
                  <a:srgbClr val="272424"/>
                </a:solidFill>
                <a:latin typeface="Verdana"/>
                <a:cs typeface="Verdana"/>
              </a:rPr>
              <a:t>to-</a:t>
            </a:r>
            <a:r>
              <a:rPr dirty="0" sz="1400">
                <a:solidFill>
                  <a:srgbClr val="272424"/>
                </a:solidFill>
                <a:latin typeface="Verdana"/>
                <a:cs typeface="Verdana"/>
              </a:rPr>
              <a:t>end</a:t>
            </a:r>
            <a:r>
              <a:rPr dirty="0" sz="1400" spc="-6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400" spc="-45">
                <a:solidFill>
                  <a:srgbClr val="272424"/>
                </a:solidFill>
                <a:latin typeface="Verdana"/>
                <a:cs typeface="Verdana"/>
              </a:rPr>
              <a:t>automation</a:t>
            </a:r>
            <a:r>
              <a:rPr dirty="0" sz="1400" spc="-35">
                <a:solidFill>
                  <a:srgbClr val="272424"/>
                </a:solidFill>
                <a:latin typeface="Verdana"/>
                <a:cs typeface="Verdana"/>
              </a:rPr>
              <a:t> platform</a:t>
            </a:r>
            <a:r>
              <a:rPr dirty="0" sz="1400" spc="-6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400" spc="-30">
                <a:solidFill>
                  <a:srgbClr val="272424"/>
                </a:solidFill>
                <a:latin typeface="Verdana"/>
                <a:cs typeface="Verdana"/>
              </a:rPr>
              <a:t>streamlines</a:t>
            </a:r>
            <a:r>
              <a:rPr dirty="0" sz="1400" spc="-9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272424"/>
                </a:solidFill>
                <a:latin typeface="Verdana"/>
                <a:cs typeface="Verdana"/>
              </a:rPr>
              <a:t>processes,</a:t>
            </a:r>
            <a:r>
              <a:rPr dirty="0" sz="1400" spc="-5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272424"/>
                </a:solidFill>
                <a:latin typeface="Verdana"/>
                <a:cs typeface="Verdana"/>
              </a:rPr>
              <a:t>enhances</a:t>
            </a:r>
            <a:r>
              <a:rPr dirty="0" sz="1400" spc="-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272424"/>
                </a:solidFill>
                <a:latin typeface="Verdana"/>
                <a:cs typeface="Verdana"/>
              </a:rPr>
              <a:t>accuracy,</a:t>
            </a:r>
            <a:r>
              <a:rPr dirty="0" sz="1400" spc="-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400" spc="-25">
                <a:solidFill>
                  <a:srgbClr val="272424"/>
                </a:solidFill>
                <a:latin typeface="Verdana"/>
                <a:cs typeface="Verdana"/>
              </a:rPr>
              <a:t>and </a:t>
            </a:r>
            <a:r>
              <a:rPr dirty="0" sz="1400" spc="-10">
                <a:solidFill>
                  <a:srgbClr val="272424"/>
                </a:solidFill>
                <a:latin typeface="Verdana"/>
                <a:cs typeface="Verdana"/>
              </a:rPr>
              <a:t>empowers</a:t>
            </a:r>
            <a:r>
              <a:rPr dirty="0" sz="1400" spc="-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272424"/>
                </a:solidFill>
                <a:latin typeface="Verdana"/>
                <a:cs typeface="Verdana"/>
              </a:rPr>
              <a:t>insurance</a:t>
            </a:r>
            <a:r>
              <a:rPr dirty="0" sz="140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272424"/>
                </a:solidFill>
                <a:latin typeface="Verdana"/>
                <a:cs typeface="Verdana"/>
              </a:rPr>
              <a:t>providers</a:t>
            </a:r>
            <a:r>
              <a:rPr dirty="0" sz="1400" spc="-4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400" spc="-25">
                <a:solidFill>
                  <a:srgbClr val="272424"/>
                </a:solidFill>
                <a:latin typeface="Verdana"/>
                <a:cs typeface="Verdana"/>
              </a:rPr>
              <a:t>with</a:t>
            </a:r>
            <a:r>
              <a:rPr dirty="0" sz="1400" spc="-60">
                <a:solidFill>
                  <a:srgbClr val="272424"/>
                </a:solidFill>
                <a:latin typeface="Verdana"/>
                <a:cs typeface="Verdana"/>
              </a:rPr>
              <a:t> smart </a:t>
            </a:r>
            <a:r>
              <a:rPr dirty="0" sz="1400" spc="-25">
                <a:solidFill>
                  <a:srgbClr val="272424"/>
                </a:solidFill>
                <a:latin typeface="Verdana"/>
                <a:cs typeface="Verdana"/>
              </a:rPr>
              <a:t>insights</a:t>
            </a:r>
            <a:r>
              <a:rPr dirty="0" sz="140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272424"/>
                </a:solidFill>
                <a:latin typeface="Verdana"/>
                <a:cs typeface="Verdana"/>
              </a:rPr>
              <a:t>for</a:t>
            </a:r>
            <a:r>
              <a:rPr dirty="0" sz="1400" spc="-6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272424"/>
                </a:solidFill>
                <a:latin typeface="Verdana"/>
                <a:cs typeface="Verdana"/>
              </a:rPr>
              <a:t>growth.</a:t>
            </a:r>
            <a:endParaRPr sz="1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2685776" y="7780337"/>
            <a:ext cx="1841500" cy="374650"/>
            <a:chOff x="12685776" y="7780337"/>
            <a:chExt cx="1841500" cy="374650"/>
          </a:xfrm>
        </p:grpSpPr>
        <p:sp>
          <p:nvSpPr>
            <p:cNvPr id="3" name="object 3" descr="">
              <a:hlinkClick r:id="rId2"/>
            </p:cNvPr>
            <p:cNvSpPr/>
            <p:nvPr/>
          </p:nvSpPr>
          <p:spPr>
            <a:xfrm>
              <a:off x="12692126" y="7786687"/>
              <a:ext cx="1828800" cy="361950"/>
            </a:xfrm>
            <a:custGeom>
              <a:avLst/>
              <a:gdLst/>
              <a:ahLst/>
              <a:cxnLst/>
              <a:rect l="l" t="t" r="r" b="b"/>
              <a:pathLst>
                <a:path w="1828800" h="361950">
                  <a:moveTo>
                    <a:pt x="1828800" y="0"/>
                  </a:moveTo>
                  <a:lnTo>
                    <a:pt x="0" y="0"/>
                  </a:lnTo>
                  <a:lnTo>
                    <a:pt x="0" y="361950"/>
                  </a:lnTo>
                  <a:lnTo>
                    <a:pt x="1828800" y="361950"/>
                  </a:lnTo>
                  <a:lnTo>
                    <a:pt x="1828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>
              <a:hlinkClick r:id="rId2"/>
            </p:cNvPr>
            <p:cNvSpPr/>
            <p:nvPr/>
          </p:nvSpPr>
          <p:spPr>
            <a:xfrm>
              <a:off x="12692126" y="7786687"/>
              <a:ext cx="1828800" cy="361950"/>
            </a:xfrm>
            <a:custGeom>
              <a:avLst/>
              <a:gdLst/>
              <a:ahLst/>
              <a:cxnLst/>
              <a:rect l="l" t="t" r="r" b="b"/>
              <a:pathLst>
                <a:path w="1828800" h="361950">
                  <a:moveTo>
                    <a:pt x="0" y="361950"/>
                  </a:moveTo>
                  <a:lnTo>
                    <a:pt x="1828800" y="361950"/>
                  </a:lnTo>
                  <a:lnTo>
                    <a:pt x="1828800" y="0"/>
                  </a:lnTo>
                  <a:lnTo>
                    <a:pt x="0" y="0"/>
                  </a:lnTo>
                  <a:lnTo>
                    <a:pt x="0" y="36195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786001" y="428688"/>
            <a:ext cx="5232400" cy="49466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050" spc="-459"/>
              <a:t>InsurAI</a:t>
            </a:r>
            <a:r>
              <a:rPr dirty="0" sz="3050" spc="-140"/>
              <a:t> </a:t>
            </a:r>
            <a:r>
              <a:rPr dirty="0" sz="3050" spc="-305"/>
              <a:t>System</a:t>
            </a:r>
            <a:r>
              <a:rPr dirty="0" sz="3050" spc="-120"/>
              <a:t> </a:t>
            </a:r>
            <a:r>
              <a:rPr dirty="0" sz="3050" spc="-290"/>
              <a:t>Architecture</a:t>
            </a:r>
            <a:endParaRPr sz="3050"/>
          </a:p>
        </p:txBody>
      </p:sp>
      <p:sp>
        <p:nvSpPr>
          <p:cNvPr id="6" name="object 6" descr=""/>
          <p:cNvSpPr txBox="1"/>
          <p:nvPr/>
        </p:nvSpPr>
        <p:spPr>
          <a:xfrm>
            <a:off x="1786001" y="1173733"/>
            <a:ext cx="8893175" cy="2197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spc="-45">
                <a:solidFill>
                  <a:srgbClr val="272424"/>
                </a:solidFill>
                <a:latin typeface="Verdana"/>
                <a:cs typeface="Verdana"/>
              </a:rPr>
              <a:t>Our</a:t>
            </a:r>
            <a:r>
              <a:rPr dirty="0" sz="1250" spc="-5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250" spc="-50">
                <a:solidFill>
                  <a:srgbClr val="272424"/>
                </a:solidFill>
                <a:latin typeface="Verdana"/>
                <a:cs typeface="Verdana"/>
              </a:rPr>
              <a:t>robust</a:t>
            </a:r>
            <a:r>
              <a:rPr dirty="0" sz="1250" spc="-6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250" spc="-50">
                <a:solidFill>
                  <a:srgbClr val="272424"/>
                </a:solidFill>
                <a:latin typeface="Verdana"/>
                <a:cs typeface="Verdana"/>
              </a:rPr>
              <a:t>system</a:t>
            </a:r>
            <a:r>
              <a:rPr dirty="0" sz="1250" spc="-9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250" spc="-40">
                <a:solidFill>
                  <a:srgbClr val="272424"/>
                </a:solidFill>
                <a:latin typeface="Verdana"/>
                <a:cs typeface="Verdana"/>
              </a:rPr>
              <a:t>architecture</a:t>
            </a:r>
            <a:r>
              <a:rPr dirty="0" sz="1250" spc="-9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250" spc="-30">
                <a:solidFill>
                  <a:srgbClr val="272424"/>
                </a:solidFill>
                <a:latin typeface="Verdana"/>
                <a:cs typeface="Verdana"/>
              </a:rPr>
              <a:t>ensures</a:t>
            </a:r>
            <a:r>
              <a:rPr dirty="0" sz="1250" spc="-1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250" spc="-35">
                <a:solidFill>
                  <a:srgbClr val="272424"/>
                </a:solidFill>
                <a:latin typeface="Verdana"/>
                <a:cs typeface="Verdana"/>
              </a:rPr>
              <a:t>seamless</a:t>
            </a:r>
            <a:r>
              <a:rPr dirty="0" sz="1250" spc="-9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250" spc="-60">
                <a:solidFill>
                  <a:srgbClr val="272424"/>
                </a:solidFill>
                <a:latin typeface="Verdana"/>
                <a:cs typeface="Verdana"/>
              </a:rPr>
              <a:t>integration,</a:t>
            </a:r>
            <a:r>
              <a:rPr dirty="0" sz="1250" spc="-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250" spc="-45">
                <a:solidFill>
                  <a:srgbClr val="272424"/>
                </a:solidFill>
                <a:latin typeface="Verdana"/>
                <a:cs typeface="Verdana"/>
              </a:rPr>
              <a:t>scalability,</a:t>
            </a:r>
            <a:r>
              <a:rPr dirty="0" sz="1250" spc="-9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250" spc="-20">
                <a:solidFill>
                  <a:srgbClr val="272424"/>
                </a:solidFill>
                <a:latin typeface="Verdana"/>
                <a:cs typeface="Verdana"/>
              </a:rPr>
              <a:t>and</a:t>
            </a:r>
            <a:r>
              <a:rPr dirty="0" sz="1250" spc="-14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250" spc="-50">
                <a:solidFill>
                  <a:srgbClr val="272424"/>
                </a:solidFill>
                <a:latin typeface="Verdana"/>
                <a:cs typeface="Verdana"/>
              </a:rPr>
              <a:t>optimal</a:t>
            </a:r>
            <a:r>
              <a:rPr dirty="0" sz="1250" spc="-2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250" spc="-40">
                <a:solidFill>
                  <a:srgbClr val="272424"/>
                </a:solidFill>
                <a:latin typeface="Verdana"/>
                <a:cs typeface="Verdana"/>
              </a:rPr>
              <a:t>performance</a:t>
            </a:r>
            <a:r>
              <a:rPr dirty="0" sz="1250" spc="-9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250" spc="-10">
                <a:solidFill>
                  <a:srgbClr val="272424"/>
                </a:solidFill>
                <a:latin typeface="Verdana"/>
                <a:cs typeface="Verdana"/>
              </a:rPr>
              <a:t>across</a:t>
            </a:r>
            <a:r>
              <a:rPr dirty="0" sz="1250" spc="-1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250" spc="-60">
                <a:solidFill>
                  <a:srgbClr val="272424"/>
                </a:solidFill>
                <a:latin typeface="Verdana"/>
                <a:cs typeface="Verdana"/>
              </a:rPr>
              <a:t>all</a:t>
            </a:r>
            <a:r>
              <a:rPr dirty="0" sz="1250" spc="-2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250" spc="-10">
                <a:solidFill>
                  <a:srgbClr val="272424"/>
                </a:solidFill>
                <a:latin typeface="Verdana"/>
                <a:cs typeface="Verdana"/>
              </a:rPr>
              <a:t>modules.</a:t>
            </a:r>
            <a:endParaRPr sz="1250">
              <a:latin typeface="Verdana"/>
              <a:cs typeface="Verdana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40629" y="1739198"/>
            <a:ext cx="4575810" cy="5484627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2856864" y="2025573"/>
            <a:ext cx="1875789" cy="1198245"/>
          </a:xfrm>
          <a:prstGeom prst="rect">
            <a:avLst/>
          </a:prstGeom>
        </p:spPr>
        <p:txBody>
          <a:bodyPr wrap="square" lIns="0" tIns="126364" rIns="0" bIns="0" rtlCol="0" vert="horz">
            <a:spAutoFit/>
          </a:bodyPr>
          <a:lstStyle/>
          <a:p>
            <a:pPr marL="1179195">
              <a:lnSpc>
                <a:spcPct val="100000"/>
              </a:lnSpc>
              <a:spcBef>
                <a:spcPts val="994"/>
              </a:spcBef>
            </a:pPr>
            <a:r>
              <a:rPr dirty="0" sz="1950" spc="-160" b="1">
                <a:solidFill>
                  <a:srgbClr val="272424"/>
                </a:solidFill>
                <a:latin typeface="Verdana"/>
                <a:cs typeface="Verdana"/>
              </a:rPr>
              <a:t>Users</a:t>
            </a:r>
            <a:endParaRPr sz="1950">
              <a:latin typeface="Verdana"/>
              <a:cs typeface="Verdana"/>
            </a:endParaRPr>
          </a:p>
          <a:p>
            <a:pPr algn="r" marR="6350">
              <a:lnSpc>
                <a:spcPts val="1755"/>
              </a:lnSpc>
              <a:spcBef>
                <a:spcPts val="755"/>
              </a:spcBef>
            </a:pPr>
            <a:r>
              <a:rPr dirty="0" sz="1550" spc="-45">
                <a:solidFill>
                  <a:srgbClr val="272424"/>
                </a:solidFill>
                <a:latin typeface="Verdana"/>
                <a:cs typeface="Verdana"/>
              </a:rPr>
              <a:t>Clients</a:t>
            </a:r>
            <a:r>
              <a:rPr dirty="0" sz="1550" spc="-9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550" spc="-40">
                <a:solidFill>
                  <a:srgbClr val="272424"/>
                </a:solidFill>
                <a:latin typeface="Verdana"/>
                <a:cs typeface="Verdana"/>
              </a:rPr>
              <a:t>and</a:t>
            </a:r>
            <a:r>
              <a:rPr dirty="0" sz="1550" spc="-14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550" spc="-45">
                <a:solidFill>
                  <a:srgbClr val="272424"/>
                </a:solidFill>
                <a:latin typeface="Verdana"/>
                <a:cs typeface="Verdana"/>
              </a:rPr>
              <a:t>external</a:t>
            </a:r>
            <a:endParaRPr sz="1550">
              <a:latin typeface="Verdana"/>
              <a:cs typeface="Verdana"/>
            </a:endParaRPr>
          </a:p>
          <a:p>
            <a:pPr algn="r" marR="6985">
              <a:lnSpc>
                <a:spcPts val="1689"/>
              </a:lnSpc>
            </a:pPr>
            <a:r>
              <a:rPr dirty="0" sz="1550" spc="-55">
                <a:solidFill>
                  <a:srgbClr val="272424"/>
                </a:solidFill>
                <a:latin typeface="Verdana"/>
                <a:cs typeface="Verdana"/>
              </a:rPr>
              <a:t>systems</a:t>
            </a:r>
            <a:r>
              <a:rPr dirty="0" sz="1550" spc="-7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550" spc="-10">
                <a:solidFill>
                  <a:srgbClr val="272424"/>
                </a:solidFill>
                <a:latin typeface="Verdana"/>
                <a:cs typeface="Verdana"/>
              </a:rPr>
              <a:t>accessing</a:t>
            </a:r>
            <a:endParaRPr sz="1550">
              <a:latin typeface="Verdana"/>
              <a:cs typeface="Verdana"/>
            </a:endParaRPr>
          </a:p>
          <a:p>
            <a:pPr algn="r" marR="5715">
              <a:lnSpc>
                <a:spcPts val="1795"/>
              </a:lnSpc>
            </a:pPr>
            <a:r>
              <a:rPr dirty="0" sz="1550" spc="-10">
                <a:solidFill>
                  <a:srgbClr val="272424"/>
                </a:solidFill>
                <a:latin typeface="Verdana"/>
                <a:cs typeface="Verdana"/>
              </a:rPr>
              <a:t>services.</a:t>
            </a:r>
            <a:endParaRPr sz="1550">
              <a:latin typeface="Verdana"/>
              <a:cs typeface="Verdan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9907651" y="2865995"/>
            <a:ext cx="2646045" cy="978535"/>
          </a:xfrm>
          <a:prstGeom prst="rect">
            <a:avLst/>
          </a:prstGeom>
        </p:spPr>
        <p:txBody>
          <a:bodyPr wrap="square" lIns="0" tIns="1257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90"/>
              </a:spcBef>
            </a:pPr>
            <a:r>
              <a:rPr dirty="0" sz="1950" spc="-265" b="1">
                <a:solidFill>
                  <a:srgbClr val="272424"/>
                </a:solidFill>
                <a:latin typeface="Verdana"/>
                <a:cs typeface="Verdana"/>
              </a:rPr>
              <a:t>Web/App</a:t>
            </a:r>
            <a:r>
              <a:rPr dirty="0" sz="1950" spc="-35" b="1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950" spc="-114" b="1">
                <a:solidFill>
                  <a:srgbClr val="272424"/>
                </a:solidFill>
                <a:latin typeface="Verdana"/>
                <a:cs typeface="Verdana"/>
              </a:rPr>
              <a:t>Interface</a:t>
            </a:r>
            <a:endParaRPr sz="1950">
              <a:latin typeface="Verdana"/>
              <a:cs typeface="Verdana"/>
            </a:endParaRPr>
          </a:p>
          <a:p>
            <a:pPr marL="12700" marR="5080">
              <a:lnSpc>
                <a:spcPts val="1650"/>
              </a:lnSpc>
              <a:spcBef>
                <a:spcPts val="980"/>
              </a:spcBef>
            </a:pPr>
            <a:r>
              <a:rPr dirty="0" sz="1550" spc="-50">
                <a:solidFill>
                  <a:srgbClr val="272424"/>
                </a:solidFill>
                <a:latin typeface="Verdana"/>
                <a:cs typeface="Verdana"/>
              </a:rPr>
              <a:t>Frontend</a:t>
            </a:r>
            <a:r>
              <a:rPr dirty="0" sz="1550" spc="-14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550" spc="-55">
                <a:solidFill>
                  <a:srgbClr val="272424"/>
                </a:solidFill>
                <a:latin typeface="Verdana"/>
                <a:cs typeface="Verdana"/>
              </a:rPr>
              <a:t>portals</a:t>
            </a:r>
            <a:r>
              <a:rPr dirty="0" sz="1550" spc="-7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550" spc="-40">
                <a:solidFill>
                  <a:srgbClr val="272424"/>
                </a:solidFill>
                <a:latin typeface="Verdana"/>
                <a:cs typeface="Verdana"/>
              </a:rPr>
              <a:t>and</a:t>
            </a:r>
            <a:r>
              <a:rPr dirty="0" sz="1550" spc="-13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550" spc="-30">
                <a:solidFill>
                  <a:srgbClr val="272424"/>
                </a:solidFill>
                <a:latin typeface="Verdana"/>
                <a:cs typeface="Verdana"/>
              </a:rPr>
              <a:t>mobile </a:t>
            </a:r>
            <a:r>
              <a:rPr dirty="0" sz="1550" spc="-10">
                <a:solidFill>
                  <a:srgbClr val="272424"/>
                </a:solidFill>
                <a:latin typeface="Verdana"/>
                <a:cs typeface="Verdana"/>
              </a:rPr>
              <a:t>applications.</a:t>
            </a:r>
            <a:endParaRPr sz="1550">
              <a:latin typeface="Verdana"/>
              <a:cs typeface="Verdan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259710" y="3726417"/>
            <a:ext cx="2474595" cy="979805"/>
          </a:xfrm>
          <a:prstGeom prst="rect">
            <a:avLst/>
          </a:prstGeom>
        </p:spPr>
        <p:txBody>
          <a:bodyPr wrap="square" lIns="0" tIns="127000" rIns="0" bIns="0" rtlCol="0" vert="horz">
            <a:spAutoFit/>
          </a:bodyPr>
          <a:lstStyle/>
          <a:p>
            <a:pPr marL="1334135">
              <a:lnSpc>
                <a:spcPct val="100000"/>
              </a:lnSpc>
              <a:spcBef>
                <a:spcPts val="1000"/>
              </a:spcBef>
            </a:pPr>
            <a:r>
              <a:rPr dirty="0" sz="1950" spc="-290" b="1">
                <a:solidFill>
                  <a:srgbClr val="272424"/>
                </a:solidFill>
                <a:latin typeface="Verdana"/>
                <a:cs typeface="Verdana"/>
              </a:rPr>
              <a:t>API</a:t>
            </a:r>
            <a:r>
              <a:rPr dirty="0" sz="1950" spc="-140" b="1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950" spc="-170" b="1">
                <a:solidFill>
                  <a:srgbClr val="272424"/>
                </a:solidFill>
                <a:latin typeface="Verdana"/>
                <a:cs typeface="Verdana"/>
              </a:rPr>
              <a:t>Layer</a:t>
            </a:r>
            <a:endParaRPr sz="1950">
              <a:latin typeface="Verdana"/>
              <a:cs typeface="Verdana"/>
            </a:endParaRPr>
          </a:p>
          <a:p>
            <a:pPr marL="12700">
              <a:lnSpc>
                <a:spcPts val="1755"/>
              </a:lnSpc>
              <a:spcBef>
                <a:spcPts val="755"/>
              </a:spcBef>
            </a:pPr>
            <a:r>
              <a:rPr dirty="0" sz="1550" spc="-40">
                <a:solidFill>
                  <a:srgbClr val="272424"/>
                </a:solidFill>
                <a:latin typeface="Verdana"/>
                <a:cs typeface="Verdana"/>
              </a:rPr>
              <a:t>REST/gRPC</a:t>
            </a:r>
            <a:r>
              <a:rPr dirty="0" sz="1550" spc="-5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550" spc="-40">
                <a:solidFill>
                  <a:srgbClr val="272424"/>
                </a:solidFill>
                <a:latin typeface="Verdana"/>
                <a:cs typeface="Verdana"/>
              </a:rPr>
              <a:t>gateways</a:t>
            </a:r>
            <a:r>
              <a:rPr dirty="0" sz="15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550" spc="-25">
                <a:solidFill>
                  <a:srgbClr val="272424"/>
                </a:solidFill>
                <a:latin typeface="Verdana"/>
                <a:cs typeface="Verdana"/>
              </a:rPr>
              <a:t>and</a:t>
            </a:r>
            <a:endParaRPr sz="1550">
              <a:latin typeface="Verdana"/>
              <a:cs typeface="Verdana"/>
            </a:endParaRPr>
          </a:p>
          <a:p>
            <a:pPr marL="1080135">
              <a:lnSpc>
                <a:spcPts val="1755"/>
              </a:lnSpc>
            </a:pPr>
            <a:r>
              <a:rPr dirty="0" sz="1550" spc="-55">
                <a:solidFill>
                  <a:srgbClr val="272424"/>
                </a:solidFill>
                <a:latin typeface="Verdana"/>
                <a:cs typeface="Verdana"/>
              </a:rPr>
              <a:t>authentication.</a:t>
            </a:r>
            <a:endParaRPr sz="1550">
              <a:latin typeface="Verdana"/>
              <a:cs typeface="Verdan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9907651" y="4687843"/>
            <a:ext cx="2491105" cy="979805"/>
          </a:xfrm>
          <a:prstGeom prst="rect">
            <a:avLst/>
          </a:prstGeom>
        </p:spPr>
        <p:txBody>
          <a:bodyPr wrap="square" lIns="0" tIns="1270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dirty="0" sz="1950" spc="-140" b="1">
                <a:solidFill>
                  <a:srgbClr val="272424"/>
                </a:solidFill>
                <a:latin typeface="Verdana"/>
                <a:cs typeface="Verdana"/>
              </a:rPr>
              <a:t>Core </a:t>
            </a:r>
            <a:r>
              <a:rPr dirty="0" sz="1950" spc="-35" b="1">
                <a:solidFill>
                  <a:srgbClr val="272424"/>
                </a:solidFill>
                <a:latin typeface="Verdana"/>
                <a:cs typeface="Verdana"/>
              </a:rPr>
              <a:t>Modules</a:t>
            </a:r>
            <a:endParaRPr sz="1950">
              <a:latin typeface="Verdana"/>
              <a:cs typeface="Verdana"/>
            </a:endParaRPr>
          </a:p>
          <a:p>
            <a:pPr marL="12700">
              <a:lnSpc>
                <a:spcPts val="1755"/>
              </a:lnSpc>
              <a:spcBef>
                <a:spcPts val="750"/>
              </a:spcBef>
            </a:pPr>
            <a:r>
              <a:rPr dirty="0" sz="1550" spc="-40">
                <a:solidFill>
                  <a:srgbClr val="272424"/>
                </a:solidFill>
                <a:latin typeface="Verdana"/>
                <a:cs typeface="Verdana"/>
              </a:rPr>
              <a:t>Business</a:t>
            </a:r>
            <a:r>
              <a:rPr dirty="0" sz="1550" spc="-1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550" spc="-35">
                <a:solidFill>
                  <a:srgbClr val="272424"/>
                </a:solidFill>
                <a:latin typeface="Verdana"/>
                <a:cs typeface="Verdana"/>
              </a:rPr>
              <a:t>logic,</a:t>
            </a:r>
            <a:r>
              <a:rPr dirty="0" sz="1550" spc="-6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550" spc="-45">
                <a:solidFill>
                  <a:srgbClr val="272424"/>
                </a:solidFill>
                <a:latin typeface="Verdana"/>
                <a:cs typeface="Verdana"/>
              </a:rPr>
              <a:t>policy,</a:t>
            </a:r>
            <a:r>
              <a:rPr dirty="0" sz="1550" spc="-6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550" spc="-25">
                <a:solidFill>
                  <a:srgbClr val="272424"/>
                </a:solidFill>
                <a:latin typeface="Verdana"/>
                <a:cs typeface="Verdana"/>
              </a:rPr>
              <a:t>and</a:t>
            </a:r>
            <a:endParaRPr sz="1550">
              <a:latin typeface="Verdana"/>
              <a:cs typeface="Verdana"/>
            </a:endParaRPr>
          </a:p>
          <a:p>
            <a:pPr marL="12700">
              <a:lnSpc>
                <a:spcPts val="1755"/>
              </a:lnSpc>
            </a:pPr>
            <a:r>
              <a:rPr dirty="0" sz="1550" spc="-45">
                <a:solidFill>
                  <a:srgbClr val="272424"/>
                </a:solidFill>
                <a:latin typeface="Verdana"/>
                <a:cs typeface="Verdana"/>
              </a:rPr>
              <a:t>claims</a:t>
            </a:r>
            <a:r>
              <a:rPr dirty="0" sz="1550" spc="-13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550" spc="-10">
                <a:solidFill>
                  <a:srgbClr val="272424"/>
                </a:solidFill>
                <a:latin typeface="Verdana"/>
                <a:cs typeface="Verdana"/>
              </a:rPr>
              <a:t>processing.</a:t>
            </a:r>
            <a:endParaRPr sz="1550">
              <a:latin typeface="Verdana"/>
              <a:cs typeface="Verdan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2319908" y="5595128"/>
            <a:ext cx="2418080" cy="977900"/>
          </a:xfrm>
          <a:prstGeom prst="rect">
            <a:avLst/>
          </a:prstGeom>
        </p:spPr>
        <p:txBody>
          <a:bodyPr wrap="square" lIns="0" tIns="125730" rIns="0" bIns="0" rtlCol="0" vert="horz">
            <a:spAutoFit/>
          </a:bodyPr>
          <a:lstStyle/>
          <a:p>
            <a:pPr marL="838835">
              <a:lnSpc>
                <a:spcPct val="100000"/>
              </a:lnSpc>
              <a:spcBef>
                <a:spcPts val="990"/>
              </a:spcBef>
            </a:pPr>
            <a:r>
              <a:rPr dirty="0" sz="1950" spc="-325" b="1">
                <a:solidFill>
                  <a:srgbClr val="272424"/>
                </a:solidFill>
                <a:latin typeface="Verdana"/>
                <a:cs typeface="Verdana"/>
              </a:rPr>
              <a:t>AI/ML</a:t>
            </a:r>
            <a:r>
              <a:rPr dirty="0" sz="1950" spc="-105" b="1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950" spc="-175" b="1">
                <a:solidFill>
                  <a:srgbClr val="272424"/>
                </a:solidFill>
                <a:latin typeface="Verdana"/>
                <a:cs typeface="Verdana"/>
              </a:rPr>
              <a:t>Engine</a:t>
            </a:r>
            <a:endParaRPr sz="1950">
              <a:latin typeface="Verdana"/>
              <a:cs typeface="Verdana"/>
            </a:endParaRPr>
          </a:p>
          <a:p>
            <a:pPr algn="r" marR="15240">
              <a:lnSpc>
                <a:spcPts val="1755"/>
              </a:lnSpc>
              <a:spcBef>
                <a:spcPts val="750"/>
              </a:spcBef>
            </a:pPr>
            <a:r>
              <a:rPr dirty="0" sz="1550">
                <a:solidFill>
                  <a:srgbClr val="272424"/>
                </a:solidFill>
                <a:latin typeface="Verdana"/>
                <a:cs typeface="Verdana"/>
              </a:rPr>
              <a:t>Model</a:t>
            </a:r>
            <a:r>
              <a:rPr dirty="0" sz="1550" spc="-8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550" spc="-50">
                <a:solidFill>
                  <a:srgbClr val="272424"/>
                </a:solidFill>
                <a:latin typeface="Verdana"/>
                <a:cs typeface="Verdana"/>
              </a:rPr>
              <a:t>inference,</a:t>
            </a:r>
            <a:r>
              <a:rPr dirty="0" sz="1550" spc="-8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550" spc="-55">
                <a:solidFill>
                  <a:srgbClr val="272424"/>
                </a:solidFill>
                <a:latin typeface="Verdana"/>
                <a:cs typeface="Verdana"/>
              </a:rPr>
              <a:t>training,</a:t>
            </a:r>
            <a:endParaRPr sz="1550">
              <a:latin typeface="Verdana"/>
              <a:cs typeface="Verdana"/>
            </a:endParaRPr>
          </a:p>
          <a:p>
            <a:pPr algn="r" marR="9525">
              <a:lnSpc>
                <a:spcPts val="1755"/>
              </a:lnSpc>
            </a:pPr>
            <a:r>
              <a:rPr dirty="0" sz="1550" spc="-45">
                <a:solidFill>
                  <a:srgbClr val="272424"/>
                </a:solidFill>
                <a:latin typeface="Verdana"/>
                <a:cs typeface="Verdana"/>
              </a:rPr>
              <a:t>and</a:t>
            </a:r>
            <a:r>
              <a:rPr dirty="0" sz="1550" spc="-13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550" spc="-45">
                <a:solidFill>
                  <a:srgbClr val="272424"/>
                </a:solidFill>
                <a:latin typeface="Verdana"/>
                <a:cs typeface="Verdana"/>
              </a:rPr>
              <a:t>feature</a:t>
            </a:r>
            <a:r>
              <a:rPr dirty="0" sz="1550" spc="-16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550" spc="-10">
                <a:solidFill>
                  <a:srgbClr val="272424"/>
                </a:solidFill>
                <a:latin typeface="Verdana"/>
                <a:cs typeface="Verdana"/>
              </a:rPr>
              <a:t>store.</a:t>
            </a:r>
            <a:endParaRPr sz="1550">
              <a:latin typeface="Verdana"/>
              <a:cs typeface="Verdan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786001" y="7548244"/>
            <a:ext cx="10666095" cy="2197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spc="-10">
                <a:solidFill>
                  <a:srgbClr val="272424"/>
                </a:solidFill>
                <a:latin typeface="Verdana"/>
                <a:cs typeface="Verdana"/>
              </a:rPr>
              <a:t>This</a:t>
            </a:r>
            <a:r>
              <a:rPr dirty="0" sz="12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250" spc="-60">
                <a:solidFill>
                  <a:srgbClr val="272424"/>
                </a:solidFill>
                <a:latin typeface="Verdana"/>
                <a:cs typeface="Verdana"/>
              </a:rPr>
              <a:t>modular </a:t>
            </a:r>
            <a:r>
              <a:rPr dirty="0" sz="1250" spc="-25">
                <a:solidFill>
                  <a:srgbClr val="272424"/>
                </a:solidFill>
                <a:latin typeface="Verdana"/>
                <a:cs typeface="Verdana"/>
              </a:rPr>
              <a:t>design</a:t>
            </a:r>
            <a:r>
              <a:rPr dirty="0" sz="1250" spc="-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250" spc="-30">
                <a:solidFill>
                  <a:srgbClr val="272424"/>
                </a:solidFill>
                <a:latin typeface="Verdana"/>
                <a:cs typeface="Verdana"/>
              </a:rPr>
              <a:t>allows</a:t>
            </a:r>
            <a:r>
              <a:rPr dirty="0" sz="12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250" spc="-25">
                <a:solidFill>
                  <a:srgbClr val="272424"/>
                </a:solidFill>
                <a:latin typeface="Verdana"/>
                <a:cs typeface="Verdana"/>
              </a:rPr>
              <a:t>for</a:t>
            </a:r>
            <a:r>
              <a:rPr dirty="0" sz="1250" spc="-5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250" spc="-30">
                <a:solidFill>
                  <a:srgbClr val="272424"/>
                </a:solidFill>
                <a:latin typeface="Verdana"/>
                <a:cs typeface="Verdana"/>
              </a:rPr>
              <a:t>flexible</a:t>
            </a:r>
            <a:r>
              <a:rPr dirty="0" sz="1250" spc="-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250" spc="-55">
                <a:solidFill>
                  <a:srgbClr val="272424"/>
                </a:solidFill>
                <a:latin typeface="Verdana"/>
                <a:cs typeface="Verdana"/>
              </a:rPr>
              <a:t>deployment</a:t>
            </a:r>
            <a:r>
              <a:rPr dirty="0" sz="1250" spc="-7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250" spc="-20">
                <a:solidFill>
                  <a:srgbClr val="272424"/>
                </a:solidFill>
                <a:latin typeface="Verdana"/>
                <a:cs typeface="Verdana"/>
              </a:rPr>
              <a:t>and</a:t>
            </a:r>
            <a:r>
              <a:rPr dirty="0" sz="1250" spc="-14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250" spc="-45">
                <a:solidFill>
                  <a:srgbClr val="272424"/>
                </a:solidFill>
                <a:latin typeface="Verdana"/>
                <a:cs typeface="Verdana"/>
              </a:rPr>
              <a:t>future</a:t>
            </a:r>
            <a:r>
              <a:rPr dirty="0" sz="12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250" spc="-50">
                <a:solidFill>
                  <a:srgbClr val="272424"/>
                </a:solidFill>
                <a:latin typeface="Verdana"/>
                <a:cs typeface="Verdana"/>
              </a:rPr>
              <a:t>enhancements,</a:t>
            </a:r>
            <a:r>
              <a:rPr dirty="0" sz="1250" spc="-9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250" spc="-45">
                <a:solidFill>
                  <a:srgbClr val="272424"/>
                </a:solidFill>
                <a:latin typeface="Verdana"/>
                <a:cs typeface="Verdana"/>
              </a:rPr>
              <a:t>ensuring</a:t>
            </a:r>
            <a:r>
              <a:rPr dirty="0" sz="1250" spc="-6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250" spc="-45">
                <a:solidFill>
                  <a:srgbClr val="272424"/>
                </a:solidFill>
                <a:latin typeface="Verdana"/>
                <a:cs typeface="Verdana"/>
              </a:rPr>
              <a:t>a</a:t>
            </a:r>
            <a:r>
              <a:rPr dirty="0" sz="1250" spc="-6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250" spc="-30">
                <a:solidFill>
                  <a:srgbClr val="272424"/>
                </a:solidFill>
                <a:latin typeface="Verdana"/>
                <a:cs typeface="Verdana"/>
              </a:rPr>
              <a:t>future-</a:t>
            </a:r>
            <a:r>
              <a:rPr dirty="0" sz="1250" spc="-20">
                <a:solidFill>
                  <a:srgbClr val="272424"/>
                </a:solidFill>
                <a:latin typeface="Verdana"/>
                <a:cs typeface="Verdana"/>
              </a:rPr>
              <a:t>proof</a:t>
            </a:r>
            <a:r>
              <a:rPr dirty="0" sz="1250" spc="-13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250" spc="-35">
                <a:solidFill>
                  <a:srgbClr val="272424"/>
                </a:solidFill>
                <a:latin typeface="Verdana"/>
                <a:cs typeface="Verdana"/>
              </a:rPr>
              <a:t>solution</a:t>
            </a:r>
            <a:r>
              <a:rPr dirty="0" sz="12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250" spc="-25">
                <a:solidFill>
                  <a:srgbClr val="272424"/>
                </a:solidFill>
                <a:latin typeface="Verdana"/>
                <a:cs typeface="Verdana"/>
              </a:rPr>
              <a:t>for</a:t>
            </a:r>
            <a:r>
              <a:rPr dirty="0" sz="1250" spc="-6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250" spc="-35">
                <a:solidFill>
                  <a:srgbClr val="272424"/>
                </a:solidFill>
                <a:latin typeface="Verdana"/>
                <a:cs typeface="Verdana"/>
              </a:rPr>
              <a:t>corporate</a:t>
            </a:r>
            <a:r>
              <a:rPr dirty="0" sz="1250" spc="-1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250" spc="-35">
                <a:solidFill>
                  <a:srgbClr val="272424"/>
                </a:solidFill>
                <a:latin typeface="Verdana"/>
                <a:cs typeface="Verdana"/>
              </a:rPr>
              <a:t>insurance</a:t>
            </a:r>
            <a:r>
              <a:rPr dirty="0" sz="12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250" spc="-10">
                <a:solidFill>
                  <a:srgbClr val="272424"/>
                </a:solidFill>
                <a:latin typeface="Verdana"/>
                <a:cs typeface="Verdana"/>
              </a:rPr>
              <a:t>needs.</a:t>
            </a:r>
            <a:endParaRPr sz="12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7650" y="0"/>
            <a:ext cx="14382750" cy="82295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2685776" y="7780337"/>
            <a:ext cx="1841500" cy="374650"/>
            <a:chOff x="12685776" y="7780337"/>
            <a:chExt cx="1841500" cy="374650"/>
          </a:xfrm>
        </p:grpSpPr>
        <p:sp>
          <p:nvSpPr>
            <p:cNvPr id="3" name="object 3" descr="">
              <a:hlinkClick r:id="rId2"/>
            </p:cNvPr>
            <p:cNvSpPr/>
            <p:nvPr/>
          </p:nvSpPr>
          <p:spPr>
            <a:xfrm>
              <a:off x="12692126" y="7786687"/>
              <a:ext cx="1828800" cy="361950"/>
            </a:xfrm>
            <a:custGeom>
              <a:avLst/>
              <a:gdLst/>
              <a:ahLst/>
              <a:cxnLst/>
              <a:rect l="l" t="t" r="r" b="b"/>
              <a:pathLst>
                <a:path w="1828800" h="361950">
                  <a:moveTo>
                    <a:pt x="1828800" y="0"/>
                  </a:moveTo>
                  <a:lnTo>
                    <a:pt x="0" y="0"/>
                  </a:lnTo>
                  <a:lnTo>
                    <a:pt x="0" y="361950"/>
                  </a:lnTo>
                  <a:lnTo>
                    <a:pt x="1828800" y="361950"/>
                  </a:lnTo>
                  <a:lnTo>
                    <a:pt x="1828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>
              <a:hlinkClick r:id="rId2"/>
            </p:cNvPr>
            <p:cNvSpPr/>
            <p:nvPr/>
          </p:nvSpPr>
          <p:spPr>
            <a:xfrm>
              <a:off x="12692126" y="7786687"/>
              <a:ext cx="1828800" cy="361950"/>
            </a:xfrm>
            <a:custGeom>
              <a:avLst/>
              <a:gdLst/>
              <a:ahLst/>
              <a:cxnLst/>
              <a:rect l="l" t="t" r="r" b="b"/>
              <a:pathLst>
                <a:path w="1828800" h="361950">
                  <a:moveTo>
                    <a:pt x="0" y="361950"/>
                  </a:moveTo>
                  <a:lnTo>
                    <a:pt x="1828800" y="361950"/>
                  </a:lnTo>
                  <a:lnTo>
                    <a:pt x="1828800" y="0"/>
                  </a:lnTo>
                  <a:lnTo>
                    <a:pt x="0" y="0"/>
                  </a:lnTo>
                  <a:lnTo>
                    <a:pt x="0" y="36195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66140" rIns="0" bIns="0" rtlCol="0" vert="horz">
            <a:spAutoFit/>
          </a:bodyPr>
          <a:lstStyle/>
          <a:p>
            <a:pPr marL="69850">
              <a:lnSpc>
                <a:spcPct val="100000"/>
              </a:lnSpc>
              <a:spcBef>
                <a:spcPts val="130"/>
              </a:spcBef>
            </a:pPr>
            <a:r>
              <a:rPr dirty="0" spc="-310"/>
              <a:t>Core</a:t>
            </a:r>
            <a:r>
              <a:rPr dirty="0" spc="-185"/>
              <a:t> </a:t>
            </a:r>
            <a:r>
              <a:rPr dirty="0" spc="-365"/>
              <a:t>Modules</a:t>
            </a:r>
            <a:r>
              <a:rPr dirty="0" spc="-229"/>
              <a:t> </a:t>
            </a:r>
            <a:r>
              <a:rPr dirty="0" spc="-440"/>
              <a:t>Overview</a:t>
            </a:r>
          </a:p>
        </p:txBody>
      </p:sp>
      <p:grpSp>
        <p:nvGrpSpPr>
          <p:cNvPr id="6" name="object 6" descr=""/>
          <p:cNvGrpSpPr/>
          <p:nvPr/>
        </p:nvGrpSpPr>
        <p:grpSpPr>
          <a:xfrm>
            <a:off x="791527" y="3334765"/>
            <a:ext cx="522605" cy="521970"/>
            <a:chOff x="791527" y="3334765"/>
            <a:chExt cx="522605" cy="521970"/>
          </a:xfrm>
        </p:grpSpPr>
        <p:sp>
          <p:nvSpPr>
            <p:cNvPr id="7" name="object 7" descr=""/>
            <p:cNvSpPr/>
            <p:nvPr/>
          </p:nvSpPr>
          <p:spPr>
            <a:xfrm>
              <a:off x="795337" y="3338575"/>
              <a:ext cx="514984" cy="514350"/>
            </a:xfrm>
            <a:custGeom>
              <a:avLst/>
              <a:gdLst/>
              <a:ahLst/>
              <a:cxnLst/>
              <a:rect l="l" t="t" r="r" b="b"/>
              <a:pathLst>
                <a:path w="514984" h="514350">
                  <a:moveTo>
                    <a:pt x="418325" y="0"/>
                  </a:moveTo>
                  <a:lnTo>
                    <a:pt x="96024" y="0"/>
                  </a:lnTo>
                  <a:lnTo>
                    <a:pt x="58646" y="7536"/>
                  </a:lnTo>
                  <a:lnTo>
                    <a:pt x="28124" y="28098"/>
                  </a:lnTo>
                  <a:lnTo>
                    <a:pt x="7545" y="58614"/>
                  </a:lnTo>
                  <a:lnTo>
                    <a:pt x="0" y="96012"/>
                  </a:lnTo>
                  <a:lnTo>
                    <a:pt x="0" y="418211"/>
                  </a:lnTo>
                  <a:lnTo>
                    <a:pt x="7545" y="455628"/>
                  </a:lnTo>
                  <a:lnTo>
                    <a:pt x="28124" y="486187"/>
                  </a:lnTo>
                  <a:lnTo>
                    <a:pt x="58646" y="506793"/>
                  </a:lnTo>
                  <a:lnTo>
                    <a:pt x="96024" y="514350"/>
                  </a:lnTo>
                  <a:lnTo>
                    <a:pt x="418325" y="514350"/>
                  </a:lnTo>
                  <a:lnTo>
                    <a:pt x="455713" y="506793"/>
                  </a:lnTo>
                  <a:lnTo>
                    <a:pt x="486257" y="486187"/>
                  </a:lnTo>
                  <a:lnTo>
                    <a:pt x="506857" y="455628"/>
                  </a:lnTo>
                  <a:lnTo>
                    <a:pt x="514413" y="418211"/>
                  </a:lnTo>
                  <a:lnTo>
                    <a:pt x="514413" y="96012"/>
                  </a:lnTo>
                  <a:lnTo>
                    <a:pt x="506857" y="58614"/>
                  </a:lnTo>
                  <a:lnTo>
                    <a:pt x="486257" y="28098"/>
                  </a:lnTo>
                  <a:lnTo>
                    <a:pt x="455713" y="7536"/>
                  </a:lnTo>
                  <a:lnTo>
                    <a:pt x="418325" y="0"/>
                  </a:lnTo>
                  <a:close/>
                </a:path>
              </a:pathLst>
            </a:custGeom>
            <a:solidFill>
              <a:srgbClr val="DADB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795337" y="3338575"/>
              <a:ext cx="514984" cy="514350"/>
            </a:xfrm>
            <a:custGeom>
              <a:avLst/>
              <a:gdLst/>
              <a:ahLst/>
              <a:cxnLst/>
              <a:rect l="l" t="t" r="r" b="b"/>
              <a:pathLst>
                <a:path w="514984" h="514350">
                  <a:moveTo>
                    <a:pt x="0" y="96012"/>
                  </a:moveTo>
                  <a:lnTo>
                    <a:pt x="7545" y="58614"/>
                  </a:lnTo>
                  <a:lnTo>
                    <a:pt x="28124" y="28098"/>
                  </a:lnTo>
                  <a:lnTo>
                    <a:pt x="58646" y="7536"/>
                  </a:lnTo>
                  <a:lnTo>
                    <a:pt x="96024" y="0"/>
                  </a:lnTo>
                  <a:lnTo>
                    <a:pt x="418325" y="0"/>
                  </a:lnTo>
                  <a:lnTo>
                    <a:pt x="455713" y="7536"/>
                  </a:lnTo>
                  <a:lnTo>
                    <a:pt x="486257" y="28098"/>
                  </a:lnTo>
                  <a:lnTo>
                    <a:pt x="506857" y="58614"/>
                  </a:lnTo>
                  <a:lnTo>
                    <a:pt x="514413" y="96012"/>
                  </a:lnTo>
                  <a:lnTo>
                    <a:pt x="514413" y="418211"/>
                  </a:lnTo>
                  <a:lnTo>
                    <a:pt x="506857" y="455628"/>
                  </a:lnTo>
                  <a:lnTo>
                    <a:pt x="486257" y="486187"/>
                  </a:lnTo>
                  <a:lnTo>
                    <a:pt x="455713" y="506793"/>
                  </a:lnTo>
                  <a:lnTo>
                    <a:pt x="418325" y="514350"/>
                  </a:lnTo>
                  <a:lnTo>
                    <a:pt x="96024" y="514350"/>
                  </a:lnTo>
                  <a:lnTo>
                    <a:pt x="58646" y="506793"/>
                  </a:lnTo>
                  <a:lnTo>
                    <a:pt x="28124" y="486187"/>
                  </a:lnTo>
                  <a:lnTo>
                    <a:pt x="7545" y="455628"/>
                  </a:lnTo>
                  <a:lnTo>
                    <a:pt x="0" y="418211"/>
                  </a:lnTo>
                  <a:lnTo>
                    <a:pt x="0" y="96012"/>
                  </a:lnTo>
                  <a:close/>
                </a:path>
              </a:pathLst>
            </a:custGeom>
            <a:ln w="7620">
              <a:solidFill>
                <a:srgbClr val="C0C1D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0557" y="3426623"/>
              <a:ext cx="274407" cy="328620"/>
            </a:xfrm>
            <a:prstGeom prst="rect">
              <a:avLst/>
            </a:prstGeom>
          </p:spPr>
        </p:pic>
      </p:grpSp>
      <p:grpSp>
        <p:nvGrpSpPr>
          <p:cNvPr id="10" name="object 10" descr=""/>
          <p:cNvGrpSpPr/>
          <p:nvPr/>
        </p:nvGrpSpPr>
        <p:grpSpPr>
          <a:xfrm>
            <a:off x="791527" y="4725415"/>
            <a:ext cx="522605" cy="512445"/>
            <a:chOff x="791527" y="4725415"/>
            <a:chExt cx="522605" cy="512445"/>
          </a:xfrm>
        </p:grpSpPr>
        <p:sp>
          <p:nvSpPr>
            <p:cNvPr id="11" name="object 11" descr=""/>
            <p:cNvSpPr/>
            <p:nvPr/>
          </p:nvSpPr>
          <p:spPr>
            <a:xfrm>
              <a:off x="795337" y="4729225"/>
              <a:ext cx="514984" cy="504825"/>
            </a:xfrm>
            <a:custGeom>
              <a:avLst/>
              <a:gdLst/>
              <a:ahLst/>
              <a:cxnLst/>
              <a:rect l="l" t="t" r="r" b="b"/>
              <a:pathLst>
                <a:path w="514984" h="504825">
                  <a:moveTo>
                    <a:pt x="420103" y="0"/>
                  </a:moveTo>
                  <a:lnTo>
                    <a:pt x="94246" y="0"/>
                  </a:lnTo>
                  <a:lnTo>
                    <a:pt x="57564" y="7401"/>
                  </a:lnTo>
                  <a:lnTo>
                    <a:pt x="27606" y="27590"/>
                  </a:lnTo>
                  <a:lnTo>
                    <a:pt x="7407" y="57542"/>
                  </a:lnTo>
                  <a:lnTo>
                    <a:pt x="0" y="94234"/>
                  </a:lnTo>
                  <a:lnTo>
                    <a:pt x="0" y="410463"/>
                  </a:lnTo>
                  <a:lnTo>
                    <a:pt x="7407" y="447174"/>
                  </a:lnTo>
                  <a:lnTo>
                    <a:pt x="27606" y="477170"/>
                  </a:lnTo>
                  <a:lnTo>
                    <a:pt x="57564" y="497403"/>
                  </a:lnTo>
                  <a:lnTo>
                    <a:pt x="94246" y="504825"/>
                  </a:lnTo>
                  <a:lnTo>
                    <a:pt x="420103" y="504825"/>
                  </a:lnTo>
                  <a:lnTo>
                    <a:pt x="456800" y="497403"/>
                  </a:lnTo>
                  <a:lnTo>
                    <a:pt x="486779" y="477170"/>
                  </a:lnTo>
                  <a:lnTo>
                    <a:pt x="506998" y="447174"/>
                  </a:lnTo>
                  <a:lnTo>
                    <a:pt x="514413" y="410463"/>
                  </a:lnTo>
                  <a:lnTo>
                    <a:pt x="514413" y="94234"/>
                  </a:lnTo>
                  <a:lnTo>
                    <a:pt x="506998" y="57542"/>
                  </a:lnTo>
                  <a:lnTo>
                    <a:pt x="486779" y="27590"/>
                  </a:lnTo>
                  <a:lnTo>
                    <a:pt x="456800" y="7401"/>
                  </a:lnTo>
                  <a:lnTo>
                    <a:pt x="420103" y="0"/>
                  </a:lnTo>
                  <a:close/>
                </a:path>
              </a:pathLst>
            </a:custGeom>
            <a:solidFill>
              <a:srgbClr val="DADB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795337" y="4729225"/>
              <a:ext cx="514984" cy="504825"/>
            </a:xfrm>
            <a:custGeom>
              <a:avLst/>
              <a:gdLst/>
              <a:ahLst/>
              <a:cxnLst/>
              <a:rect l="l" t="t" r="r" b="b"/>
              <a:pathLst>
                <a:path w="514984" h="504825">
                  <a:moveTo>
                    <a:pt x="0" y="94234"/>
                  </a:moveTo>
                  <a:lnTo>
                    <a:pt x="7407" y="57542"/>
                  </a:lnTo>
                  <a:lnTo>
                    <a:pt x="27606" y="27590"/>
                  </a:lnTo>
                  <a:lnTo>
                    <a:pt x="57564" y="7401"/>
                  </a:lnTo>
                  <a:lnTo>
                    <a:pt x="94246" y="0"/>
                  </a:lnTo>
                  <a:lnTo>
                    <a:pt x="420103" y="0"/>
                  </a:lnTo>
                  <a:lnTo>
                    <a:pt x="456800" y="7401"/>
                  </a:lnTo>
                  <a:lnTo>
                    <a:pt x="486779" y="27590"/>
                  </a:lnTo>
                  <a:lnTo>
                    <a:pt x="506998" y="57542"/>
                  </a:lnTo>
                  <a:lnTo>
                    <a:pt x="514413" y="94234"/>
                  </a:lnTo>
                  <a:lnTo>
                    <a:pt x="514413" y="410463"/>
                  </a:lnTo>
                  <a:lnTo>
                    <a:pt x="506998" y="447174"/>
                  </a:lnTo>
                  <a:lnTo>
                    <a:pt x="486779" y="477170"/>
                  </a:lnTo>
                  <a:lnTo>
                    <a:pt x="456800" y="497403"/>
                  </a:lnTo>
                  <a:lnTo>
                    <a:pt x="420103" y="504825"/>
                  </a:lnTo>
                  <a:lnTo>
                    <a:pt x="94246" y="504825"/>
                  </a:lnTo>
                  <a:lnTo>
                    <a:pt x="57564" y="497403"/>
                  </a:lnTo>
                  <a:lnTo>
                    <a:pt x="27606" y="477170"/>
                  </a:lnTo>
                  <a:lnTo>
                    <a:pt x="7407" y="447174"/>
                  </a:lnTo>
                  <a:lnTo>
                    <a:pt x="0" y="410463"/>
                  </a:lnTo>
                  <a:lnTo>
                    <a:pt x="0" y="94234"/>
                  </a:lnTo>
                  <a:close/>
                </a:path>
              </a:pathLst>
            </a:custGeom>
            <a:ln w="7620">
              <a:solidFill>
                <a:srgbClr val="C0C1D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2905" y="4817056"/>
              <a:ext cx="271769" cy="317743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917777" y="4868979"/>
              <a:ext cx="260350" cy="260985"/>
            </a:xfrm>
            <a:custGeom>
              <a:avLst/>
              <a:gdLst/>
              <a:ahLst/>
              <a:cxnLst/>
              <a:rect l="l" t="t" r="r" b="b"/>
              <a:pathLst>
                <a:path w="260350" h="260985">
                  <a:moveTo>
                    <a:pt x="465" y="4757"/>
                  </a:moveTo>
                  <a:lnTo>
                    <a:pt x="251" y="7940"/>
                  </a:lnTo>
                  <a:lnTo>
                    <a:pt x="95" y="13685"/>
                  </a:lnTo>
                  <a:lnTo>
                    <a:pt x="7" y="22425"/>
                  </a:lnTo>
                  <a:lnTo>
                    <a:pt x="0" y="34592"/>
                  </a:lnTo>
                  <a:lnTo>
                    <a:pt x="298" y="44915"/>
                  </a:lnTo>
                  <a:lnTo>
                    <a:pt x="3986" y="85881"/>
                  </a:lnTo>
                  <a:lnTo>
                    <a:pt x="12592" y="125280"/>
                  </a:lnTo>
                  <a:lnTo>
                    <a:pt x="28553" y="162592"/>
                  </a:lnTo>
                  <a:lnTo>
                    <a:pt x="50906" y="195980"/>
                  </a:lnTo>
                  <a:lnTo>
                    <a:pt x="80720" y="226568"/>
                  </a:lnTo>
                  <a:lnTo>
                    <a:pt x="112871" y="250770"/>
                  </a:lnTo>
                  <a:lnTo>
                    <a:pt x="124337" y="258134"/>
                  </a:lnTo>
                  <a:lnTo>
                    <a:pt x="129770" y="260813"/>
                  </a:lnTo>
                </a:path>
                <a:path w="260350" h="260985">
                  <a:moveTo>
                    <a:pt x="129770" y="260813"/>
                  </a:moveTo>
                  <a:lnTo>
                    <a:pt x="132999" y="259157"/>
                  </a:lnTo>
                </a:path>
                <a:path w="260350" h="260985">
                  <a:moveTo>
                    <a:pt x="132999" y="259157"/>
                  </a:moveTo>
                  <a:lnTo>
                    <a:pt x="133686" y="258895"/>
                  </a:lnTo>
                </a:path>
                <a:path w="260350" h="260985">
                  <a:moveTo>
                    <a:pt x="1926" y="0"/>
                  </a:moveTo>
                  <a:lnTo>
                    <a:pt x="465" y="4757"/>
                  </a:lnTo>
                </a:path>
                <a:path w="260350" h="260985">
                  <a:moveTo>
                    <a:pt x="259972" y="32463"/>
                  </a:moveTo>
                  <a:lnTo>
                    <a:pt x="259856" y="10464"/>
                  </a:lnTo>
                </a:path>
              </a:pathLst>
            </a:custGeom>
            <a:ln w="13744">
              <a:solidFill>
                <a:srgbClr val="27242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" name="object 15" descr=""/>
          <p:cNvGrpSpPr/>
          <p:nvPr/>
        </p:nvGrpSpPr>
        <p:grpSpPr>
          <a:xfrm>
            <a:off x="791527" y="6106540"/>
            <a:ext cx="522605" cy="521970"/>
            <a:chOff x="791527" y="6106540"/>
            <a:chExt cx="522605" cy="521970"/>
          </a:xfrm>
        </p:grpSpPr>
        <p:sp>
          <p:nvSpPr>
            <p:cNvPr id="16" name="object 16" descr=""/>
            <p:cNvSpPr/>
            <p:nvPr/>
          </p:nvSpPr>
          <p:spPr>
            <a:xfrm>
              <a:off x="795337" y="6110350"/>
              <a:ext cx="514984" cy="514350"/>
            </a:xfrm>
            <a:custGeom>
              <a:avLst/>
              <a:gdLst/>
              <a:ahLst/>
              <a:cxnLst/>
              <a:rect l="l" t="t" r="r" b="b"/>
              <a:pathLst>
                <a:path w="514984" h="514350">
                  <a:moveTo>
                    <a:pt x="418325" y="0"/>
                  </a:moveTo>
                  <a:lnTo>
                    <a:pt x="96024" y="0"/>
                  </a:lnTo>
                  <a:lnTo>
                    <a:pt x="58646" y="7536"/>
                  </a:lnTo>
                  <a:lnTo>
                    <a:pt x="28124" y="28098"/>
                  </a:lnTo>
                  <a:lnTo>
                    <a:pt x="7545" y="58614"/>
                  </a:lnTo>
                  <a:lnTo>
                    <a:pt x="0" y="96012"/>
                  </a:lnTo>
                  <a:lnTo>
                    <a:pt x="0" y="418211"/>
                  </a:lnTo>
                  <a:lnTo>
                    <a:pt x="7545" y="455628"/>
                  </a:lnTo>
                  <a:lnTo>
                    <a:pt x="28124" y="486187"/>
                  </a:lnTo>
                  <a:lnTo>
                    <a:pt x="58646" y="506793"/>
                  </a:lnTo>
                  <a:lnTo>
                    <a:pt x="96024" y="514350"/>
                  </a:lnTo>
                  <a:lnTo>
                    <a:pt x="418325" y="514350"/>
                  </a:lnTo>
                  <a:lnTo>
                    <a:pt x="455713" y="506793"/>
                  </a:lnTo>
                  <a:lnTo>
                    <a:pt x="486257" y="486187"/>
                  </a:lnTo>
                  <a:lnTo>
                    <a:pt x="506857" y="455628"/>
                  </a:lnTo>
                  <a:lnTo>
                    <a:pt x="514413" y="418211"/>
                  </a:lnTo>
                  <a:lnTo>
                    <a:pt x="514413" y="96012"/>
                  </a:lnTo>
                  <a:lnTo>
                    <a:pt x="506857" y="58614"/>
                  </a:lnTo>
                  <a:lnTo>
                    <a:pt x="486257" y="28098"/>
                  </a:lnTo>
                  <a:lnTo>
                    <a:pt x="455713" y="7536"/>
                  </a:lnTo>
                  <a:lnTo>
                    <a:pt x="418325" y="0"/>
                  </a:lnTo>
                  <a:close/>
                </a:path>
              </a:pathLst>
            </a:custGeom>
            <a:solidFill>
              <a:srgbClr val="DADB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795337" y="6110350"/>
              <a:ext cx="514984" cy="514350"/>
            </a:xfrm>
            <a:custGeom>
              <a:avLst/>
              <a:gdLst/>
              <a:ahLst/>
              <a:cxnLst/>
              <a:rect l="l" t="t" r="r" b="b"/>
              <a:pathLst>
                <a:path w="514984" h="514350">
                  <a:moveTo>
                    <a:pt x="0" y="96012"/>
                  </a:moveTo>
                  <a:lnTo>
                    <a:pt x="7545" y="58614"/>
                  </a:lnTo>
                  <a:lnTo>
                    <a:pt x="28124" y="28098"/>
                  </a:lnTo>
                  <a:lnTo>
                    <a:pt x="58646" y="7536"/>
                  </a:lnTo>
                  <a:lnTo>
                    <a:pt x="96024" y="0"/>
                  </a:lnTo>
                  <a:lnTo>
                    <a:pt x="418325" y="0"/>
                  </a:lnTo>
                  <a:lnTo>
                    <a:pt x="455713" y="7536"/>
                  </a:lnTo>
                  <a:lnTo>
                    <a:pt x="486257" y="28098"/>
                  </a:lnTo>
                  <a:lnTo>
                    <a:pt x="506857" y="58614"/>
                  </a:lnTo>
                  <a:lnTo>
                    <a:pt x="514413" y="96012"/>
                  </a:lnTo>
                  <a:lnTo>
                    <a:pt x="514413" y="418211"/>
                  </a:lnTo>
                  <a:lnTo>
                    <a:pt x="506857" y="455628"/>
                  </a:lnTo>
                  <a:lnTo>
                    <a:pt x="486257" y="486187"/>
                  </a:lnTo>
                  <a:lnTo>
                    <a:pt x="455713" y="506793"/>
                  </a:lnTo>
                  <a:lnTo>
                    <a:pt x="418325" y="514350"/>
                  </a:lnTo>
                  <a:lnTo>
                    <a:pt x="96024" y="514350"/>
                  </a:lnTo>
                  <a:lnTo>
                    <a:pt x="58646" y="506793"/>
                  </a:lnTo>
                  <a:lnTo>
                    <a:pt x="28124" y="486187"/>
                  </a:lnTo>
                  <a:lnTo>
                    <a:pt x="7545" y="455628"/>
                  </a:lnTo>
                  <a:lnTo>
                    <a:pt x="0" y="418211"/>
                  </a:lnTo>
                  <a:lnTo>
                    <a:pt x="0" y="96012"/>
                  </a:lnTo>
                  <a:close/>
                </a:path>
              </a:pathLst>
            </a:custGeom>
            <a:ln w="7620">
              <a:solidFill>
                <a:srgbClr val="C0C1D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87236" y="6198397"/>
              <a:ext cx="321049" cy="328620"/>
            </a:xfrm>
            <a:prstGeom prst="rect">
              <a:avLst/>
            </a:prstGeom>
          </p:spPr>
        </p:pic>
      </p:grpSp>
      <p:sp>
        <p:nvSpPr>
          <p:cNvPr id="19" name="object 19" descr=""/>
          <p:cNvSpPr txBox="1"/>
          <p:nvPr/>
        </p:nvSpPr>
        <p:spPr>
          <a:xfrm>
            <a:off x="781684" y="2292699"/>
            <a:ext cx="12842875" cy="4722495"/>
          </a:xfrm>
          <a:prstGeom prst="rect">
            <a:avLst/>
          </a:prstGeom>
        </p:spPr>
        <p:txBody>
          <a:bodyPr wrap="square" lIns="0" tIns="1257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90"/>
              </a:spcBef>
            </a:pPr>
            <a:r>
              <a:rPr dirty="0" sz="1700" spc="-95">
                <a:solidFill>
                  <a:srgbClr val="272424"/>
                </a:solidFill>
                <a:latin typeface="Verdana"/>
                <a:cs typeface="Verdana"/>
              </a:rPr>
              <a:t>InsurAI</a:t>
            </a:r>
            <a:r>
              <a:rPr dirty="0" sz="1700" spc="-9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272424"/>
                </a:solidFill>
                <a:latin typeface="Verdana"/>
                <a:cs typeface="Verdana"/>
              </a:rPr>
              <a:t>comprises</a:t>
            </a:r>
            <a:r>
              <a:rPr dirty="0" sz="1700" spc="-9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45">
                <a:solidFill>
                  <a:srgbClr val="272424"/>
                </a:solidFill>
                <a:latin typeface="Verdana"/>
                <a:cs typeface="Verdana"/>
              </a:rPr>
              <a:t>three</a:t>
            </a:r>
            <a:r>
              <a:rPr dirty="0" sz="170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20">
                <a:solidFill>
                  <a:srgbClr val="272424"/>
                </a:solidFill>
                <a:latin typeface="Verdana"/>
                <a:cs typeface="Verdana"/>
              </a:rPr>
              <a:t>interconnected</a:t>
            </a:r>
            <a:r>
              <a:rPr dirty="0" sz="1700" spc="-8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272424"/>
                </a:solidFill>
                <a:latin typeface="Verdana"/>
                <a:cs typeface="Verdana"/>
              </a:rPr>
              <a:t>core</a:t>
            </a:r>
            <a:r>
              <a:rPr dirty="0" sz="170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35">
                <a:solidFill>
                  <a:srgbClr val="272424"/>
                </a:solidFill>
                <a:latin typeface="Verdana"/>
                <a:cs typeface="Verdana"/>
              </a:rPr>
              <a:t>modules,</a:t>
            </a:r>
            <a:r>
              <a:rPr dirty="0" sz="1700" spc="-4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272424"/>
                </a:solidFill>
                <a:latin typeface="Verdana"/>
                <a:cs typeface="Verdana"/>
              </a:rPr>
              <a:t>each</a:t>
            </a:r>
            <a:r>
              <a:rPr dirty="0" sz="1700" spc="-12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25">
                <a:solidFill>
                  <a:srgbClr val="272424"/>
                </a:solidFill>
                <a:latin typeface="Verdana"/>
                <a:cs typeface="Verdana"/>
              </a:rPr>
              <a:t>engineered</a:t>
            </a:r>
            <a:r>
              <a:rPr dirty="0" sz="1700" spc="-8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50">
                <a:solidFill>
                  <a:srgbClr val="272424"/>
                </a:solidFill>
                <a:latin typeface="Verdana"/>
                <a:cs typeface="Verdana"/>
              </a:rPr>
              <a:t>to</a:t>
            </a:r>
            <a:r>
              <a:rPr dirty="0" sz="1700" spc="-13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65">
                <a:solidFill>
                  <a:srgbClr val="272424"/>
                </a:solidFill>
                <a:latin typeface="Verdana"/>
                <a:cs typeface="Verdana"/>
              </a:rPr>
              <a:t>automate</a:t>
            </a:r>
            <a:r>
              <a:rPr dirty="0" sz="170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25">
                <a:solidFill>
                  <a:srgbClr val="272424"/>
                </a:solidFill>
                <a:latin typeface="Verdana"/>
                <a:cs typeface="Verdana"/>
              </a:rPr>
              <a:t>and</a:t>
            </a:r>
            <a:r>
              <a:rPr dirty="0" sz="1700" spc="-8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30">
                <a:solidFill>
                  <a:srgbClr val="272424"/>
                </a:solidFill>
                <a:latin typeface="Verdana"/>
                <a:cs typeface="Verdana"/>
              </a:rPr>
              <a:t>intellectualize</a:t>
            </a:r>
            <a:r>
              <a:rPr dirty="0" sz="170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272424"/>
                </a:solidFill>
                <a:latin typeface="Verdana"/>
                <a:cs typeface="Verdana"/>
              </a:rPr>
              <a:t>a</a:t>
            </a:r>
            <a:r>
              <a:rPr dirty="0" sz="1700" spc="-7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20">
                <a:solidFill>
                  <a:srgbClr val="272424"/>
                </a:solidFill>
                <a:latin typeface="Verdana"/>
                <a:cs typeface="Verdana"/>
              </a:rPr>
              <a:t>critical</a:t>
            </a:r>
            <a:r>
              <a:rPr dirty="0" sz="170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272424"/>
                </a:solidFill>
                <a:latin typeface="Verdana"/>
                <a:cs typeface="Verdana"/>
              </a:rPr>
              <a:t>aspect</a:t>
            </a:r>
            <a:r>
              <a:rPr dirty="0" sz="170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25">
                <a:solidFill>
                  <a:srgbClr val="272424"/>
                </a:solidFill>
                <a:latin typeface="Verdana"/>
                <a:cs typeface="Verdana"/>
              </a:rPr>
              <a:t>of</a:t>
            </a:r>
            <a:endParaRPr sz="17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dirty="0" sz="1700" spc="-25">
                <a:solidFill>
                  <a:srgbClr val="272424"/>
                </a:solidFill>
                <a:latin typeface="Verdana"/>
                <a:cs typeface="Verdana"/>
              </a:rPr>
              <a:t>insurance</a:t>
            </a:r>
            <a:r>
              <a:rPr dirty="0" sz="1700" spc="-6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10">
                <a:solidFill>
                  <a:srgbClr val="272424"/>
                </a:solidFill>
                <a:latin typeface="Verdana"/>
                <a:cs typeface="Verdana"/>
              </a:rPr>
              <a:t>operations.</a:t>
            </a:r>
            <a:endParaRPr sz="17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785"/>
              </a:spcBef>
            </a:pPr>
            <a:endParaRPr sz="1700">
              <a:latin typeface="Verdana"/>
              <a:cs typeface="Verdana"/>
            </a:endParaRPr>
          </a:p>
          <a:p>
            <a:pPr marL="749935">
              <a:lnSpc>
                <a:spcPct val="100000"/>
              </a:lnSpc>
            </a:pPr>
            <a:r>
              <a:rPr dirty="0" sz="2150" spc="-155" b="1">
                <a:solidFill>
                  <a:srgbClr val="272424"/>
                </a:solidFill>
                <a:latin typeface="Verdana"/>
                <a:cs typeface="Verdana"/>
              </a:rPr>
              <a:t>Policy</a:t>
            </a:r>
            <a:r>
              <a:rPr dirty="0" sz="2150" spc="-145" b="1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2150" spc="-100" b="1">
                <a:solidFill>
                  <a:srgbClr val="272424"/>
                </a:solidFill>
                <a:latin typeface="Verdana"/>
                <a:cs typeface="Verdana"/>
              </a:rPr>
              <a:t>Management</a:t>
            </a:r>
            <a:endParaRPr sz="2150">
              <a:latin typeface="Verdana"/>
              <a:cs typeface="Verdana"/>
            </a:endParaRPr>
          </a:p>
          <a:p>
            <a:pPr marL="749935">
              <a:lnSpc>
                <a:spcPct val="100000"/>
              </a:lnSpc>
              <a:spcBef>
                <a:spcPts val="1810"/>
              </a:spcBef>
            </a:pPr>
            <a:r>
              <a:rPr dirty="0" sz="1700" spc="-40">
                <a:solidFill>
                  <a:srgbClr val="272424"/>
                </a:solidFill>
                <a:latin typeface="Verdana"/>
                <a:cs typeface="Verdana"/>
              </a:rPr>
              <a:t>Automated</a:t>
            </a:r>
            <a:r>
              <a:rPr dirty="0" sz="1700" spc="-7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45">
                <a:solidFill>
                  <a:srgbClr val="272424"/>
                </a:solidFill>
                <a:latin typeface="Verdana"/>
                <a:cs typeface="Verdana"/>
              </a:rPr>
              <a:t>creation,</a:t>
            </a:r>
            <a:r>
              <a:rPr dirty="0" sz="170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40">
                <a:solidFill>
                  <a:srgbClr val="272424"/>
                </a:solidFill>
                <a:latin typeface="Verdana"/>
                <a:cs typeface="Verdana"/>
              </a:rPr>
              <a:t>renewal,</a:t>
            </a:r>
            <a:r>
              <a:rPr dirty="0" sz="170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30">
                <a:solidFill>
                  <a:srgbClr val="272424"/>
                </a:solidFill>
                <a:latin typeface="Verdana"/>
                <a:cs typeface="Verdana"/>
              </a:rPr>
              <a:t>and</a:t>
            </a:r>
            <a:r>
              <a:rPr dirty="0" sz="1700" spc="-6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10">
                <a:solidFill>
                  <a:srgbClr val="272424"/>
                </a:solidFill>
                <a:latin typeface="Verdana"/>
                <a:cs typeface="Verdana"/>
              </a:rPr>
              <a:t>cancellation.</a:t>
            </a:r>
            <a:endParaRPr sz="17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7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1700">
              <a:latin typeface="Verdana"/>
              <a:cs typeface="Verdana"/>
            </a:endParaRPr>
          </a:p>
          <a:p>
            <a:pPr marL="749935">
              <a:lnSpc>
                <a:spcPct val="100000"/>
              </a:lnSpc>
            </a:pPr>
            <a:r>
              <a:rPr dirty="0" sz="2150" spc="-210" b="1">
                <a:solidFill>
                  <a:srgbClr val="272424"/>
                </a:solidFill>
                <a:latin typeface="Verdana"/>
                <a:cs typeface="Verdana"/>
              </a:rPr>
              <a:t>Risk</a:t>
            </a:r>
            <a:r>
              <a:rPr dirty="0" sz="2150" spc="-100" b="1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2150" spc="-85" b="1">
                <a:solidFill>
                  <a:srgbClr val="272424"/>
                </a:solidFill>
                <a:latin typeface="Verdana"/>
                <a:cs typeface="Verdana"/>
              </a:rPr>
              <a:t>Assessment</a:t>
            </a:r>
            <a:endParaRPr sz="2150">
              <a:latin typeface="Verdana"/>
              <a:cs typeface="Verdana"/>
            </a:endParaRPr>
          </a:p>
          <a:p>
            <a:pPr marL="749935">
              <a:lnSpc>
                <a:spcPct val="100000"/>
              </a:lnSpc>
              <a:spcBef>
                <a:spcPts val="1810"/>
              </a:spcBef>
            </a:pPr>
            <a:r>
              <a:rPr dirty="0" sz="1700" spc="60">
                <a:solidFill>
                  <a:srgbClr val="272424"/>
                </a:solidFill>
                <a:latin typeface="Verdana"/>
                <a:cs typeface="Verdana"/>
              </a:rPr>
              <a:t>ML-</a:t>
            </a:r>
            <a:r>
              <a:rPr dirty="0" sz="1700" spc="-30">
                <a:solidFill>
                  <a:srgbClr val="272424"/>
                </a:solidFill>
                <a:latin typeface="Verdana"/>
                <a:cs typeface="Verdana"/>
              </a:rPr>
              <a:t>driven</a:t>
            </a:r>
            <a:r>
              <a:rPr dirty="0" sz="170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45">
                <a:solidFill>
                  <a:srgbClr val="272424"/>
                </a:solidFill>
                <a:latin typeface="Verdana"/>
                <a:cs typeface="Verdana"/>
              </a:rPr>
              <a:t>underwriting</a:t>
            </a:r>
            <a:r>
              <a:rPr dirty="0" sz="1700" spc="-7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30">
                <a:solidFill>
                  <a:srgbClr val="272424"/>
                </a:solidFill>
                <a:latin typeface="Verdana"/>
                <a:cs typeface="Verdana"/>
              </a:rPr>
              <a:t>and</a:t>
            </a:r>
            <a:r>
              <a:rPr dirty="0" sz="1700" spc="-7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35">
                <a:solidFill>
                  <a:srgbClr val="272424"/>
                </a:solidFill>
                <a:latin typeface="Verdana"/>
                <a:cs typeface="Verdana"/>
              </a:rPr>
              <a:t>risk</a:t>
            </a:r>
            <a:r>
              <a:rPr dirty="0" sz="170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10">
                <a:solidFill>
                  <a:srgbClr val="272424"/>
                </a:solidFill>
                <a:latin typeface="Verdana"/>
                <a:cs typeface="Verdana"/>
              </a:rPr>
              <a:t>scoring.</a:t>
            </a:r>
            <a:endParaRPr sz="17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7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50"/>
              </a:spcBef>
            </a:pPr>
            <a:endParaRPr sz="1700">
              <a:latin typeface="Verdana"/>
              <a:cs typeface="Verdana"/>
            </a:endParaRPr>
          </a:p>
          <a:p>
            <a:pPr marL="749935">
              <a:lnSpc>
                <a:spcPct val="100000"/>
              </a:lnSpc>
              <a:spcBef>
                <a:spcPts val="5"/>
              </a:spcBef>
            </a:pPr>
            <a:r>
              <a:rPr dirty="0" sz="2150" spc="-210" b="1">
                <a:solidFill>
                  <a:srgbClr val="272424"/>
                </a:solidFill>
                <a:latin typeface="Verdana"/>
                <a:cs typeface="Verdana"/>
              </a:rPr>
              <a:t>Fraud</a:t>
            </a:r>
            <a:r>
              <a:rPr dirty="0" sz="2150" spc="-20" b="1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2150" spc="-80" b="1">
                <a:solidFill>
                  <a:srgbClr val="272424"/>
                </a:solidFill>
                <a:latin typeface="Verdana"/>
                <a:cs typeface="Verdana"/>
              </a:rPr>
              <a:t>Detection</a:t>
            </a:r>
            <a:endParaRPr sz="2150">
              <a:latin typeface="Verdana"/>
              <a:cs typeface="Verdana"/>
            </a:endParaRPr>
          </a:p>
          <a:p>
            <a:pPr marL="749935">
              <a:lnSpc>
                <a:spcPct val="100000"/>
              </a:lnSpc>
              <a:spcBef>
                <a:spcPts val="1810"/>
              </a:spcBef>
            </a:pPr>
            <a:r>
              <a:rPr dirty="0" sz="1700" spc="-35">
                <a:solidFill>
                  <a:srgbClr val="272424"/>
                </a:solidFill>
                <a:latin typeface="Verdana"/>
                <a:cs typeface="Verdana"/>
              </a:rPr>
              <a:t>Anomaly</a:t>
            </a:r>
            <a:r>
              <a:rPr dirty="0" sz="1700" spc="-8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25">
                <a:solidFill>
                  <a:srgbClr val="272424"/>
                </a:solidFill>
                <a:latin typeface="Verdana"/>
                <a:cs typeface="Verdana"/>
              </a:rPr>
              <a:t>detection</a:t>
            </a:r>
            <a:r>
              <a:rPr dirty="0" sz="1700" spc="-12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25">
                <a:solidFill>
                  <a:srgbClr val="272424"/>
                </a:solidFill>
                <a:latin typeface="Verdana"/>
                <a:cs typeface="Verdana"/>
              </a:rPr>
              <a:t>and</a:t>
            </a:r>
            <a:r>
              <a:rPr dirty="0" sz="1700" spc="-8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20">
                <a:solidFill>
                  <a:srgbClr val="272424"/>
                </a:solidFill>
                <a:latin typeface="Verdana"/>
                <a:cs typeface="Verdana"/>
              </a:rPr>
              <a:t>predictive</a:t>
            </a:r>
            <a:r>
              <a:rPr dirty="0" sz="170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700" spc="-10">
                <a:solidFill>
                  <a:srgbClr val="272424"/>
                </a:solidFill>
                <a:latin typeface="Verdana"/>
                <a:cs typeface="Verdana"/>
              </a:rPr>
              <a:t>analytics.</a:t>
            </a:r>
            <a:endParaRPr sz="17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2685776" y="7780337"/>
            <a:ext cx="1841500" cy="374650"/>
            <a:chOff x="12685776" y="7780337"/>
            <a:chExt cx="1841500" cy="374650"/>
          </a:xfrm>
        </p:grpSpPr>
        <p:sp>
          <p:nvSpPr>
            <p:cNvPr id="3" name="object 3" descr="">
              <a:hlinkClick r:id="rId2"/>
            </p:cNvPr>
            <p:cNvSpPr/>
            <p:nvPr/>
          </p:nvSpPr>
          <p:spPr>
            <a:xfrm>
              <a:off x="12692126" y="7786687"/>
              <a:ext cx="1828800" cy="361950"/>
            </a:xfrm>
            <a:custGeom>
              <a:avLst/>
              <a:gdLst/>
              <a:ahLst/>
              <a:cxnLst/>
              <a:rect l="l" t="t" r="r" b="b"/>
              <a:pathLst>
                <a:path w="1828800" h="361950">
                  <a:moveTo>
                    <a:pt x="1828800" y="0"/>
                  </a:moveTo>
                  <a:lnTo>
                    <a:pt x="0" y="0"/>
                  </a:lnTo>
                  <a:lnTo>
                    <a:pt x="0" y="361950"/>
                  </a:lnTo>
                  <a:lnTo>
                    <a:pt x="1828800" y="361950"/>
                  </a:lnTo>
                  <a:lnTo>
                    <a:pt x="1828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>
              <a:hlinkClick r:id="rId2"/>
            </p:cNvPr>
            <p:cNvSpPr/>
            <p:nvPr/>
          </p:nvSpPr>
          <p:spPr>
            <a:xfrm>
              <a:off x="12692126" y="7786687"/>
              <a:ext cx="1828800" cy="361950"/>
            </a:xfrm>
            <a:custGeom>
              <a:avLst/>
              <a:gdLst/>
              <a:ahLst/>
              <a:cxnLst/>
              <a:rect l="l" t="t" r="r" b="b"/>
              <a:pathLst>
                <a:path w="1828800" h="361950">
                  <a:moveTo>
                    <a:pt x="0" y="361950"/>
                  </a:moveTo>
                  <a:lnTo>
                    <a:pt x="1828800" y="361950"/>
                  </a:lnTo>
                  <a:lnTo>
                    <a:pt x="1828800" y="0"/>
                  </a:lnTo>
                  <a:lnTo>
                    <a:pt x="0" y="0"/>
                  </a:lnTo>
                  <a:lnTo>
                    <a:pt x="0" y="36195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12469" y="686688"/>
            <a:ext cx="6795134" cy="6438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050" spc="-345"/>
              <a:t>Policy</a:t>
            </a:r>
            <a:r>
              <a:rPr dirty="0" sz="4050" spc="-195"/>
              <a:t> </a:t>
            </a:r>
            <a:r>
              <a:rPr dirty="0" sz="4050" spc="-450"/>
              <a:t>Management</a:t>
            </a:r>
            <a:r>
              <a:rPr dirty="0" sz="4050" spc="-290"/>
              <a:t> </a:t>
            </a:r>
            <a:r>
              <a:rPr dirty="0" sz="4050" spc="-375"/>
              <a:t>Module</a:t>
            </a:r>
            <a:endParaRPr sz="4050"/>
          </a:p>
        </p:txBody>
      </p:sp>
      <p:sp>
        <p:nvSpPr>
          <p:cNvPr id="6" name="object 6" descr=""/>
          <p:cNvSpPr txBox="1"/>
          <p:nvPr/>
        </p:nvSpPr>
        <p:spPr>
          <a:xfrm>
            <a:off x="712469" y="1780159"/>
            <a:ext cx="13016230" cy="2654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>
                <a:solidFill>
                  <a:srgbClr val="272424"/>
                </a:solidFill>
                <a:latin typeface="Verdana"/>
                <a:cs typeface="Verdana"/>
              </a:rPr>
              <a:t>The</a:t>
            </a:r>
            <a:r>
              <a:rPr dirty="0" sz="15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550">
                <a:solidFill>
                  <a:srgbClr val="272424"/>
                </a:solidFill>
                <a:latin typeface="Verdana"/>
                <a:cs typeface="Verdana"/>
              </a:rPr>
              <a:t>Policy</a:t>
            </a:r>
            <a:r>
              <a:rPr dirty="0" sz="1550" spc="-7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550" spc="-20">
                <a:solidFill>
                  <a:srgbClr val="272424"/>
                </a:solidFill>
                <a:latin typeface="Verdana"/>
                <a:cs typeface="Verdana"/>
              </a:rPr>
              <a:t>Management</a:t>
            </a:r>
            <a:r>
              <a:rPr dirty="0" sz="1550" spc="-7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550">
                <a:solidFill>
                  <a:srgbClr val="272424"/>
                </a:solidFill>
                <a:latin typeface="Verdana"/>
                <a:cs typeface="Verdana"/>
              </a:rPr>
              <a:t>Module</a:t>
            </a:r>
            <a:r>
              <a:rPr dirty="0" sz="15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550" spc="-40">
                <a:solidFill>
                  <a:srgbClr val="272424"/>
                </a:solidFill>
                <a:latin typeface="Verdana"/>
                <a:cs typeface="Verdana"/>
              </a:rPr>
              <a:t>streamlines</a:t>
            </a:r>
            <a:r>
              <a:rPr dirty="0" sz="1550" spc="-9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550" spc="-10">
                <a:solidFill>
                  <a:srgbClr val="272424"/>
                </a:solidFill>
                <a:latin typeface="Verdana"/>
                <a:cs typeface="Verdana"/>
              </a:rPr>
              <a:t>the</a:t>
            </a:r>
            <a:r>
              <a:rPr dirty="0" sz="1550" spc="-3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550" spc="-50">
                <a:solidFill>
                  <a:srgbClr val="272424"/>
                </a:solidFill>
                <a:latin typeface="Verdana"/>
                <a:cs typeface="Verdana"/>
              </a:rPr>
              <a:t>entire</a:t>
            </a:r>
            <a:r>
              <a:rPr dirty="0" sz="15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550">
                <a:solidFill>
                  <a:srgbClr val="272424"/>
                </a:solidFill>
                <a:latin typeface="Verdana"/>
                <a:cs typeface="Verdana"/>
              </a:rPr>
              <a:t>policy</a:t>
            </a:r>
            <a:r>
              <a:rPr dirty="0" sz="1550" spc="-7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550">
                <a:solidFill>
                  <a:srgbClr val="272424"/>
                </a:solidFill>
                <a:latin typeface="Verdana"/>
                <a:cs typeface="Verdana"/>
              </a:rPr>
              <a:t>lifecycle,</a:t>
            </a:r>
            <a:r>
              <a:rPr dirty="0" sz="1550" spc="-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550" spc="-50">
                <a:solidFill>
                  <a:srgbClr val="272424"/>
                </a:solidFill>
                <a:latin typeface="Verdana"/>
                <a:cs typeface="Verdana"/>
              </a:rPr>
              <a:t>from</a:t>
            </a:r>
            <a:r>
              <a:rPr dirty="0" sz="1550" spc="-4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550">
                <a:solidFill>
                  <a:srgbClr val="272424"/>
                </a:solidFill>
                <a:latin typeface="Verdana"/>
                <a:cs typeface="Verdana"/>
              </a:rPr>
              <a:t>issuance</a:t>
            </a:r>
            <a:r>
              <a:rPr dirty="0" sz="1550" spc="-30">
                <a:solidFill>
                  <a:srgbClr val="272424"/>
                </a:solidFill>
                <a:latin typeface="Verdana"/>
                <a:cs typeface="Verdana"/>
              </a:rPr>
              <a:t> to</a:t>
            </a:r>
            <a:r>
              <a:rPr dirty="0" sz="1550" spc="-5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550" spc="-65">
                <a:solidFill>
                  <a:srgbClr val="272424"/>
                </a:solidFill>
                <a:latin typeface="Verdana"/>
                <a:cs typeface="Verdana"/>
              </a:rPr>
              <a:t>termination,</a:t>
            </a:r>
            <a:r>
              <a:rPr dirty="0" sz="1550" spc="-9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550" spc="-10">
                <a:solidFill>
                  <a:srgbClr val="272424"/>
                </a:solidFill>
                <a:latin typeface="Verdana"/>
                <a:cs typeface="Verdana"/>
              </a:rPr>
              <a:t>ensuring</a:t>
            </a:r>
            <a:r>
              <a:rPr dirty="0" sz="1550">
                <a:solidFill>
                  <a:srgbClr val="272424"/>
                </a:solidFill>
                <a:latin typeface="Verdana"/>
                <a:cs typeface="Verdana"/>
              </a:rPr>
              <a:t> accuracy</a:t>
            </a:r>
            <a:r>
              <a:rPr dirty="0" sz="1550" spc="-7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550" spc="-40">
                <a:solidFill>
                  <a:srgbClr val="272424"/>
                </a:solidFill>
                <a:latin typeface="Verdana"/>
                <a:cs typeface="Verdana"/>
              </a:rPr>
              <a:t>and</a:t>
            </a:r>
            <a:r>
              <a:rPr dirty="0" sz="1550" spc="-7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550" spc="-10">
                <a:solidFill>
                  <a:srgbClr val="272424"/>
                </a:solidFill>
                <a:latin typeface="Verdana"/>
                <a:cs typeface="Verdana"/>
              </a:rPr>
              <a:t>efficiency.</a:t>
            </a:r>
            <a:endParaRPr sz="1550">
              <a:latin typeface="Verdana"/>
              <a:cs typeface="Verdana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2381250" y="2476190"/>
            <a:ext cx="9867900" cy="2606040"/>
            <a:chOff x="2381250" y="2476190"/>
            <a:chExt cx="9867900" cy="260604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81250" y="2476190"/>
              <a:ext cx="9867900" cy="2605613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991557" y="3616510"/>
              <a:ext cx="135649" cy="100852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11033752" y="3518883"/>
              <a:ext cx="31115" cy="34290"/>
            </a:xfrm>
            <a:custGeom>
              <a:avLst/>
              <a:gdLst/>
              <a:ahLst/>
              <a:cxnLst/>
              <a:rect l="l" t="t" r="r" b="b"/>
              <a:pathLst>
                <a:path w="31115" h="34289">
                  <a:moveTo>
                    <a:pt x="30589" y="0"/>
                  </a:moveTo>
                  <a:lnTo>
                    <a:pt x="1479" y="30007"/>
                  </a:lnTo>
                  <a:lnTo>
                    <a:pt x="0" y="33991"/>
                  </a:lnTo>
                </a:path>
              </a:pathLst>
            </a:custGeom>
            <a:ln w="26714">
              <a:solidFill>
                <a:srgbClr val="27242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992122" y="4029785"/>
              <a:ext cx="85679" cy="71336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812946" y="4021205"/>
              <a:ext cx="76659" cy="79927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766317" y="3616673"/>
              <a:ext cx="103906" cy="100664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10760395" y="3484635"/>
              <a:ext cx="396875" cy="603250"/>
            </a:xfrm>
            <a:custGeom>
              <a:avLst/>
              <a:gdLst/>
              <a:ahLst/>
              <a:cxnLst/>
              <a:rect l="l" t="t" r="r" b="b"/>
              <a:pathLst>
                <a:path w="396875" h="603250">
                  <a:moveTo>
                    <a:pt x="367885" y="271990"/>
                  </a:moveTo>
                  <a:lnTo>
                    <a:pt x="4522" y="271947"/>
                  </a:lnTo>
                </a:path>
                <a:path w="396875" h="603250">
                  <a:moveTo>
                    <a:pt x="340912" y="273572"/>
                  </a:moveTo>
                  <a:lnTo>
                    <a:pt x="304048" y="558507"/>
                  </a:lnTo>
                </a:path>
                <a:path w="396875" h="603250">
                  <a:moveTo>
                    <a:pt x="372407" y="219772"/>
                  </a:moveTo>
                  <a:lnTo>
                    <a:pt x="0" y="220541"/>
                  </a:lnTo>
                </a:path>
                <a:path w="396875" h="603250">
                  <a:moveTo>
                    <a:pt x="372407" y="219772"/>
                  </a:moveTo>
                  <a:lnTo>
                    <a:pt x="367885" y="271990"/>
                  </a:lnTo>
                </a:path>
                <a:path w="396875" h="603250">
                  <a:moveTo>
                    <a:pt x="4522" y="271947"/>
                  </a:moveTo>
                  <a:lnTo>
                    <a:pt x="0" y="220541"/>
                  </a:lnTo>
                </a:path>
                <a:path w="396875" h="603250">
                  <a:moveTo>
                    <a:pt x="396268" y="0"/>
                  </a:moveTo>
                  <a:lnTo>
                    <a:pt x="303944" y="34247"/>
                  </a:lnTo>
                </a:path>
                <a:path w="396875" h="603250">
                  <a:moveTo>
                    <a:pt x="245083" y="603129"/>
                  </a:moveTo>
                  <a:lnTo>
                    <a:pt x="115852" y="603140"/>
                  </a:lnTo>
                </a:path>
                <a:path w="396875" h="603250">
                  <a:moveTo>
                    <a:pt x="273355" y="68239"/>
                  </a:moveTo>
                  <a:lnTo>
                    <a:pt x="247399" y="145232"/>
                  </a:lnTo>
                </a:path>
                <a:path w="396875" h="603250">
                  <a:moveTo>
                    <a:pt x="65906" y="549927"/>
                  </a:moveTo>
                  <a:lnTo>
                    <a:pt x="31153" y="273537"/>
                  </a:lnTo>
                </a:path>
                <a:path w="396875" h="603250">
                  <a:moveTo>
                    <a:pt x="244518" y="145232"/>
                  </a:moveTo>
                  <a:lnTo>
                    <a:pt x="96470" y="145394"/>
                  </a:lnTo>
                </a:path>
              </a:pathLst>
            </a:custGeom>
            <a:ln w="26714">
              <a:solidFill>
                <a:srgbClr val="2724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8266653" y="3484626"/>
              <a:ext cx="545465" cy="603250"/>
            </a:xfrm>
            <a:custGeom>
              <a:avLst/>
              <a:gdLst/>
              <a:ahLst/>
              <a:cxnLst/>
              <a:rect l="l" t="t" r="r" b="b"/>
              <a:pathLst>
                <a:path w="545465" h="603250">
                  <a:moveTo>
                    <a:pt x="272514" y="295808"/>
                  </a:moveTo>
                  <a:lnTo>
                    <a:pt x="240137" y="263106"/>
                  </a:lnTo>
                  <a:lnTo>
                    <a:pt x="222069" y="245152"/>
                  </a:lnTo>
                  <a:lnTo>
                    <a:pt x="213472" y="237178"/>
                  </a:lnTo>
                  <a:lnTo>
                    <a:pt x="209506" y="234417"/>
                  </a:lnTo>
                  <a:lnTo>
                    <a:pt x="204326" y="234562"/>
                  </a:lnTo>
                  <a:lnTo>
                    <a:pt x="195749" y="236509"/>
                  </a:lnTo>
                  <a:lnTo>
                    <a:pt x="179990" y="241447"/>
                  </a:lnTo>
                  <a:lnTo>
                    <a:pt x="153260" y="250566"/>
                  </a:lnTo>
                </a:path>
                <a:path w="545465" h="603250">
                  <a:moveTo>
                    <a:pt x="272369" y="481657"/>
                  </a:moveTo>
                  <a:lnTo>
                    <a:pt x="252209" y="515556"/>
                  </a:lnTo>
                  <a:lnTo>
                    <a:pt x="220595" y="540852"/>
                  </a:lnTo>
                  <a:lnTo>
                    <a:pt x="170822" y="550915"/>
                  </a:lnTo>
                  <a:lnTo>
                    <a:pt x="154175" y="551323"/>
                  </a:lnTo>
                </a:path>
                <a:path w="545465" h="603250">
                  <a:moveTo>
                    <a:pt x="153260" y="250566"/>
                  </a:moveTo>
                  <a:lnTo>
                    <a:pt x="118402" y="269440"/>
                  </a:lnTo>
                  <a:lnTo>
                    <a:pt x="93164" y="304948"/>
                  </a:lnTo>
                  <a:lnTo>
                    <a:pt x="87508" y="356175"/>
                  </a:lnTo>
                  <a:lnTo>
                    <a:pt x="87482" y="385975"/>
                  </a:lnTo>
                  <a:lnTo>
                    <a:pt x="88576" y="394961"/>
                  </a:lnTo>
                  <a:lnTo>
                    <a:pt x="120411" y="422011"/>
                  </a:lnTo>
                  <a:lnTo>
                    <a:pt x="128475" y="422613"/>
                  </a:lnTo>
                  <a:lnTo>
                    <a:pt x="139923" y="422959"/>
                  </a:lnTo>
                </a:path>
                <a:path w="545465" h="603250">
                  <a:moveTo>
                    <a:pt x="415622" y="423019"/>
                  </a:moveTo>
                  <a:lnTo>
                    <a:pt x="453598" y="402723"/>
                  </a:lnTo>
                  <a:lnTo>
                    <a:pt x="456684" y="392208"/>
                  </a:lnTo>
                  <a:lnTo>
                    <a:pt x="457419" y="387309"/>
                  </a:lnTo>
                </a:path>
                <a:path w="545465" h="603250">
                  <a:moveTo>
                    <a:pt x="457410" y="331740"/>
                  </a:moveTo>
                  <a:lnTo>
                    <a:pt x="444125" y="289465"/>
                  </a:lnTo>
                  <a:lnTo>
                    <a:pt x="413837" y="260836"/>
                  </a:lnTo>
                  <a:lnTo>
                    <a:pt x="399668" y="253464"/>
                  </a:lnTo>
                  <a:lnTo>
                    <a:pt x="375773" y="244838"/>
                  </a:lnTo>
                </a:path>
                <a:path w="545465" h="603250">
                  <a:moveTo>
                    <a:pt x="375773" y="244838"/>
                  </a:moveTo>
                  <a:lnTo>
                    <a:pt x="360077" y="239543"/>
                  </a:lnTo>
                  <a:lnTo>
                    <a:pt x="349349" y="236194"/>
                  </a:lnTo>
                  <a:lnTo>
                    <a:pt x="342132" y="234363"/>
                  </a:lnTo>
                  <a:lnTo>
                    <a:pt x="336968" y="233622"/>
                  </a:lnTo>
                  <a:lnTo>
                    <a:pt x="333112" y="234887"/>
                  </a:lnTo>
                  <a:lnTo>
                    <a:pt x="330581" y="236451"/>
                  </a:lnTo>
                  <a:lnTo>
                    <a:pt x="326042" y="240341"/>
                  </a:lnTo>
                  <a:lnTo>
                    <a:pt x="272514" y="295808"/>
                  </a:lnTo>
                </a:path>
                <a:path w="545465" h="603250">
                  <a:moveTo>
                    <a:pt x="367874" y="551138"/>
                  </a:moveTo>
                  <a:lnTo>
                    <a:pt x="330257" y="544015"/>
                  </a:lnTo>
                  <a:lnTo>
                    <a:pt x="294120" y="517255"/>
                  </a:lnTo>
                  <a:lnTo>
                    <a:pt x="284202" y="504107"/>
                  </a:lnTo>
                  <a:lnTo>
                    <a:pt x="272369" y="481657"/>
                  </a:lnTo>
                </a:path>
                <a:path w="545465" h="603250">
                  <a:moveTo>
                    <a:pt x="374696" y="102145"/>
                  </a:moveTo>
                  <a:lnTo>
                    <a:pt x="366669" y="141901"/>
                  </a:lnTo>
                  <a:lnTo>
                    <a:pt x="344778" y="174370"/>
                  </a:lnTo>
                  <a:lnTo>
                    <a:pt x="312310" y="196262"/>
                  </a:lnTo>
                  <a:lnTo>
                    <a:pt x="272549" y="204289"/>
                  </a:lnTo>
                  <a:lnTo>
                    <a:pt x="232792" y="196262"/>
                  </a:lnTo>
                  <a:lnTo>
                    <a:pt x="200326" y="174370"/>
                  </a:lnTo>
                  <a:lnTo>
                    <a:pt x="178437" y="141901"/>
                  </a:lnTo>
                  <a:lnTo>
                    <a:pt x="170410" y="102144"/>
                  </a:lnTo>
                  <a:lnTo>
                    <a:pt x="178437" y="62384"/>
                  </a:lnTo>
                  <a:lnTo>
                    <a:pt x="200326" y="29916"/>
                  </a:lnTo>
                  <a:lnTo>
                    <a:pt x="232792" y="8026"/>
                  </a:lnTo>
                  <a:lnTo>
                    <a:pt x="272548" y="0"/>
                  </a:lnTo>
                  <a:lnTo>
                    <a:pt x="312310" y="8026"/>
                  </a:lnTo>
                  <a:lnTo>
                    <a:pt x="344778" y="29916"/>
                  </a:lnTo>
                  <a:lnTo>
                    <a:pt x="366669" y="62384"/>
                  </a:lnTo>
                  <a:lnTo>
                    <a:pt x="374696" y="102145"/>
                  </a:lnTo>
                  <a:close/>
                </a:path>
                <a:path w="545465" h="603250">
                  <a:moveTo>
                    <a:pt x="278499" y="423070"/>
                  </a:moveTo>
                  <a:lnTo>
                    <a:pt x="415622" y="423019"/>
                  </a:lnTo>
                </a:path>
                <a:path w="545465" h="603250">
                  <a:moveTo>
                    <a:pt x="272369" y="481657"/>
                  </a:moveTo>
                  <a:lnTo>
                    <a:pt x="271925" y="423070"/>
                  </a:lnTo>
                </a:path>
                <a:path w="545465" h="603250">
                  <a:moveTo>
                    <a:pt x="0" y="551446"/>
                  </a:moveTo>
                  <a:lnTo>
                    <a:pt x="50523" y="500123"/>
                  </a:lnTo>
                </a:path>
                <a:path w="545465" h="603250">
                  <a:moveTo>
                    <a:pt x="0" y="551446"/>
                  </a:moveTo>
                  <a:lnTo>
                    <a:pt x="49352" y="601644"/>
                  </a:lnTo>
                </a:path>
                <a:path w="545465" h="603250">
                  <a:moveTo>
                    <a:pt x="545058" y="552060"/>
                  </a:moveTo>
                  <a:lnTo>
                    <a:pt x="367874" y="551138"/>
                  </a:lnTo>
                </a:path>
                <a:path w="545465" h="603250">
                  <a:moveTo>
                    <a:pt x="493241" y="603153"/>
                  </a:moveTo>
                  <a:lnTo>
                    <a:pt x="545058" y="552060"/>
                  </a:lnTo>
                </a:path>
                <a:path w="545465" h="603250">
                  <a:moveTo>
                    <a:pt x="545058" y="552060"/>
                  </a:moveTo>
                  <a:lnTo>
                    <a:pt x="493985" y="500329"/>
                  </a:lnTo>
                </a:path>
                <a:path w="545465" h="603250">
                  <a:moveTo>
                    <a:pt x="139923" y="422959"/>
                  </a:moveTo>
                  <a:lnTo>
                    <a:pt x="278499" y="423070"/>
                  </a:lnTo>
                </a:path>
                <a:path w="545465" h="603250">
                  <a:moveTo>
                    <a:pt x="457419" y="387309"/>
                  </a:moveTo>
                  <a:lnTo>
                    <a:pt x="457410" y="331740"/>
                  </a:lnTo>
                </a:path>
                <a:path w="545465" h="603250">
                  <a:moveTo>
                    <a:pt x="154175" y="551323"/>
                  </a:moveTo>
                  <a:lnTo>
                    <a:pt x="0" y="551446"/>
                  </a:lnTo>
                </a:path>
              </a:pathLst>
            </a:custGeom>
            <a:ln w="26710">
              <a:solidFill>
                <a:srgbClr val="2724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6207774" y="3527090"/>
              <a:ext cx="156210" cy="147955"/>
            </a:xfrm>
            <a:custGeom>
              <a:avLst/>
              <a:gdLst/>
              <a:ahLst/>
              <a:cxnLst/>
              <a:rect l="l" t="t" r="r" b="b"/>
              <a:pathLst>
                <a:path w="156210" h="147954">
                  <a:moveTo>
                    <a:pt x="104002" y="98366"/>
                  </a:moveTo>
                  <a:lnTo>
                    <a:pt x="59429" y="137013"/>
                  </a:lnTo>
                  <a:lnTo>
                    <a:pt x="39275" y="147600"/>
                  </a:lnTo>
                  <a:lnTo>
                    <a:pt x="32401" y="146831"/>
                  </a:lnTo>
                  <a:lnTo>
                    <a:pt x="1376" y="118371"/>
                  </a:lnTo>
                  <a:lnTo>
                    <a:pt x="0" y="110232"/>
                  </a:lnTo>
                  <a:lnTo>
                    <a:pt x="222" y="105795"/>
                  </a:lnTo>
                  <a:lnTo>
                    <a:pt x="1222" y="101341"/>
                  </a:lnTo>
                  <a:lnTo>
                    <a:pt x="5302" y="95207"/>
                  </a:lnTo>
                  <a:lnTo>
                    <a:pt x="14881" y="84441"/>
                  </a:lnTo>
                  <a:lnTo>
                    <a:pt x="33835" y="65202"/>
                  </a:lnTo>
                  <a:lnTo>
                    <a:pt x="66043" y="33649"/>
                  </a:lnTo>
                </a:path>
                <a:path w="156210" h="147954">
                  <a:moveTo>
                    <a:pt x="66043" y="33649"/>
                  </a:moveTo>
                  <a:lnTo>
                    <a:pt x="99969" y="3757"/>
                  </a:lnTo>
                  <a:lnTo>
                    <a:pt x="109157" y="0"/>
                  </a:lnTo>
                  <a:lnTo>
                    <a:pt x="113628" y="85"/>
                  </a:lnTo>
                  <a:lnTo>
                    <a:pt x="145278" y="24305"/>
                  </a:lnTo>
                  <a:lnTo>
                    <a:pt x="153955" y="38171"/>
                  </a:lnTo>
                  <a:lnTo>
                    <a:pt x="155751" y="45421"/>
                  </a:lnTo>
                </a:path>
              </a:pathLst>
            </a:custGeom>
            <a:ln w="26714">
              <a:solidFill>
                <a:srgbClr val="27242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298325" y="3984661"/>
              <a:ext cx="94989" cy="73728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5827777" y="3528654"/>
              <a:ext cx="603250" cy="469900"/>
            </a:xfrm>
            <a:custGeom>
              <a:avLst/>
              <a:gdLst/>
              <a:ahLst/>
              <a:cxnLst/>
              <a:rect l="l" t="t" r="r" b="b"/>
              <a:pathLst>
                <a:path w="603250" h="469900">
                  <a:moveTo>
                    <a:pt x="159749" y="226244"/>
                  </a:moveTo>
                  <a:lnTo>
                    <a:pt x="150281" y="184673"/>
                  </a:lnTo>
                  <a:lnTo>
                    <a:pt x="142411" y="177026"/>
                  </a:lnTo>
                  <a:lnTo>
                    <a:pt x="137444" y="176214"/>
                  </a:lnTo>
                </a:path>
                <a:path w="603250" h="469900">
                  <a:moveTo>
                    <a:pt x="357853" y="184934"/>
                  </a:moveTo>
                  <a:lnTo>
                    <a:pt x="387620" y="208219"/>
                  </a:lnTo>
                  <a:lnTo>
                    <a:pt x="407327" y="239273"/>
                  </a:lnTo>
                  <a:lnTo>
                    <a:pt x="415709" y="275084"/>
                  </a:lnTo>
                  <a:lnTo>
                    <a:pt x="411500" y="312641"/>
                  </a:lnTo>
                </a:path>
                <a:path w="603250" h="469900">
                  <a:moveTo>
                    <a:pt x="0" y="0"/>
                  </a:moveTo>
                  <a:lnTo>
                    <a:pt x="183157" y="32854"/>
                  </a:lnTo>
                </a:path>
                <a:path w="603250" h="469900">
                  <a:moveTo>
                    <a:pt x="483998" y="96802"/>
                  </a:moveTo>
                  <a:lnTo>
                    <a:pt x="435165" y="42600"/>
                  </a:lnTo>
                </a:path>
                <a:path w="603250" h="469900">
                  <a:moveTo>
                    <a:pt x="535747" y="43857"/>
                  </a:moveTo>
                  <a:lnTo>
                    <a:pt x="485588" y="95707"/>
                  </a:lnTo>
                </a:path>
                <a:path w="603250" h="469900">
                  <a:moveTo>
                    <a:pt x="485588" y="95707"/>
                  </a:moveTo>
                  <a:lnTo>
                    <a:pt x="603159" y="223517"/>
                  </a:lnTo>
                </a:path>
                <a:path w="603250" h="469900">
                  <a:moveTo>
                    <a:pt x="183148" y="33974"/>
                  </a:moveTo>
                  <a:lnTo>
                    <a:pt x="210857" y="38781"/>
                  </a:lnTo>
                  <a:lnTo>
                    <a:pt x="234947" y="51895"/>
                  </a:lnTo>
                  <a:lnTo>
                    <a:pt x="253656" y="71950"/>
                  </a:lnTo>
                  <a:lnTo>
                    <a:pt x="265221" y="97579"/>
                  </a:lnTo>
                </a:path>
                <a:path w="603250" h="469900">
                  <a:moveTo>
                    <a:pt x="265640" y="97477"/>
                  </a:moveTo>
                  <a:lnTo>
                    <a:pt x="364804" y="382787"/>
                  </a:lnTo>
                </a:path>
                <a:path w="603250" h="469900">
                  <a:moveTo>
                    <a:pt x="364804" y="382787"/>
                  </a:moveTo>
                  <a:lnTo>
                    <a:pt x="371908" y="398017"/>
                  </a:lnTo>
                  <a:lnTo>
                    <a:pt x="383463" y="411979"/>
                  </a:lnTo>
                  <a:lnTo>
                    <a:pt x="398705" y="424166"/>
                  </a:lnTo>
                  <a:lnTo>
                    <a:pt x="416869" y="434073"/>
                  </a:lnTo>
                </a:path>
                <a:path w="603250" h="469900">
                  <a:moveTo>
                    <a:pt x="416869" y="434073"/>
                  </a:moveTo>
                  <a:lnTo>
                    <a:pt x="483905" y="469364"/>
                  </a:lnTo>
                </a:path>
              </a:pathLst>
            </a:custGeom>
            <a:ln w="26714">
              <a:solidFill>
                <a:srgbClr val="27242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974486" y="3741490"/>
              <a:ext cx="387341" cy="316900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5829279" y="3704826"/>
              <a:ext cx="136525" cy="635"/>
            </a:xfrm>
            <a:custGeom>
              <a:avLst/>
              <a:gdLst/>
              <a:ahLst/>
              <a:cxnLst/>
              <a:rect l="l" t="t" r="r" b="b"/>
              <a:pathLst>
                <a:path w="136525" h="635">
                  <a:moveTo>
                    <a:pt x="135942" y="42"/>
                  </a:moveTo>
                  <a:lnTo>
                    <a:pt x="0" y="0"/>
                  </a:lnTo>
                </a:path>
              </a:pathLst>
            </a:custGeom>
            <a:ln w="26714">
              <a:solidFill>
                <a:srgbClr val="27242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410974" y="3471172"/>
              <a:ext cx="588542" cy="630065"/>
            </a:xfrm>
            <a:prstGeom prst="rect">
              <a:avLst/>
            </a:prstGeom>
          </p:spPr>
        </p:pic>
      </p:grpSp>
      <p:sp>
        <p:nvSpPr>
          <p:cNvPr id="22" name="object 22" descr=""/>
          <p:cNvSpPr txBox="1"/>
          <p:nvPr/>
        </p:nvSpPr>
        <p:spPr>
          <a:xfrm>
            <a:off x="10340720" y="5648261"/>
            <a:ext cx="1338580" cy="752475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87960" marR="5080" indent="-175895">
              <a:lnSpc>
                <a:spcPts val="2930"/>
              </a:lnSpc>
              <a:spcBef>
                <a:spcPts val="60"/>
              </a:spcBef>
            </a:pPr>
            <a:r>
              <a:rPr dirty="0" sz="2300" spc="-265" b="1">
                <a:solidFill>
                  <a:srgbClr val="272424"/>
                </a:solidFill>
                <a:latin typeface="Verdana"/>
                <a:cs typeface="Verdana"/>
              </a:rPr>
              <a:t>Renew</a:t>
            </a:r>
            <a:r>
              <a:rPr dirty="0" sz="2300" spc="-125" b="1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2300" spc="-250" b="1">
                <a:solidFill>
                  <a:srgbClr val="272424"/>
                </a:solidFill>
                <a:latin typeface="Verdana"/>
                <a:cs typeface="Verdana"/>
              </a:rPr>
              <a:t>or </a:t>
            </a:r>
            <a:r>
              <a:rPr dirty="0" sz="2300" spc="-10" b="1">
                <a:solidFill>
                  <a:srgbClr val="272424"/>
                </a:solidFill>
                <a:latin typeface="Verdana"/>
                <a:cs typeface="Verdana"/>
              </a:rPr>
              <a:t>Cancel</a:t>
            </a:r>
            <a:endParaRPr sz="2300">
              <a:latin typeface="Verdana"/>
              <a:cs typeface="Verdana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7971790" y="5648261"/>
            <a:ext cx="1221105" cy="752475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 marR="5080" indent="7620">
              <a:lnSpc>
                <a:spcPts val="2930"/>
              </a:lnSpc>
              <a:spcBef>
                <a:spcPts val="60"/>
              </a:spcBef>
            </a:pPr>
            <a:r>
              <a:rPr dirty="0" sz="2300" spc="-275" b="1">
                <a:solidFill>
                  <a:srgbClr val="272424"/>
                </a:solidFill>
                <a:latin typeface="Verdana"/>
                <a:cs typeface="Verdana"/>
              </a:rPr>
              <a:t>Renewal </a:t>
            </a:r>
            <a:r>
              <a:rPr dirty="0" sz="2300" spc="-204" b="1">
                <a:solidFill>
                  <a:srgbClr val="272424"/>
                </a:solidFill>
                <a:latin typeface="Verdana"/>
                <a:cs typeface="Verdana"/>
              </a:rPr>
              <a:t>Decision</a:t>
            </a:r>
            <a:endParaRPr sz="2300">
              <a:latin typeface="Verdana"/>
              <a:cs typeface="Verdana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5400421" y="5648261"/>
            <a:ext cx="1540510" cy="752475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60020" marR="5080" indent="-147955">
              <a:lnSpc>
                <a:spcPts val="2930"/>
              </a:lnSpc>
              <a:spcBef>
                <a:spcPts val="60"/>
              </a:spcBef>
            </a:pPr>
            <a:r>
              <a:rPr dirty="0" sz="2300" spc="-280" b="1">
                <a:solidFill>
                  <a:srgbClr val="272424"/>
                </a:solidFill>
                <a:latin typeface="Verdana"/>
                <a:cs typeface="Verdana"/>
              </a:rPr>
              <a:t>Automated </a:t>
            </a:r>
            <a:r>
              <a:rPr dirty="0" sz="2300" spc="-85" b="1">
                <a:solidFill>
                  <a:srgbClr val="272424"/>
                </a:solidFill>
                <a:latin typeface="Verdana"/>
                <a:cs typeface="Verdana"/>
              </a:rPr>
              <a:t>Tracking</a:t>
            </a:r>
            <a:endParaRPr sz="2300">
              <a:latin typeface="Verdana"/>
              <a:cs typeface="Verdana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3103245" y="5648261"/>
            <a:ext cx="1200150" cy="752475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 marR="5080" indent="166370">
              <a:lnSpc>
                <a:spcPts val="2930"/>
              </a:lnSpc>
              <a:spcBef>
                <a:spcPts val="60"/>
              </a:spcBef>
            </a:pPr>
            <a:r>
              <a:rPr dirty="0" sz="2300" spc="-30" b="1">
                <a:solidFill>
                  <a:srgbClr val="272424"/>
                </a:solidFill>
                <a:latin typeface="Verdana"/>
                <a:cs typeface="Verdana"/>
              </a:rPr>
              <a:t>Policy </a:t>
            </a:r>
            <a:r>
              <a:rPr dirty="0" sz="2300" spc="-220" b="1">
                <a:solidFill>
                  <a:srgbClr val="272424"/>
                </a:solidFill>
                <a:latin typeface="Verdana"/>
                <a:cs typeface="Verdana"/>
              </a:rPr>
              <a:t>Creation</a:t>
            </a:r>
            <a:endParaRPr sz="2300">
              <a:latin typeface="Verdana"/>
              <a:cs typeface="Verdana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712469" y="7219315"/>
            <a:ext cx="12804140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>
                <a:solidFill>
                  <a:srgbClr val="272424"/>
                </a:solidFill>
                <a:latin typeface="Verdana"/>
                <a:cs typeface="Verdana"/>
              </a:rPr>
              <a:t>This</a:t>
            </a:r>
            <a:r>
              <a:rPr dirty="0" sz="1550" spc="-9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550" spc="-50">
                <a:solidFill>
                  <a:srgbClr val="272424"/>
                </a:solidFill>
                <a:latin typeface="Verdana"/>
                <a:cs typeface="Verdana"/>
              </a:rPr>
              <a:t>automation</a:t>
            </a:r>
            <a:r>
              <a:rPr dirty="0" sz="1550" spc="-4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550">
                <a:solidFill>
                  <a:srgbClr val="272424"/>
                </a:solidFill>
                <a:latin typeface="Verdana"/>
                <a:cs typeface="Verdana"/>
              </a:rPr>
              <a:t>reduces</a:t>
            </a:r>
            <a:r>
              <a:rPr dirty="0" sz="1550" spc="-9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550" spc="-45">
                <a:solidFill>
                  <a:srgbClr val="272424"/>
                </a:solidFill>
                <a:latin typeface="Verdana"/>
                <a:cs typeface="Verdana"/>
              </a:rPr>
              <a:t>administrative</a:t>
            </a:r>
            <a:r>
              <a:rPr dirty="0" sz="1550" spc="-3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550" spc="-35">
                <a:solidFill>
                  <a:srgbClr val="272424"/>
                </a:solidFill>
                <a:latin typeface="Verdana"/>
                <a:cs typeface="Verdana"/>
              </a:rPr>
              <a:t>burden,</a:t>
            </a:r>
            <a:r>
              <a:rPr dirty="0" sz="1550" spc="-9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550" spc="-30">
                <a:solidFill>
                  <a:srgbClr val="272424"/>
                </a:solidFill>
                <a:latin typeface="Verdana"/>
                <a:cs typeface="Verdana"/>
              </a:rPr>
              <a:t>improves</a:t>
            </a:r>
            <a:r>
              <a:rPr dirty="0" sz="1550" spc="-9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550">
                <a:solidFill>
                  <a:srgbClr val="272424"/>
                </a:solidFill>
                <a:latin typeface="Verdana"/>
                <a:cs typeface="Verdana"/>
              </a:rPr>
              <a:t>processing</a:t>
            </a:r>
            <a:r>
              <a:rPr dirty="0" sz="1550" spc="-8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550" spc="-55">
                <a:solidFill>
                  <a:srgbClr val="272424"/>
                </a:solidFill>
                <a:latin typeface="Verdana"/>
                <a:cs typeface="Verdana"/>
              </a:rPr>
              <a:t>times,</a:t>
            </a:r>
            <a:r>
              <a:rPr dirty="0" sz="1550" spc="-9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550">
                <a:solidFill>
                  <a:srgbClr val="272424"/>
                </a:solidFill>
                <a:latin typeface="Verdana"/>
                <a:cs typeface="Verdana"/>
              </a:rPr>
              <a:t>and</a:t>
            </a:r>
            <a:r>
              <a:rPr dirty="0" sz="1550" spc="-8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550" spc="-40">
                <a:solidFill>
                  <a:srgbClr val="272424"/>
                </a:solidFill>
                <a:latin typeface="Verdana"/>
                <a:cs typeface="Verdana"/>
              </a:rPr>
              <a:t>minimizes</a:t>
            </a:r>
            <a:r>
              <a:rPr dirty="0" sz="1550" spc="-9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550" spc="-25">
                <a:solidFill>
                  <a:srgbClr val="272424"/>
                </a:solidFill>
                <a:latin typeface="Verdana"/>
                <a:cs typeface="Verdana"/>
              </a:rPr>
              <a:t>errors</a:t>
            </a:r>
            <a:r>
              <a:rPr dirty="0" sz="1550" spc="-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550" spc="-10">
                <a:solidFill>
                  <a:srgbClr val="272424"/>
                </a:solidFill>
                <a:latin typeface="Verdana"/>
                <a:cs typeface="Verdana"/>
              </a:rPr>
              <a:t>associated</a:t>
            </a:r>
            <a:r>
              <a:rPr dirty="0" sz="1550" spc="-7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550" spc="-35">
                <a:solidFill>
                  <a:srgbClr val="272424"/>
                </a:solidFill>
                <a:latin typeface="Verdana"/>
                <a:cs typeface="Verdana"/>
              </a:rPr>
              <a:t>with</a:t>
            </a:r>
            <a:r>
              <a:rPr dirty="0" sz="15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550" spc="-50">
                <a:solidFill>
                  <a:srgbClr val="272424"/>
                </a:solidFill>
                <a:latin typeface="Verdana"/>
                <a:cs typeface="Verdana"/>
              </a:rPr>
              <a:t>manual</a:t>
            </a:r>
            <a:r>
              <a:rPr dirty="0" sz="1550" spc="-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550" spc="-45">
                <a:solidFill>
                  <a:srgbClr val="272424"/>
                </a:solidFill>
                <a:latin typeface="Verdana"/>
                <a:cs typeface="Verdana"/>
              </a:rPr>
              <a:t>data</a:t>
            </a:r>
            <a:r>
              <a:rPr dirty="0" sz="1550" spc="-7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550" spc="-45">
                <a:solidFill>
                  <a:srgbClr val="272424"/>
                </a:solidFill>
                <a:latin typeface="Verdana"/>
                <a:cs typeface="Verdana"/>
              </a:rPr>
              <a:t>en</a:t>
            </a:r>
            <a:r>
              <a:rPr dirty="0" sz="1550" spc="-33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550" spc="-20">
                <a:solidFill>
                  <a:srgbClr val="272424"/>
                </a:solidFill>
                <a:latin typeface="Verdana"/>
                <a:cs typeface="Verdana"/>
              </a:rPr>
              <a:t>try.</a:t>
            </a:r>
            <a:endParaRPr sz="15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0" y="0"/>
            <a:ext cx="5486400" cy="82295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70890" y="581406"/>
            <a:ext cx="6457315" cy="70104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-480"/>
              <a:t>Risk</a:t>
            </a:r>
            <a:r>
              <a:rPr dirty="0" spc="-250"/>
              <a:t> </a:t>
            </a:r>
            <a:r>
              <a:rPr dirty="0" spc="-430"/>
              <a:t>Assessment</a:t>
            </a:r>
            <a:r>
              <a:rPr dirty="0" spc="-305"/>
              <a:t> </a:t>
            </a:r>
            <a:r>
              <a:rPr dirty="0" spc="-455"/>
              <a:t>Engine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1050" y="2971800"/>
            <a:ext cx="1123950" cy="141922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1050" y="4619625"/>
            <a:ext cx="1123950" cy="111442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81050" y="5962650"/>
            <a:ext cx="1123950" cy="1409700"/>
          </a:xfrm>
          <a:prstGeom prst="rect">
            <a:avLst/>
          </a:prstGeom>
        </p:spPr>
      </p:pic>
      <p:sp>
        <p:nvSpPr>
          <p:cNvPr id="7" name="object 7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algn="just" marL="12700" marR="121920">
              <a:lnSpc>
                <a:spcPct val="138000"/>
              </a:lnSpc>
              <a:spcBef>
                <a:spcPts val="55"/>
              </a:spcBef>
            </a:pPr>
            <a:r>
              <a:rPr dirty="0" spc="-25"/>
              <a:t>Leveraging</a:t>
            </a:r>
            <a:r>
              <a:rPr dirty="0" spc="-125"/>
              <a:t> </a:t>
            </a:r>
            <a:r>
              <a:rPr dirty="0"/>
              <a:t>advanced</a:t>
            </a:r>
            <a:r>
              <a:rPr dirty="0" spc="-114"/>
              <a:t> </a:t>
            </a:r>
            <a:r>
              <a:rPr dirty="0"/>
              <a:t>Machine</a:t>
            </a:r>
            <a:r>
              <a:rPr dirty="0" spc="-95"/>
              <a:t> </a:t>
            </a:r>
            <a:r>
              <a:rPr dirty="0" spc="-40"/>
              <a:t>Learning,</a:t>
            </a:r>
            <a:r>
              <a:rPr dirty="0" spc="-30"/>
              <a:t> </a:t>
            </a:r>
            <a:r>
              <a:rPr dirty="0" spc="-85"/>
              <a:t>the</a:t>
            </a:r>
            <a:r>
              <a:rPr dirty="0" spc="-65"/>
              <a:t> </a:t>
            </a:r>
            <a:r>
              <a:rPr dirty="0" spc="-20"/>
              <a:t>Risk</a:t>
            </a:r>
            <a:r>
              <a:rPr dirty="0" spc="-30"/>
              <a:t> </a:t>
            </a:r>
            <a:r>
              <a:rPr dirty="0" spc="-20"/>
              <a:t>Assessment</a:t>
            </a:r>
            <a:r>
              <a:rPr dirty="0" spc="-100"/>
              <a:t> </a:t>
            </a:r>
            <a:r>
              <a:rPr dirty="0" spc="-10"/>
              <a:t>Engine provides</a:t>
            </a:r>
            <a:r>
              <a:rPr dirty="0" spc="-125"/>
              <a:t> </a:t>
            </a:r>
            <a:r>
              <a:rPr dirty="0"/>
              <a:t>precise</a:t>
            </a:r>
            <a:r>
              <a:rPr dirty="0" spc="-100"/>
              <a:t> </a:t>
            </a:r>
            <a:r>
              <a:rPr dirty="0" spc="-40"/>
              <a:t>underwriting</a:t>
            </a:r>
            <a:r>
              <a:rPr dirty="0" spc="-110"/>
              <a:t> </a:t>
            </a:r>
            <a:r>
              <a:rPr dirty="0" spc="-25"/>
              <a:t>and</a:t>
            </a:r>
            <a:r>
              <a:rPr dirty="0" spc="-70"/>
              <a:t> </a:t>
            </a:r>
            <a:r>
              <a:rPr dirty="0" spc="-25"/>
              <a:t>dynamic</a:t>
            </a:r>
            <a:r>
              <a:rPr dirty="0" spc="-80"/>
              <a:t> </a:t>
            </a:r>
            <a:r>
              <a:rPr dirty="0" spc="-45"/>
              <a:t>risk</a:t>
            </a:r>
            <a:r>
              <a:rPr dirty="0" spc="-105"/>
              <a:t> </a:t>
            </a:r>
            <a:r>
              <a:rPr dirty="0" spc="-25"/>
              <a:t>scoring,</a:t>
            </a:r>
            <a:r>
              <a:rPr dirty="0" spc="-110"/>
              <a:t> </a:t>
            </a:r>
            <a:r>
              <a:rPr dirty="0" spc="-10"/>
              <a:t>transforming complex</a:t>
            </a:r>
            <a:r>
              <a:rPr dirty="0" spc="-105"/>
              <a:t> </a:t>
            </a:r>
            <a:r>
              <a:rPr dirty="0"/>
              <a:t>decisions</a:t>
            </a:r>
            <a:r>
              <a:rPr dirty="0" spc="-150"/>
              <a:t> </a:t>
            </a:r>
            <a:r>
              <a:rPr dirty="0" spc="-45"/>
              <a:t>into</a:t>
            </a:r>
            <a:r>
              <a:rPr dirty="0" spc="-120"/>
              <a:t> </a:t>
            </a:r>
            <a:r>
              <a:rPr dirty="0" spc="-55"/>
              <a:t>automated</a:t>
            </a:r>
            <a:r>
              <a:rPr dirty="0" spc="-65"/>
              <a:t> </a:t>
            </a:r>
            <a:r>
              <a:rPr dirty="0" spc="-10"/>
              <a:t>insights.</a:t>
            </a:r>
          </a:p>
          <a:p>
            <a:pPr>
              <a:lnSpc>
                <a:spcPct val="100000"/>
              </a:lnSpc>
              <a:spcBef>
                <a:spcPts val="175"/>
              </a:spcBef>
            </a:pPr>
          </a:p>
          <a:p>
            <a:pPr marL="1351915">
              <a:lnSpc>
                <a:spcPct val="100000"/>
              </a:lnSpc>
            </a:pPr>
            <a:r>
              <a:rPr dirty="0" sz="2150" spc="-85" b="1">
                <a:latin typeface="Verdana"/>
                <a:cs typeface="Verdana"/>
              </a:rPr>
              <a:t>ML-</a:t>
            </a:r>
            <a:r>
              <a:rPr dirty="0" sz="2150" spc="-180" b="1">
                <a:latin typeface="Verdana"/>
                <a:cs typeface="Verdana"/>
              </a:rPr>
              <a:t>Based</a:t>
            </a:r>
            <a:r>
              <a:rPr dirty="0" sz="2150" spc="10" b="1">
                <a:latin typeface="Verdana"/>
                <a:cs typeface="Verdana"/>
              </a:rPr>
              <a:t> </a:t>
            </a:r>
            <a:r>
              <a:rPr dirty="0" sz="2150" spc="-135" b="1">
                <a:latin typeface="Verdana"/>
                <a:cs typeface="Verdana"/>
              </a:rPr>
              <a:t>Underwriting</a:t>
            </a:r>
            <a:endParaRPr sz="2150">
              <a:latin typeface="Verdana"/>
              <a:cs typeface="Verdana"/>
            </a:endParaRPr>
          </a:p>
          <a:p>
            <a:pPr marL="1351915">
              <a:lnSpc>
                <a:spcPct val="100000"/>
              </a:lnSpc>
              <a:spcBef>
                <a:spcPts val="1670"/>
              </a:spcBef>
            </a:pPr>
            <a:r>
              <a:rPr dirty="0" spc="-40"/>
              <a:t>Automated</a:t>
            </a:r>
            <a:r>
              <a:rPr dirty="0" spc="-60"/>
              <a:t> </a:t>
            </a:r>
            <a:r>
              <a:rPr dirty="0" spc="-30"/>
              <a:t>analysis</a:t>
            </a:r>
            <a:r>
              <a:rPr dirty="0" spc="-14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 spc="-50"/>
              <a:t>vast</a:t>
            </a:r>
            <a:r>
              <a:rPr dirty="0" spc="-95"/>
              <a:t> </a:t>
            </a:r>
            <a:r>
              <a:rPr dirty="0" spc="-30"/>
              <a:t>datasets</a:t>
            </a:r>
            <a:r>
              <a:rPr dirty="0" spc="-65"/>
              <a:t> </a:t>
            </a:r>
            <a:r>
              <a:rPr dirty="0" spc="-50"/>
              <a:t>to</a:t>
            </a:r>
            <a:r>
              <a:rPr dirty="0" spc="-114"/>
              <a:t> </a:t>
            </a:r>
            <a:r>
              <a:rPr dirty="0" spc="-40"/>
              <a:t>determine</a:t>
            </a:r>
            <a:r>
              <a:rPr dirty="0" spc="-85"/>
              <a:t> </a:t>
            </a:r>
            <a:r>
              <a:rPr dirty="0" spc="-20"/>
              <a:t>risk</a:t>
            </a:r>
          </a:p>
          <a:p>
            <a:pPr marL="1351915">
              <a:lnSpc>
                <a:spcPct val="100000"/>
              </a:lnSpc>
              <a:spcBef>
                <a:spcPts val="735"/>
              </a:spcBef>
            </a:pPr>
            <a:r>
              <a:rPr dirty="0" spc="-10"/>
              <a:t>profiles.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</a:p>
          <a:p>
            <a:pPr marL="1351915">
              <a:lnSpc>
                <a:spcPct val="100000"/>
              </a:lnSpc>
            </a:pPr>
            <a:r>
              <a:rPr dirty="0" sz="2150" spc="-215" b="1">
                <a:latin typeface="Verdana"/>
                <a:cs typeface="Verdana"/>
              </a:rPr>
              <a:t>Dynamic</a:t>
            </a:r>
            <a:r>
              <a:rPr dirty="0" sz="2150" b="1">
                <a:latin typeface="Verdana"/>
                <a:cs typeface="Verdana"/>
              </a:rPr>
              <a:t> </a:t>
            </a:r>
            <a:r>
              <a:rPr dirty="0" sz="2150" spc="-225" b="1">
                <a:latin typeface="Verdana"/>
                <a:cs typeface="Verdana"/>
              </a:rPr>
              <a:t>Risk</a:t>
            </a:r>
            <a:r>
              <a:rPr dirty="0" sz="2150" spc="-35" b="1">
                <a:latin typeface="Verdana"/>
                <a:cs typeface="Verdana"/>
              </a:rPr>
              <a:t> </a:t>
            </a:r>
            <a:r>
              <a:rPr dirty="0" sz="2150" spc="-30" b="1">
                <a:latin typeface="Verdana"/>
                <a:cs typeface="Verdana"/>
              </a:rPr>
              <a:t>Scoring</a:t>
            </a:r>
            <a:endParaRPr sz="2150">
              <a:latin typeface="Verdana"/>
              <a:cs typeface="Verdana"/>
            </a:endParaRPr>
          </a:p>
          <a:p>
            <a:pPr marL="1351915">
              <a:lnSpc>
                <a:spcPct val="100000"/>
              </a:lnSpc>
              <a:spcBef>
                <a:spcPts val="1664"/>
              </a:spcBef>
            </a:pPr>
            <a:r>
              <a:rPr dirty="0" spc="-35"/>
              <a:t>Real-</a:t>
            </a:r>
            <a:r>
              <a:rPr dirty="0" spc="-75"/>
              <a:t>time</a:t>
            </a:r>
            <a:r>
              <a:rPr dirty="0" spc="-80"/>
              <a:t> </a:t>
            </a:r>
            <a:r>
              <a:rPr dirty="0" spc="-45"/>
              <a:t>evaluation</a:t>
            </a:r>
            <a:r>
              <a:rPr dirty="0" spc="-90"/>
              <a:t> </a:t>
            </a:r>
            <a:r>
              <a:rPr dirty="0" spc="-20"/>
              <a:t>and</a:t>
            </a:r>
            <a:r>
              <a:rPr dirty="0" spc="-50"/>
              <a:t> </a:t>
            </a:r>
            <a:r>
              <a:rPr dirty="0" spc="-65"/>
              <a:t>adjustment</a:t>
            </a:r>
            <a:r>
              <a:rPr dirty="0" spc="-80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policy</a:t>
            </a:r>
            <a:r>
              <a:rPr dirty="0" spc="-110"/>
              <a:t> </a:t>
            </a:r>
            <a:r>
              <a:rPr dirty="0" spc="-40"/>
              <a:t>risk</a:t>
            </a:r>
            <a:r>
              <a:rPr dirty="0" spc="-95"/>
              <a:t> </a:t>
            </a:r>
            <a:r>
              <a:rPr dirty="0" spc="-10"/>
              <a:t>scores.</a:t>
            </a: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  <a:spcBef>
                <a:spcPts val="165"/>
              </a:spcBef>
            </a:pPr>
          </a:p>
          <a:p>
            <a:pPr marL="1351915">
              <a:lnSpc>
                <a:spcPct val="100000"/>
              </a:lnSpc>
            </a:pPr>
            <a:r>
              <a:rPr dirty="0" sz="2150" spc="-229" b="1">
                <a:latin typeface="Verdana"/>
                <a:cs typeface="Verdana"/>
              </a:rPr>
              <a:t>Automated</a:t>
            </a:r>
            <a:r>
              <a:rPr dirty="0" sz="2150" spc="-45" b="1">
                <a:latin typeface="Verdana"/>
                <a:cs typeface="Verdana"/>
              </a:rPr>
              <a:t> </a:t>
            </a:r>
            <a:r>
              <a:rPr dirty="0" sz="2150" spc="-170" b="1">
                <a:latin typeface="Verdana"/>
                <a:cs typeface="Verdana"/>
              </a:rPr>
              <a:t>Decision</a:t>
            </a:r>
            <a:r>
              <a:rPr dirty="0" sz="2150" b="1">
                <a:latin typeface="Verdana"/>
                <a:cs typeface="Verdana"/>
              </a:rPr>
              <a:t> </a:t>
            </a:r>
            <a:r>
              <a:rPr dirty="0" sz="2150" spc="-40" b="1">
                <a:latin typeface="Verdana"/>
                <a:cs typeface="Verdana"/>
              </a:rPr>
              <a:t>Support</a:t>
            </a:r>
            <a:endParaRPr sz="2150">
              <a:latin typeface="Verdana"/>
              <a:cs typeface="Verdana"/>
            </a:endParaRPr>
          </a:p>
          <a:p>
            <a:pPr marL="1351915" marR="793750">
              <a:lnSpc>
                <a:spcPct val="136200"/>
              </a:lnSpc>
              <a:spcBef>
                <a:spcPts val="930"/>
              </a:spcBef>
            </a:pPr>
            <a:r>
              <a:rPr dirty="0" spc="-90"/>
              <a:t>Instant </a:t>
            </a:r>
            <a:r>
              <a:rPr dirty="0" spc="-35"/>
              <a:t>recommendations</a:t>
            </a:r>
            <a:r>
              <a:rPr dirty="0" spc="-55"/>
              <a:t> </a:t>
            </a:r>
            <a:r>
              <a:rPr dirty="0"/>
              <a:t>for</a:t>
            </a:r>
            <a:r>
              <a:rPr dirty="0" spc="-95"/>
              <a:t> </a:t>
            </a:r>
            <a:r>
              <a:rPr dirty="0"/>
              <a:t>policy</a:t>
            </a:r>
            <a:r>
              <a:rPr dirty="0" spc="-40"/>
              <a:t> </a:t>
            </a:r>
            <a:r>
              <a:rPr dirty="0"/>
              <a:t>acceptance</a:t>
            </a:r>
            <a:r>
              <a:rPr dirty="0" spc="-70"/>
              <a:t> </a:t>
            </a:r>
            <a:r>
              <a:rPr dirty="0" spc="-25"/>
              <a:t>or </a:t>
            </a:r>
            <a:r>
              <a:rPr dirty="0" spc="-10"/>
              <a:t>rejection.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2685776" y="7780337"/>
            <a:ext cx="1841500" cy="374650"/>
            <a:chOff x="12685776" y="7780337"/>
            <a:chExt cx="1841500" cy="374650"/>
          </a:xfrm>
        </p:grpSpPr>
        <p:sp>
          <p:nvSpPr>
            <p:cNvPr id="3" name="object 3" descr="">
              <a:hlinkClick r:id="rId2"/>
            </p:cNvPr>
            <p:cNvSpPr/>
            <p:nvPr/>
          </p:nvSpPr>
          <p:spPr>
            <a:xfrm>
              <a:off x="12692126" y="7786687"/>
              <a:ext cx="1828800" cy="361950"/>
            </a:xfrm>
            <a:custGeom>
              <a:avLst/>
              <a:gdLst/>
              <a:ahLst/>
              <a:cxnLst/>
              <a:rect l="l" t="t" r="r" b="b"/>
              <a:pathLst>
                <a:path w="1828800" h="361950">
                  <a:moveTo>
                    <a:pt x="1828800" y="0"/>
                  </a:moveTo>
                  <a:lnTo>
                    <a:pt x="0" y="0"/>
                  </a:lnTo>
                  <a:lnTo>
                    <a:pt x="0" y="361950"/>
                  </a:lnTo>
                  <a:lnTo>
                    <a:pt x="1828800" y="361950"/>
                  </a:lnTo>
                  <a:lnTo>
                    <a:pt x="1828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>
              <a:hlinkClick r:id="rId2"/>
            </p:cNvPr>
            <p:cNvSpPr/>
            <p:nvPr/>
          </p:nvSpPr>
          <p:spPr>
            <a:xfrm>
              <a:off x="12692126" y="7786687"/>
              <a:ext cx="1828800" cy="361950"/>
            </a:xfrm>
            <a:custGeom>
              <a:avLst/>
              <a:gdLst/>
              <a:ahLst/>
              <a:cxnLst/>
              <a:rect l="l" t="t" r="r" b="b"/>
              <a:pathLst>
                <a:path w="1828800" h="361950">
                  <a:moveTo>
                    <a:pt x="0" y="361950"/>
                  </a:moveTo>
                  <a:lnTo>
                    <a:pt x="1828800" y="361950"/>
                  </a:lnTo>
                  <a:lnTo>
                    <a:pt x="1828800" y="0"/>
                  </a:lnTo>
                  <a:lnTo>
                    <a:pt x="0" y="0"/>
                  </a:lnTo>
                  <a:lnTo>
                    <a:pt x="0" y="36195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00405" y="519048"/>
            <a:ext cx="5804535" cy="63246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950" spc="-380"/>
              <a:t>Fraud</a:t>
            </a:r>
            <a:r>
              <a:rPr dirty="0" sz="3950" spc="-195"/>
              <a:t> </a:t>
            </a:r>
            <a:r>
              <a:rPr dirty="0" sz="3950" spc="-360"/>
              <a:t>Detection</a:t>
            </a:r>
            <a:r>
              <a:rPr dirty="0" sz="3950" spc="-170"/>
              <a:t> </a:t>
            </a:r>
            <a:r>
              <a:rPr dirty="0" sz="3950" spc="-405"/>
              <a:t>System</a:t>
            </a:r>
            <a:endParaRPr sz="3950"/>
          </a:p>
        </p:txBody>
      </p:sp>
      <p:sp>
        <p:nvSpPr>
          <p:cNvPr id="6" name="object 6" descr=""/>
          <p:cNvSpPr txBox="1"/>
          <p:nvPr/>
        </p:nvSpPr>
        <p:spPr>
          <a:xfrm>
            <a:off x="700405" y="1514919"/>
            <a:ext cx="12580620" cy="6356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9099"/>
              </a:lnSpc>
              <a:spcBef>
                <a:spcPts val="95"/>
              </a:spcBef>
            </a:pPr>
            <a:r>
              <a:rPr dirty="0" sz="1550" spc="-40">
                <a:solidFill>
                  <a:srgbClr val="272424"/>
                </a:solidFill>
                <a:latin typeface="Verdana"/>
                <a:cs typeface="Verdana"/>
              </a:rPr>
              <a:t>Our</a:t>
            </a:r>
            <a:r>
              <a:rPr dirty="0" sz="1550" spc="-8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550" spc="-20">
                <a:solidFill>
                  <a:srgbClr val="272424"/>
                </a:solidFill>
                <a:latin typeface="Verdana"/>
                <a:cs typeface="Verdana"/>
              </a:rPr>
              <a:t>Fraud</a:t>
            </a:r>
            <a:r>
              <a:rPr dirty="0" sz="1550" spc="-8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550" spc="-20">
                <a:solidFill>
                  <a:srgbClr val="272424"/>
                </a:solidFill>
                <a:latin typeface="Verdana"/>
                <a:cs typeface="Verdana"/>
              </a:rPr>
              <a:t>Detection</a:t>
            </a:r>
            <a:r>
              <a:rPr dirty="0" sz="1550" spc="-50">
                <a:solidFill>
                  <a:srgbClr val="272424"/>
                </a:solidFill>
                <a:latin typeface="Verdana"/>
                <a:cs typeface="Verdana"/>
              </a:rPr>
              <a:t> System</a:t>
            </a:r>
            <a:r>
              <a:rPr dirty="0" sz="1550" spc="-4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550" spc="-25">
                <a:solidFill>
                  <a:srgbClr val="272424"/>
                </a:solidFill>
                <a:latin typeface="Verdana"/>
                <a:cs typeface="Verdana"/>
              </a:rPr>
              <a:t>employs</a:t>
            </a:r>
            <a:r>
              <a:rPr dirty="0" sz="1550" spc="-9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550" spc="-20">
                <a:solidFill>
                  <a:srgbClr val="272424"/>
                </a:solidFill>
                <a:latin typeface="Verdana"/>
                <a:cs typeface="Verdana"/>
              </a:rPr>
              <a:t>cutting-</a:t>
            </a:r>
            <a:r>
              <a:rPr dirty="0" sz="1550">
                <a:solidFill>
                  <a:srgbClr val="272424"/>
                </a:solidFill>
                <a:latin typeface="Verdana"/>
                <a:cs typeface="Verdana"/>
              </a:rPr>
              <a:t>edge</a:t>
            </a:r>
            <a:r>
              <a:rPr dirty="0" sz="15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550" spc="-90">
                <a:solidFill>
                  <a:srgbClr val="272424"/>
                </a:solidFill>
                <a:latin typeface="Verdana"/>
                <a:cs typeface="Verdana"/>
              </a:rPr>
              <a:t>AI</a:t>
            </a:r>
            <a:r>
              <a:rPr dirty="0" sz="1550" spc="-6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550" spc="-55">
                <a:solidFill>
                  <a:srgbClr val="272424"/>
                </a:solidFill>
                <a:latin typeface="Verdana"/>
                <a:cs typeface="Verdana"/>
              </a:rPr>
              <a:t>to</a:t>
            </a:r>
            <a:r>
              <a:rPr dirty="0" sz="1550" spc="-13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550" spc="-20">
                <a:solidFill>
                  <a:srgbClr val="272424"/>
                </a:solidFill>
                <a:latin typeface="Verdana"/>
                <a:cs typeface="Verdana"/>
              </a:rPr>
              <a:t>identify</a:t>
            </a:r>
            <a:r>
              <a:rPr dirty="0" sz="1550" spc="-7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550">
                <a:solidFill>
                  <a:srgbClr val="272424"/>
                </a:solidFill>
                <a:latin typeface="Verdana"/>
                <a:cs typeface="Verdana"/>
              </a:rPr>
              <a:t>suspicious</a:t>
            </a:r>
            <a:r>
              <a:rPr dirty="0" sz="1550" spc="-9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550" spc="-35">
                <a:solidFill>
                  <a:srgbClr val="272424"/>
                </a:solidFill>
                <a:latin typeface="Verdana"/>
                <a:cs typeface="Verdana"/>
              </a:rPr>
              <a:t>patterns</a:t>
            </a:r>
            <a:r>
              <a:rPr dirty="0" sz="1550" spc="-9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550">
                <a:solidFill>
                  <a:srgbClr val="272424"/>
                </a:solidFill>
                <a:latin typeface="Verdana"/>
                <a:cs typeface="Verdana"/>
              </a:rPr>
              <a:t>and</a:t>
            </a:r>
            <a:r>
              <a:rPr dirty="0" sz="1550" spc="-8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550" spc="-45">
                <a:solidFill>
                  <a:srgbClr val="272424"/>
                </a:solidFill>
                <a:latin typeface="Verdana"/>
                <a:cs typeface="Verdana"/>
              </a:rPr>
              <a:t>anomalies,</a:t>
            </a:r>
            <a:r>
              <a:rPr dirty="0" sz="1550" spc="-9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550" spc="-10">
                <a:solidFill>
                  <a:srgbClr val="272424"/>
                </a:solidFill>
                <a:latin typeface="Verdana"/>
                <a:cs typeface="Verdana"/>
              </a:rPr>
              <a:t>safeguarding</a:t>
            </a:r>
            <a:r>
              <a:rPr dirty="0" sz="1550" spc="-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550" spc="-35">
                <a:solidFill>
                  <a:srgbClr val="272424"/>
                </a:solidFill>
                <a:latin typeface="Verdana"/>
                <a:cs typeface="Verdana"/>
              </a:rPr>
              <a:t>against</a:t>
            </a:r>
            <a:r>
              <a:rPr dirty="0" sz="1550" spc="-8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550" spc="-10">
                <a:solidFill>
                  <a:srgbClr val="272424"/>
                </a:solidFill>
                <a:latin typeface="Verdana"/>
                <a:cs typeface="Verdana"/>
              </a:rPr>
              <a:t>financial </a:t>
            </a:r>
            <a:r>
              <a:rPr dirty="0" sz="1550">
                <a:solidFill>
                  <a:srgbClr val="272424"/>
                </a:solidFill>
                <a:latin typeface="Verdana"/>
                <a:cs typeface="Verdana"/>
              </a:rPr>
              <a:t>losses</a:t>
            </a:r>
            <a:r>
              <a:rPr dirty="0" sz="1550" spc="-6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550">
                <a:solidFill>
                  <a:srgbClr val="272424"/>
                </a:solidFill>
                <a:latin typeface="Verdana"/>
                <a:cs typeface="Verdana"/>
              </a:rPr>
              <a:t>due</a:t>
            </a:r>
            <a:r>
              <a:rPr dirty="0" sz="1550" spc="-6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550" spc="-30">
                <a:solidFill>
                  <a:srgbClr val="272424"/>
                </a:solidFill>
                <a:latin typeface="Verdana"/>
                <a:cs typeface="Verdana"/>
              </a:rPr>
              <a:t>to</a:t>
            </a:r>
            <a:r>
              <a:rPr dirty="0" sz="1550" spc="-8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550" spc="-35">
                <a:solidFill>
                  <a:srgbClr val="272424"/>
                </a:solidFill>
                <a:latin typeface="Verdana"/>
                <a:cs typeface="Verdana"/>
              </a:rPr>
              <a:t>fraudulent</a:t>
            </a:r>
            <a:r>
              <a:rPr dirty="0" sz="15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550" spc="-10">
                <a:solidFill>
                  <a:srgbClr val="272424"/>
                </a:solidFill>
                <a:latin typeface="Verdana"/>
                <a:cs typeface="Verdana"/>
              </a:rPr>
              <a:t>activities.</a:t>
            </a:r>
            <a:endParaRPr sz="1550">
              <a:latin typeface="Verdana"/>
              <a:cs typeface="Verdana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1160215" y="2621661"/>
            <a:ext cx="12310110" cy="2618105"/>
            <a:chOff x="1160215" y="2621661"/>
            <a:chExt cx="12310110" cy="261810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0215" y="2621661"/>
              <a:ext cx="12309969" cy="2617815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11911093" y="4203487"/>
              <a:ext cx="514350" cy="36830"/>
            </a:xfrm>
            <a:custGeom>
              <a:avLst/>
              <a:gdLst/>
              <a:ahLst/>
              <a:cxnLst/>
              <a:rect l="l" t="t" r="r" b="b"/>
              <a:pathLst>
                <a:path w="514350" h="36829">
                  <a:moveTo>
                    <a:pt x="0" y="12735"/>
                  </a:moveTo>
                  <a:lnTo>
                    <a:pt x="21010" y="36462"/>
                  </a:lnTo>
                  <a:lnTo>
                    <a:pt x="39793" y="36686"/>
                  </a:lnTo>
                </a:path>
                <a:path w="514350" h="36829">
                  <a:moveTo>
                    <a:pt x="484597" y="36674"/>
                  </a:moveTo>
                  <a:lnTo>
                    <a:pt x="514263" y="7887"/>
                  </a:lnTo>
                  <a:lnTo>
                    <a:pt x="514331" y="0"/>
                  </a:lnTo>
                </a:path>
              </a:pathLst>
            </a:custGeom>
            <a:ln w="26716">
              <a:solidFill>
                <a:srgbClr val="27242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226460" y="4005175"/>
              <a:ext cx="211997" cy="161730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11911042" y="3637035"/>
              <a:ext cx="514984" cy="603250"/>
            </a:xfrm>
            <a:custGeom>
              <a:avLst/>
              <a:gdLst/>
              <a:ahLst/>
              <a:cxnLst/>
              <a:rect l="l" t="t" r="r" b="b"/>
              <a:pathLst>
                <a:path w="514984" h="603250">
                  <a:moveTo>
                    <a:pt x="243814" y="403459"/>
                  </a:moveTo>
                  <a:lnTo>
                    <a:pt x="195211" y="394285"/>
                  </a:lnTo>
                  <a:lnTo>
                    <a:pt x="176744" y="388342"/>
                  </a:lnTo>
                  <a:lnTo>
                    <a:pt x="162839" y="384421"/>
                  </a:lnTo>
                  <a:lnTo>
                    <a:pt x="152581" y="382110"/>
                  </a:lnTo>
                  <a:lnTo>
                    <a:pt x="145060" y="381000"/>
                  </a:lnTo>
                  <a:lnTo>
                    <a:pt x="137580" y="381214"/>
                  </a:lnTo>
                  <a:lnTo>
                    <a:pt x="94118" y="390774"/>
                  </a:lnTo>
                  <a:lnTo>
                    <a:pt x="55306" y="413669"/>
                  </a:lnTo>
                  <a:lnTo>
                    <a:pt x="28195" y="441461"/>
                  </a:lnTo>
                  <a:lnTo>
                    <a:pt x="23608" y="447778"/>
                  </a:lnTo>
                  <a:lnTo>
                    <a:pt x="19027" y="454411"/>
                  </a:lnTo>
                </a:path>
                <a:path w="514984" h="603250">
                  <a:moveTo>
                    <a:pt x="18890" y="454334"/>
                  </a:moveTo>
                  <a:lnTo>
                    <a:pt x="9805" y="473554"/>
                  </a:lnTo>
                  <a:lnTo>
                    <a:pt x="3621" y="493780"/>
                  </a:lnTo>
                  <a:lnTo>
                    <a:pt x="414" y="514686"/>
                  </a:lnTo>
                  <a:lnTo>
                    <a:pt x="257" y="535944"/>
                  </a:lnTo>
                </a:path>
                <a:path w="514984" h="603250">
                  <a:moveTo>
                    <a:pt x="425289" y="168007"/>
                  </a:moveTo>
                  <a:lnTo>
                    <a:pt x="419288" y="212669"/>
                  </a:lnTo>
                  <a:lnTo>
                    <a:pt x="402352" y="252802"/>
                  </a:lnTo>
                  <a:lnTo>
                    <a:pt x="376082" y="286805"/>
                  </a:lnTo>
                  <a:lnTo>
                    <a:pt x="342079" y="313076"/>
                  </a:lnTo>
                  <a:lnTo>
                    <a:pt x="301944" y="330013"/>
                  </a:lnTo>
                  <a:lnTo>
                    <a:pt x="257279" y="336014"/>
                  </a:lnTo>
                  <a:lnTo>
                    <a:pt x="212616" y="330013"/>
                  </a:lnTo>
                  <a:lnTo>
                    <a:pt x="172482" y="313076"/>
                  </a:lnTo>
                  <a:lnTo>
                    <a:pt x="138478" y="286805"/>
                  </a:lnTo>
                  <a:lnTo>
                    <a:pt x="112207" y="252802"/>
                  </a:lnTo>
                  <a:lnTo>
                    <a:pt x="95269" y="212668"/>
                  </a:lnTo>
                  <a:lnTo>
                    <a:pt x="89267" y="168007"/>
                  </a:lnTo>
                  <a:lnTo>
                    <a:pt x="95269" y="123342"/>
                  </a:lnTo>
                  <a:lnTo>
                    <a:pt x="112206" y="83208"/>
                  </a:lnTo>
                  <a:lnTo>
                    <a:pt x="138478" y="49206"/>
                  </a:lnTo>
                  <a:lnTo>
                    <a:pt x="172481" y="22936"/>
                  </a:lnTo>
                  <a:lnTo>
                    <a:pt x="212615" y="6001"/>
                  </a:lnTo>
                  <a:lnTo>
                    <a:pt x="257278" y="0"/>
                  </a:lnTo>
                  <a:lnTo>
                    <a:pt x="301943" y="6001"/>
                  </a:lnTo>
                  <a:lnTo>
                    <a:pt x="342078" y="22937"/>
                  </a:lnTo>
                  <a:lnTo>
                    <a:pt x="376081" y="49206"/>
                  </a:lnTo>
                  <a:lnTo>
                    <a:pt x="402352" y="83209"/>
                  </a:lnTo>
                  <a:lnTo>
                    <a:pt x="419288" y="123343"/>
                  </a:lnTo>
                  <a:lnTo>
                    <a:pt x="425289" y="168007"/>
                  </a:lnTo>
                  <a:close/>
                </a:path>
                <a:path w="514984" h="603250">
                  <a:moveTo>
                    <a:pt x="0" y="535961"/>
                  </a:moveTo>
                  <a:lnTo>
                    <a:pt x="51" y="579187"/>
                  </a:lnTo>
                </a:path>
                <a:path w="514984" h="603250">
                  <a:moveTo>
                    <a:pt x="328777" y="390814"/>
                  </a:moveTo>
                  <a:lnTo>
                    <a:pt x="308604" y="397600"/>
                  </a:lnTo>
                  <a:lnTo>
                    <a:pt x="285676" y="402025"/>
                  </a:lnTo>
                  <a:lnTo>
                    <a:pt x="263058" y="404006"/>
                  </a:lnTo>
                  <a:lnTo>
                    <a:pt x="243814" y="403459"/>
                  </a:lnTo>
                </a:path>
                <a:path w="514984" h="603250">
                  <a:moveTo>
                    <a:pt x="39845" y="603139"/>
                  </a:moveTo>
                  <a:lnTo>
                    <a:pt x="484648" y="603127"/>
                  </a:lnTo>
                </a:path>
                <a:path w="514984" h="603250">
                  <a:moveTo>
                    <a:pt x="514382" y="566452"/>
                  </a:moveTo>
                  <a:lnTo>
                    <a:pt x="514058" y="516512"/>
                  </a:lnTo>
                </a:path>
              </a:pathLst>
            </a:custGeom>
            <a:ln w="26716">
              <a:solidFill>
                <a:srgbClr val="27242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434115" y="3656965"/>
              <a:ext cx="639006" cy="563279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7216463" y="3876094"/>
              <a:ext cx="192405" cy="128270"/>
            </a:xfrm>
            <a:custGeom>
              <a:avLst/>
              <a:gdLst/>
              <a:ahLst/>
              <a:cxnLst/>
              <a:rect l="l" t="t" r="r" b="b"/>
              <a:pathLst>
                <a:path w="192404" h="128270">
                  <a:moveTo>
                    <a:pt x="182758" y="71086"/>
                  </a:moveTo>
                  <a:lnTo>
                    <a:pt x="186327" y="77774"/>
                  </a:lnTo>
                  <a:lnTo>
                    <a:pt x="189038" y="84175"/>
                  </a:lnTo>
                  <a:lnTo>
                    <a:pt x="190902" y="90361"/>
                  </a:lnTo>
                  <a:lnTo>
                    <a:pt x="191932" y="96400"/>
                  </a:lnTo>
                  <a:lnTo>
                    <a:pt x="190666" y="104504"/>
                  </a:lnTo>
                  <a:lnTo>
                    <a:pt x="158683" y="128125"/>
                  </a:lnTo>
                  <a:lnTo>
                    <a:pt x="153400" y="127518"/>
                  </a:lnTo>
                  <a:lnTo>
                    <a:pt x="127111" y="95493"/>
                  </a:lnTo>
                  <a:lnTo>
                    <a:pt x="127889" y="87739"/>
                  </a:lnTo>
                  <a:lnTo>
                    <a:pt x="131120" y="76856"/>
                  </a:lnTo>
                </a:path>
                <a:path w="192404" h="128270">
                  <a:moveTo>
                    <a:pt x="65111" y="43301"/>
                  </a:moveTo>
                  <a:lnTo>
                    <a:pt x="50620" y="5659"/>
                  </a:lnTo>
                  <a:lnTo>
                    <a:pt x="31905" y="0"/>
                  </a:lnTo>
                  <a:lnTo>
                    <a:pt x="27306" y="410"/>
                  </a:lnTo>
                  <a:lnTo>
                    <a:pt x="384" y="28118"/>
                  </a:lnTo>
                  <a:lnTo>
                    <a:pt x="0" y="35974"/>
                  </a:lnTo>
                  <a:lnTo>
                    <a:pt x="735" y="39984"/>
                  </a:lnTo>
                  <a:lnTo>
                    <a:pt x="2564" y="46284"/>
                  </a:lnTo>
                  <a:lnTo>
                    <a:pt x="5488" y="54868"/>
                  </a:lnTo>
                </a:path>
              </a:pathLst>
            </a:custGeom>
            <a:ln w="26843">
              <a:solidFill>
                <a:srgbClr val="27242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58009" y="4002066"/>
              <a:ext cx="92905" cy="92902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7037583" y="3699803"/>
              <a:ext cx="603250" cy="478155"/>
            </a:xfrm>
            <a:custGeom>
              <a:avLst/>
              <a:gdLst/>
              <a:ahLst/>
              <a:cxnLst/>
              <a:rect l="l" t="t" r="r" b="b"/>
              <a:pathLst>
                <a:path w="603250" h="478154">
                  <a:moveTo>
                    <a:pt x="357723" y="245505"/>
                  </a:moveTo>
                  <a:lnTo>
                    <a:pt x="345650" y="239914"/>
                  </a:lnTo>
                  <a:lnTo>
                    <a:pt x="332814" y="239402"/>
                  </a:lnTo>
                  <a:lnTo>
                    <a:pt x="320723" y="243739"/>
                  </a:lnTo>
                  <a:lnTo>
                    <a:pt x="310881" y="252694"/>
                  </a:lnTo>
                  <a:lnTo>
                    <a:pt x="310710" y="252934"/>
                  </a:lnTo>
                  <a:lnTo>
                    <a:pt x="310539" y="253173"/>
                  </a:lnTo>
                  <a:lnTo>
                    <a:pt x="310377" y="253413"/>
                  </a:lnTo>
                </a:path>
                <a:path w="603250" h="478154">
                  <a:moveTo>
                    <a:pt x="243248" y="219327"/>
                  </a:moveTo>
                  <a:lnTo>
                    <a:pt x="236302" y="231049"/>
                  </a:lnTo>
                  <a:lnTo>
                    <a:pt x="225766" y="238923"/>
                  </a:lnTo>
                  <a:lnTo>
                    <a:pt x="213047" y="242272"/>
                  </a:lnTo>
                  <a:lnTo>
                    <a:pt x="199552" y="240418"/>
                  </a:lnTo>
                  <a:lnTo>
                    <a:pt x="193935" y="238460"/>
                  </a:lnTo>
                  <a:lnTo>
                    <a:pt x="188925" y="235075"/>
                  </a:lnTo>
                  <a:lnTo>
                    <a:pt x="185018" y="230595"/>
                  </a:lnTo>
                </a:path>
                <a:path w="603250" h="478154">
                  <a:moveTo>
                    <a:pt x="473916" y="8916"/>
                  </a:moveTo>
                  <a:lnTo>
                    <a:pt x="601216" y="111"/>
                  </a:lnTo>
                </a:path>
                <a:path w="603250" h="478154">
                  <a:moveTo>
                    <a:pt x="601216" y="111"/>
                  </a:moveTo>
                  <a:lnTo>
                    <a:pt x="359467" y="243735"/>
                  </a:lnTo>
                </a:path>
                <a:path w="603250" h="478154">
                  <a:moveTo>
                    <a:pt x="310001" y="253148"/>
                  </a:moveTo>
                  <a:lnTo>
                    <a:pt x="243991" y="219592"/>
                  </a:lnTo>
                </a:path>
                <a:path w="603250" h="478154">
                  <a:moveTo>
                    <a:pt x="184369" y="231159"/>
                  </a:moveTo>
                  <a:lnTo>
                    <a:pt x="92523" y="324336"/>
                  </a:lnTo>
                </a:path>
                <a:path w="603250" h="478154">
                  <a:moveTo>
                    <a:pt x="594846" y="123953"/>
                  </a:moveTo>
                  <a:lnTo>
                    <a:pt x="602900" y="0"/>
                  </a:lnTo>
                </a:path>
                <a:path w="603250" h="478154">
                  <a:moveTo>
                    <a:pt x="0" y="477596"/>
                  </a:moveTo>
                  <a:lnTo>
                    <a:pt x="575902" y="477554"/>
                  </a:lnTo>
                </a:path>
              </a:pathLst>
            </a:custGeom>
            <a:ln w="26843">
              <a:solidFill>
                <a:srgbClr val="2724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4639203" y="3819670"/>
              <a:ext cx="561340" cy="421005"/>
            </a:xfrm>
            <a:custGeom>
              <a:avLst/>
              <a:gdLst/>
              <a:ahLst/>
              <a:cxnLst/>
              <a:rect l="l" t="t" r="r" b="b"/>
              <a:pathLst>
                <a:path w="561339" h="421004">
                  <a:moveTo>
                    <a:pt x="554975" y="320951"/>
                  </a:moveTo>
                  <a:lnTo>
                    <a:pt x="547768" y="318557"/>
                  </a:lnTo>
                  <a:lnTo>
                    <a:pt x="532506" y="317074"/>
                  </a:lnTo>
                  <a:lnTo>
                    <a:pt x="500334" y="316315"/>
                  </a:lnTo>
                  <a:lnTo>
                    <a:pt x="442397" y="316095"/>
                  </a:lnTo>
                </a:path>
                <a:path w="561339" h="421004">
                  <a:moveTo>
                    <a:pt x="554975" y="320951"/>
                  </a:moveTo>
                  <a:lnTo>
                    <a:pt x="559241" y="327867"/>
                  </a:lnTo>
                  <a:lnTo>
                    <a:pt x="560292" y="331073"/>
                  </a:lnTo>
                  <a:lnTo>
                    <a:pt x="560942" y="335202"/>
                  </a:lnTo>
                  <a:lnTo>
                    <a:pt x="560829" y="372539"/>
                  </a:lnTo>
                  <a:lnTo>
                    <a:pt x="554744" y="413463"/>
                  </a:lnTo>
                  <a:lnTo>
                    <a:pt x="551239" y="416543"/>
                  </a:lnTo>
                  <a:lnTo>
                    <a:pt x="547314" y="419198"/>
                  </a:lnTo>
                </a:path>
                <a:path w="561339" h="421004">
                  <a:moveTo>
                    <a:pt x="547314" y="419198"/>
                  </a:moveTo>
                  <a:lnTo>
                    <a:pt x="541132" y="419747"/>
                  </a:lnTo>
                  <a:lnTo>
                    <a:pt x="532227" y="420148"/>
                  </a:lnTo>
                  <a:lnTo>
                    <a:pt x="520600" y="420400"/>
                  </a:lnTo>
                  <a:lnTo>
                    <a:pt x="506252" y="420504"/>
                  </a:lnTo>
                </a:path>
                <a:path w="561339" h="421004">
                  <a:moveTo>
                    <a:pt x="23067" y="420475"/>
                  </a:moveTo>
                  <a:lnTo>
                    <a:pt x="347" y="402209"/>
                  </a:lnTo>
                  <a:lnTo>
                    <a:pt x="0" y="386054"/>
                  </a:lnTo>
                </a:path>
                <a:path w="561339" h="421004">
                  <a:moveTo>
                    <a:pt x="52" y="338357"/>
                  </a:moveTo>
                  <a:lnTo>
                    <a:pt x="636" y="332535"/>
                  </a:lnTo>
                  <a:lnTo>
                    <a:pt x="1605" y="328782"/>
                  </a:lnTo>
                  <a:lnTo>
                    <a:pt x="5005" y="322396"/>
                  </a:lnTo>
                </a:path>
                <a:path w="561339" h="421004">
                  <a:moveTo>
                    <a:pt x="23247" y="315967"/>
                  </a:moveTo>
                  <a:lnTo>
                    <a:pt x="17172" y="316488"/>
                  </a:lnTo>
                  <a:lnTo>
                    <a:pt x="13162" y="317471"/>
                  </a:lnTo>
                  <a:lnTo>
                    <a:pt x="8690" y="319643"/>
                  </a:lnTo>
                  <a:lnTo>
                    <a:pt x="5005" y="322396"/>
                  </a:lnTo>
                </a:path>
                <a:path w="561339" h="421004">
                  <a:moveTo>
                    <a:pt x="507115" y="232083"/>
                  </a:moveTo>
                  <a:lnTo>
                    <a:pt x="504763" y="270972"/>
                  </a:lnTo>
                  <a:lnTo>
                    <a:pt x="480094" y="295874"/>
                  </a:lnTo>
                  <a:lnTo>
                    <a:pt x="457641" y="313214"/>
                  </a:lnTo>
                </a:path>
                <a:path w="561339" h="421004">
                  <a:moveTo>
                    <a:pt x="316611" y="313205"/>
                  </a:moveTo>
                  <a:lnTo>
                    <a:pt x="282092" y="285956"/>
                  </a:lnTo>
                  <a:lnTo>
                    <a:pt x="268827" y="251621"/>
                  </a:lnTo>
                  <a:lnTo>
                    <a:pt x="268513" y="232006"/>
                  </a:lnTo>
                </a:path>
                <a:path w="561339" h="421004">
                  <a:moveTo>
                    <a:pt x="466429" y="231450"/>
                  </a:moveTo>
                  <a:lnTo>
                    <a:pt x="451135" y="193107"/>
                  </a:lnTo>
                  <a:lnTo>
                    <a:pt x="413600" y="169482"/>
                  </a:lnTo>
                  <a:lnTo>
                    <a:pt x="402626" y="168135"/>
                  </a:lnTo>
                  <a:lnTo>
                    <a:pt x="391324" y="169281"/>
                  </a:lnTo>
                  <a:lnTo>
                    <a:pt x="355690" y="192457"/>
                  </a:lnTo>
                  <a:lnTo>
                    <a:pt x="345622" y="221644"/>
                  </a:lnTo>
                  <a:lnTo>
                    <a:pt x="343567" y="231459"/>
                  </a:lnTo>
                </a:path>
                <a:path w="561339" h="421004">
                  <a:moveTo>
                    <a:pt x="453691" y="555"/>
                  </a:moveTo>
                  <a:lnTo>
                    <a:pt x="424680" y="26224"/>
                  </a:lnTo>
                  <a:lnTo>
                    <a:pt x="381594" y="26707"/>
                  </a:lnTo>
                  <a:lnTo>
                    <a:pt x="376319" y="26365"/>
                  </a:lnTo>
                  <a:lnTo>
                    <a:pt x="354664" y="4881"/>
                  </a:lnTo>
                  <a:lnTo>
                    <a:pt x="354066" y="0"/>
                  </a:lnTo>
                </a:path>
              </a:pathLst>
            </a:custGeom>
            <a:ln w="26716">
              <a:solidFill>
                <a:srgbClr val="27242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784986" y="3623677"/>
              <a:ext cx="98949" cy="110839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4639203" y="3637223"/>
              <a:ext cx="507365" cy="603250"/>
            </a:xfrm>
            <a:custGeom>
              <a:avLst/>
              <a:gdLst/>
              <a:ahLst/>
              <a:cxnLst/>
              <a:rect l="l" t="t" r="r" b="b"/>
              <a:pathLst>
                <a:path w="507364" h="603250">
                  <a:moveTo>
                    <a:pt x="459000" y="0"/>
                  </a:moveTo>
                  <a:lnTo>
                    <a:pt x="493710" y="20517"/>
                  </a:lnTo>
                  <a:lnTo>
                    <a:pt x="496728" y="30127"/>
                  </a:lnTo>
                  <a:lnTo>
                    <a:pt x="497617" y="35598"/>
                  </a:lnTo>
                </a:path>
                <a:path w="507364" h="603250">
                  <a:moveTo>
                    <a:pt x="497651" y="81686"/>
                  </a:moveTo>
                  <a:lnTo>
                    <a:pt x="497232" y="91356"/>
                  </a:lnTo>
                </a:path>
                <a:path w="507364" h="603250">
                  <a:moveTo>
                    <a:pt x="507115" y="414530"/>
                  </a:moveTo>
                  <a:lnTo>
                    <a:pt x="268513" y="414453"/>
                  </a:lnTo>
                </a:path>
                <a:path w="507364" h="603250">
                  <a:moveTo>
                    <a:pt x="497232" y="91356"/>
                  </a:moveTo>
                  <a:lnTo>
                    <a:pt x="229639" y="92843"/>
                  </a:lnTo>
                </a:path>
                <a:path w="507364" h="603250">
                  <a:moveTo>
                    <a:pt x="159133" y="92133"/>
                  </a:moveTo>
                  <a:lnTo>
                    <a:pt x="71160" y="92048"/>
                  </a:lnTo>
                </a:path>
                <a:path w="507364" h="603250">
                  <a:moveTo>
                    <a:pt x="159141" y="498396"/>
                  </a:moveTo>
                  <a:lnTo>
                    <a:pt x="159141" y="83935"/>
                  </a:lnTo>
                </a:path>
                <a:path w="507364" h="603250">
                  <a:moveTo>
                    <a:pt x="506252" y="602951"/>
                  </a:moveTo>
                  <a:lnTo>
                    <a:pt x="23067" y="602922"/>
                  </a:lnTo>
                </a:path>
                <a:path w="507364" h="603250">
                  <a:moveTo>
                    <a:pt x="0" y="568501"/>
                  </a:moveTo>
                  <a:lnTo>
                    <a:pt x="52" y="520804"/>
                  </a:lnTo>
                </a:path>
                <a:path w="507364" h="603250">
                  <a:moveTo>
                    <a:pt x="229639" y="92843"/>
                  </a:moveTo>
                  <a:lnTo>
                    <a:pt x="228510" y="208444"/>
                  </a:lnTo>
                </a:path>
                <a:path w="507364" h="603250">
                  <a:moveTo>
                    <a:pt x="228510" y="208444"/>
                  </a:moveTo>
                  <a:lnTo>
                    <a:pt x="159176" y="209094"/>
                  </a:lnTo>
                </a:path>
                <a:path w="507364" h="603250">
                  <a:moveTo>
                    <a:pt x="331359" y="498550"/>
                  </a:moveTo>
                  <a:lnTo>
                    <a:pt x="23247" y="498413"/>
                  </a:lnTo>
                </a:path>
                <a:path w="507364" h="603250">
                  <a:moveTo>
                    <a:pt x="404267" y="293423"/>
                  </a:moveTo>
                  <a:lnTo>
                    <a:pt x="404276" y="209128"/>
                  </a:lnTo>
                </a:path>
              </a:pathLst>
            </a:custGeom>
            <a:ln w="26716">
              <a:solidFill>
                <a:srgbClr val="27242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659215" y="3715922"/>
              <a:ext cx="64506" cy="70983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4673142" y="3637035"/>
              <a:ext cx="464184" cy="499109"/>
            </a:xfrm>
            <a:custGeom>
              <a:avLst/>
              <a:gdLst/>
              <a:ahLst/>
              <a:cxnLst/>
              <a:rect l="l" t="t" r="r" b="b"/>
              <a:pathLst>
                <a:path w="464185" h="499110">
                  <a:moveTo>
                    <a:pt x="85" y="136794"/>
                  </a:moveTo>
                  <a:lnTo>
                    <a:pt x="0" y="498542"/>
                  </a:lnTo>
                </a:path>
                <a:path w="464185" h="499110">
                  <a:moveTo>
                    <a:pt x="197434" y="0"/>
                  </a:moveTo>
                  <a:lnTo>
                    <a:pt x="425060" y="188"/>
                  </a:lnTo>
                </a:path>
                <a:path w="464185" h="499110">
                  <a:moveTo>
                    <a:pt x="419691" y="92270"/>
                  </a:moveTo>
                  <a:lnTo>
                    <a:pt x="419751" y="183190"/>
                  </a:lnTo>
                </a:path>
                <a:path w="464185" h="499110">
                  <a:moveTo>
                    <a:pt x="320126" y="182635"/>
                  </a:moveTo>
                  <a:lnTo>
                    <a:pt x="320032" y="92287"/>
                  </a:lnTo>
                </a:path>
                <a:path w="464185" h="499110">
                  <a:moveTo>
                    <a:pt x="463677" y="35786"/>
                  </a:moveTo>
                  <a:lnTo>
                    <a:pt x="463711" y="81875"/>
                  </a:lnTo>
                </a:path>
              </a:pathLst>
            </a:custGeom>
            <a:ln w="26716">
              <a:solidFill>
                <a:srgbClr val="27242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554571" y="4016642"/>
              <a:ext cx="205431" cy="88492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2320815" y="3882216"/>
              <a:ext cx="426720" cy="67945"/>
            </a:xfrm>
            <a:custGeom>
              <a:avLst/>
              <a:gdLst/>
              <a:ahLst/>
              <a:cxnLst/>
              <a:rect l="l" t="t" r="r" b="b"/>
              <a:pathLst>
                <a:path w="426719" h="67945">
                  <a:moveTo>
                    <a:pt x="426533" y="0"/>
                  </a:moveTo>
                  <a:lnTo>
                    <a:pt x="393790" y="24187"/>
                  </a:lnTo>
                  <a:lnTo>
                    <a:pt x="352197" y="42737"/>
                  </a:lnTo>
                  <a:lnTo>
                    <a:pt x="306748" y="54575"/>
                  </a:lnTo>
                  <a:lnTo>
                    <a:pt x="255242" y="62559"/>
                  </a:lnTo>
                  <a:lnTo>
                    <a:pt x="210834" y="66751"/>
                  </a:lnTo>
                  <a:lnTo>
                    <a:pt x="195950" y="67341"/>
                  </a:lnTo>
                </a:path>
                <a:path w="426719" h="67945">
                  <a:moveTo>
                    <a:pt x="139516" y="67230"/>
                  </a:moveTo>
                  <a:lnTo>
                    <a:pt x="109513" y="64788"/>
                  </a:lnTo>
                  <a:lnTo>
                    <a:pt x="81580" y="61824"/>
                  </a:lnTo>
                  <a:lnTo>
                    <a:pt x="55249" y="58280"/>
                  </a:lnTo>
                  <a:lnTo>
                    <a:pt x="30050" y="54098"/>
                  </a:lnTo>
                  <a:lnTo>
                    <a:pt x="0" y="46361"/>
                  </a:lnTo>
                </a:path>
              </a:pathLst>
            </a:custGeom>
            <a:ln w="26725">
              <a:solidFill>
                <a:srgbClr val="27242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539011" y="4125019"/>
              <a:ext cx="223231" cy="126068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219568" y="4087394"/>
              <a:ext cx="186860" cy="159669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219599" y="3632230"/>
              <a:ext cx="160053" cy="145729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2366289" y="3637056"/>
              <a:ext cx="382905" cy="501650"/>
            </a:xfrm>
            <a:custGeom>
              <a:avLst/>
              <a:gdLst/>
              <a:ahLst/>
              <a:cxnLst/>
              <a:rect l="l" t="t" r="r" b="b"/>
              <a:pathLst>
                <a:path w="382905" h="501650">
                  <a:moveTo>
                    <a:pt x="0" y="8536"/>
                  </a:moveTo>
                  <a:lnTo>
                    <a:pt x="55425" y="2590"/>
                  </a:lnTo>
                  <a:lnTo>
                    <a:pt x="107789" y="143"/>
                  </a:lnTo>
                  <a:lnTo>
                    <a:pt x="131562" y="0"/>
                  </a:lnTo>
                  <a:lnTo>
                    <a:pt x="154855" y="382"/>
                  </a:lnTo>
                  <a:lnTo>
                    <a:pt x="181647" y="1278"/>
                  </a:lnTo>
                  <a:lnTo>
                    <a:pt x="194708" y="2451"/>
                  </a:lnTo>
                  <a:lnTo>
                    <a:pt x="207358" y="3664"/>
                  </a:lnTo>
                  <a:lnTo>
                    <a:pt x="219596" y="4917"/>
                  </a:lnTo>
                  <a:lnTo>
                    <a:pt x="231421" y="6210"/>
                  </a:lnTo>
                </a:path>
                <a:path w="382905" h="501650">
                  <a:moveTo>
                    <a:pt x="231421" y="6210"/>
                  </a:moveTo>
                  <a:lnTo>
                    <a:pt x="282164" y="15540"/>
                  </a:lnTo>
                  <a:lnTo>
                    <a:pt x="322203" y="27584"/>
                  </a:lnTo>
                  <a:lnTo>
                    <a:pt x="358934" y="46582"/>
                  </a:lnTo>
                  <a:lnTo>
                    <a:pt x="381941" y="83874"/>
                  </a:lnTo>
                  <a:lnTo>
                    <a:pt x="382431" y="116427"/>
                  </a:lnTo>
                  <a:lnTo>
                    <a:pt x="382521" y="141458"/>
                  </a:lnTo>
                </a:path>
                <a:path w="382905" h="501650">
                  <a:moveTo>
                    <a:pt x="382530" y="391392"/>
                  </a:moveTo>
                  <a:lnTo>
                    <a:pt x="382590" y="501325"/>
                  </a:lnTo>
                </a:path>
                <a:path w="382905" h="501650">
                  <a:moveTo>
                    <a:pt x="382513" y="244013"/>
                  </a:moveTo>
                  <a:lnTo>
                    <a:pt x="380350" y="392948"/>
                  </a:lnTo>
                </a:path>
                <a:path w="382905" h="501650">
                  <a:moveTo>
                    <a:pt x="382496" y="102687"/>
                  </a:moveTo>
                  <a:lnTo>
                    <a:pt x="357619" y="120492"/>
                  </a:lnTo>
                  <a:lnTo>
                    <a:pt x="330750" y="134852"/>
                  </a:lnTo>
                  <a:lnTo>
                    <a:pt x="302245" y="145608"/>
                  </a:lnTo>
                  <a:lnTo>
                    <a:pt x="272458" y="152597"/>
                  </a:lnTo>
                </a:path>
              </a:pathLst>
            </a:custGeom>
            <a:ln w="26725">
              <a:solidFill>
                <a:srgbClr val="27242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219373" y="4013794"/>
              <a:ext cx="361923" cy="94492"/>
            </a:xfrm>
            <a:prstGeom prst="rect">
              <a:avLst/>
            </a:prstGeom>
          </p:spPr>
        </p:pic>
        <p:sp>
          <p:nvSpPr>
            <p:cNvPr id="28" name="object 28" descr=""/>
            <p:cNvSpPr/>
            <p:nvPr/>
          </p:nvSpPr>
          <p:spPr>
            <a:xfrm>
              <a:off x="2232931" y="3742086"/>
              <a:ext cx="516255" cy="498475"/>
            </a:xfrm>
            <a:custGeom>
              <a:avLst/>
              <a:gdLst/>
              <a:ahLst/>
              <a:cxnLst/>
              <a:rect l="l" t="t" r="r" b="b"/>
              <a:pathLst>
                <a:path w="516255" h="498475">
                  <a:moveTo>
                    <a:pt x="319442" y="495638"/>
                  </a:moveTo>
                  <a:lnTo>
                    <a:pt x="279619" y="497733"/>
                  </a:lnTo>
                  <a:lnTo>
                    <a:pt x="239817" y="497899"/>
                  </a:lnTo>
                  <a:lnTo>
                    <a:pt x="200000" y="495928"/>
                  </a:lnTo>
                  <a:lnTo>
                    <a:pt x="160134" y="491614"/>
                  </a:lnTo>
                </a:path>
                <a:path w="516255" h="498475">
                  <a:moveTo>
                    <a:pt x="0" y="358670"/>
                  </a:moveTo>
                  <a:lnTo>
                    <a:pt x="30" y="22509"/>
                  </a:lnTo>
                </a:path>
                <a:path w="516255" h="498475">
                  <a:moveTo>
                    <a:pt x="283834" y="207470"/>
                  </a:moveTo>
                  <a:lnTo>
                    <a:pt x="227400" y="207359"/>
                  </a:lnTo>
                </a:path>
                <a:path w="516255" h="498475">
                  <a:moveTo>
                    <a:pt x="515879" y="36428"/>
                  </a:moveTo>
                  <a:lnTo>
                    <a:pt x="514417" y="140129"/>
                  </a:lnTo>
                </a:path>
                <a:path w="516255" h="498475">
                  <a:moveTo>
                    <a:pt x="87961" y="186200"/>
                  </a:moveTo>
                  <a:lnTo>
                    <a:pt x="63967" y="178571"/>
                  </a:lnTo>
                  <a:lnTo>
                    <a:pt x="41182" y="168088"/>
                  </a:lnTo>
                  <a:lnTo>
                    <a:pt x="19856" y="154886"/>
                  </a:lnTo>
                  <a:lnTo>
                    <a:pt x="242" y="139102"/>
                  </a:lnTo>
                </a:path>
                <a:path w="516255" h="498475">
                  <a:moveTo>
                    <a:pt x="405884" y="48020"/>
                  </a:moveTo>
                  <a:lnTo>
                    <a:pt x="357719" y="56445"/>
                  </a:lnTo>
                  <a:lnTo>
                    <a:pt x="309552" y="61716"/>
                  </a:lnTo>
                  <a:lnTo>
                    <a:pt x="261383" y="63769"/>
                  </a:lnTo>
                  <a:lnTo>
                    <a:pt x="213215" y="62539"/>
                  </a:lnTo>
                  <a:lnTo>
                    <a:pt x="165047" y="57963"/>
                  </a:lnTo>
                  <a:lnTo>
                    <a:pt x="116883" y="49978"/>
                  </a:lnTo>
                </a:path>
                <a:path w="516255" h="498475">
                  <a:moveTo>
                    <a:pt x="116969" y="49473"/>
                  </a:moveTo>
                  <a:lnTo>
                    <a:pt x="85649" y="42532"/>
                  </a:lnTo>
                  <a:lnTo>
                    <a:pt x="55516" y="31879"/>
                  </a:lnTo>
                  <a:lnTo>
                    <a:pt x="26896" y="17655"/>
                  </a:lnTo>
                  <a:lnTo>
                    <a:pt x="116" y="0"/>
                  </a:lnTo>
                </a:path>
              </a:pathLst>
            </a:custGeom>
            <a:ln w="26725">
              <a:solidFill>
                <a:srgbClr val="27242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 descr=""/>
          <p:cNvSpPr txBox="1"/>
          <p:nvPr/>
        </p:nvSpPr>
        <p:spPr>
          <a:xfrm>
            <a:off x="11708510" y="5807011"/>
            <a:ext cx="1029335" cy="752475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 marR="5080" indent="10795">
              <a:lnSpc>
                <a:spcPts val="2930"/>
              </a:lnSpc>
              <a:spcBef>
                <a:spcPts val="60"/>
              </a:spcBef>
            </a:pPr>
            <a:r>
              <a:rPr dirty="0" sz="2300" spc="-310" b="1">
                <a:solidFill>
                  <a:srgbClr val="272424"/>
                </a:solidFill>
                <a:latin typeface="Verdana"/>
                <a:cs typeface="Verdana"/>
              </a:rPr>
              <a:t>Human </a:t>
            </a:r>
            <a:r>
              <a:rPr dirty="0" sz="2300" spc="-270" b="1">
                <a:solidFill>
                  <a:srgbClr val="272424"/>
                </a:solidFill>
                <a:latin typeface="Verdana"/>
                <a:cs typeface="Verdana"/>
              </a:rPr>
              <a:t>Review</a:t>
            </a:r>
            <a:endParaRPr sz="2300">
              <a:latin typeface="Verdana"/>
              <a:cs typeface="Verdana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9014714" y="5993066"/>
            <a:ext cx="1562735" cy="3803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300" spc="-235" b="1">
                <a:solidFill>
                  <a:srgbClr val="272424"/>
                </a:solidFill>
                <a:latin typeface="Verdana"/>
                <a:cs typeface="Verdana"/>
              </a:rPr>
              <a:t>Fraud</a:t>
            </a:r>
            <a:r>
              <a:rPr dirty="0" sz="2300" spc="-80" b="1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2300" spc="-225" b="1">
                <a:solidFill>
                  <a:srgbClr val="272424"/>
                </a:solidFill>
                <a:latin typeface="Verdana"/>
                <a:cs typeface="Verdana"/>
              </a:rPr>
              <a:t>Alert</a:t>
            </a:r>
            <a:endParaRPr sz="2300">
              <a:latin typeface="Verdana"/>
              <a:cs typeface="Verdana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6668516" y="5807011"/>
            <a:ext cx="1416050" cy="752475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74295" marR="5080" indent="-62230">
              <a:lnSpc>
                <a:spcPts val="2930"/>
              </a:lnSpc>
              <a:spcBef>
                <a:spcPts val="60"/>
              </a:spcBef>
            </a:pPr>
            <a:r>
              <a:rPr dirty="0" sz="2300" spc="-210" b="1">
                <a:solidFill>
                  <a:srgbClr val="272424"/>
                </a:solidFill>
                <a:latin typeface="Verdana"/>
                <a:cs typeface="Verdana"/>
              </a:rPr>
              <a:t>Predictive </a:t>
            </a:r>
            <a:r>
              <a:rPr dirty="0" sz="2300" spc="-160" b="1">
                <a:solidFill>
                  <a:srgbClr val="272424"/>
                </a:solidFill>
                <a:latin typeface="Verdana"/>
                <a:cs typeface="Verdana"/>
              </a:rPr>
              <a:t>Analytics</a:t>
            </a:r>
            <a:endParaRPr sz="2300">
              <a:latin typeface="Verdana"/>
              <a:cs typeface="Verdana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4279519" y="5807011"/>
            <a:ext cx="1354455" cy="752475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 marR="5080" indent="60960">
              <a:lnSpc>
                <a:spcPts val="2930"/>
              </a:lnSpc>
              <a:spcBef>
                <a:spcPts val="60"/>
              </a:spcBef>
            </a:pPr>
            <a:r>
              <a:rPr dirty="0" sz="2300" spc="-280" b="1">
                <a:solidFill>
                  <a:srgbClr val="272424"/>
                </a:solidFill>
                <a:latin typeface="Verdana"/>
                <a:cs typeface="Verdana"/>
              </a:rPr>
              <a:t>Anomaly </a:t>
            </a:r>
            <a:r>
              <a:rPr dirty="0" sz="2300" spc="-229" b="1">
                <a:solidFill>
                  <a:srgbClr val="272424"/>
                </a:solidFill>
                <a:latin typeface="Verdana"/>
                <a:cs typeface="Verdana"/>
              </a:rPr>
              <a:t>Detection</a:t>
            </a:r>
            <a:endParaRPr sz="2300">
              <a:latin typeface="Verdana"/>
              <a:cs typeface="Verdana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1837435" y="5807011"/>
            <a:ext cx="1295400" cy="752475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 marR="5080" indent="318135">
              <a:lnSpc>
                <a:spcPts val="2930"/>
              </a:lnSpc>
              <a:spcBef>
                <a:spcPts val="60"/>
              </a:spcBef>
            </a:pPr>
            <a:r>
              <a:rPr dirty="0" sz="2300" spc="-295" b="1">
                <a:solidFill>
                  <a:srgbClr val="272424"/>
                </a:solidFill>
                <a:latin typeface="Verdana"/>
                <a:cs typeface="Verdana"/>
              </a:rPr>
              <a:t>Data Ingestion</a:t>
            </a:r>
            <a:endParaRPr sz="2300">
              <a:latin typeface="Verdana"/>
              <a:cs typeface="Verdana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700405" y="7412672"/>
            <a:ext cx="10963275" cy="2654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>
                <a:solidFill>
                  <a:srgbClr val="272424"/>
                </a:solidFill>
                <a:latin typeface="Verdana"/>
                <a:cs typeface="Verdana"/>
              </a:rPr>
              <a:t>This</a:t>
            </a:r>
            <a:r>
              <a:rPr dirty="0" sz="15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550" spc="-10">
                <a:solidFill>
                  <a:srgbClr val="272424"/>
                </a:solidFill>
                <a:latin typeface="Verdana"/>
                <a:cs typeface="Verdana"/>
              </a:rPr>
              <a:t>proactive</a:t>
            </a:r>
            <a:r>
              <a:rPr dirty="0" sz="1550" spc="-4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550" spc="-10">
                <a:solidFill>
                  <a:srgbClr val="272424"/>
                </a:solidFill>
                <a:latin typeface="Verdana"/>
                <a:cs typeface="Verdana"/>
              </a:rPr>
              <a:t>approach</a:t>
            </a:r>
            <a:r>
              <a:rPr dirty="0" sz="1550" spc="-13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550" spc="-20">
                <a:solidFill>
                  <a:srgbClr val="272424"/>
                </a:solidFill>
                <a:latin typeface="Verdana"/>
                <a:cs typeface="Verdana"/>
              </a:rPr>
              <a:t>significantly</a:t>
            </a:r>
            <a:r>
              <a:rPr dirty="0" sz="1550" spc="-8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550">
                <a:solidFill>
                  <a:srgbClr val="272424"/>
                </a:solidFill>
                <a:latin typeface="Verdana"/>
                <a:cs typeface="Verdana"/>
              </a:rPr>
              <a:t>reduces</a:t>
            </a:r>
            <a:r>
              <a:rPr dirty="0" sz="15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550" spc="-10">
                <a:solidFill>
                  <a:srgbClr val="272424"/>
                </a:solidFill>
                <a:latin typeface="Verdana"/>
                <a:cs typeface="Verdana"/>
              </a:rPr>
              <a:t>exposure</a:t>
            </a:r>
            <a:r>
              <a:rPr dirty="0" sz="1550" spc="-4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550" spc="-55">
                <a:solidFill>
                  <a:srgbClr val="272424"/>
                </a:solidFill>
                <a:latin typeface="Verdana"/>
                <a:cs typeface="Verdana"/>
              </a:rPr>
              <a:t>to</a:t>
            </a:r>
            <a:r>
              <a:rPr dirty="0" sz="1550" spc="-14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550" spc="-10">
                <a:solidFill>
                  <a:srgbClr val="272424"/>
                </a:solidFill>
                <a:latin typeface="Verdana"/>
                <a:cs typeface="Verdana"/>
              </a:rPr>
              <a:t>fraud</a:t>
            </a:r>
            <a:r>
              <a:rPr dirty="0" sz="1550" spc="-8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550">
                <a:solidFill>
                  <a:srgbClr val="272424"/>
                </a:solidFill>
                <a:latin typeface="Verdana"/>
                <a:cs typeface="Verdana"/>
              </a:rPr>
              <a:t>and</a:t>
            </a:r>
            <a:r>
              <a:rPr dirty="0" sz="1550" spc="-9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550">
                <a:solidFill>
                  <a:srgbClr val="272424"/>
                </a:solidFill>
                <a:latin typeface="Verdana"/>
                <a:cs typeface="Verdana"/>
              </a:rPr>
              <a:t>enhances</a:t>
            </a:r>
            <a:r>
              <a:rPr dirty="0" sz="15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550" spc="-45">
                <a:solidFill>
                  <a:srgbClr val="272424"/>
                </a:solidFill>
                <a:latin typeface="Verdana"/>
                <a:cs typeface="Verdana"/>
              </a:rPr>
              <a:t>the</a:t>
            </a:r>
            <a:r>
              <a:rPr dirty="0" sz="15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550" spc="-40">
                <a:solidFill>
                  <a:srgbClr val="272424"/>
                </a:solidFill>
                <a:latin typeface="Verdana"/>
                <a:cs typeface="Verdana"/>
              </a:rPr>
              <a:t>integrity</a:t>
            </a:r>
            <a:r>
              <a:rPr dirty="0" sz="1550" spc="-8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550">
                <a:solidFill>
                  <a:srgbClr val="272424"/>
                </a:solidFill>
                <a:latin typeface="Verdana"/>
                <a:cs typeface="Verdana"/>
              </a:rPr>
              <a:t>of</a:t>
            </a:r>
            <a:r>
              <a:rPr dirty="0" sz="1550" spc="-8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550" spc="-50">
                <a:solidFill>
                  <a:srgbClr val="272424"/>
                </a:solidFill>
                <a:latin typeface="Verdana"/>
                <a:cs typeface="Verdana"/>
              </a:rPr>
              <a:t>the</a:t>
            </a:r>
            <a:r>
              <a:rPr dirty="0" sz="1550" spc="-4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550" spc="-25">
                <a:solidFill>
                  <a:srgbClr val="272424"/>
                </a:solidFill>
                <a:latin typeface="Verdana"/>
                <a:cs typeface="Verdana"/>
              </a:rPr>
              <a:t>claims</a:t>
            </a:r>
            <a:r>
              <a:rPr dirty="0" sz="15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550" spc="-10">
                <a:solidFill>
                  <a:srgbClr val="272424"/>
                </a:solidFill>
                <a:latin typeface="Verdana"/>
                <a:cs typeface="Verdana"/>
              </a:rPr>
              <a:t>process.</a:t>
            </a:r>
            <a:endParaRPr sz="15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2026-02-24T15:02:48Z</dcterms:created>
  <dcterms:modified xsi:type="dcterms:W3CDTF">2026-02-24T15:02:48Z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2026-02-24T00:00:00Z</vt:filetime>
  </property>
  <property fmtid="{D5CDD505-2E9C-101B-9397-08002B2CF9AE}" pid="3" name="LastSaved">
    <vt:filetime>2026-02-24T00:00:00Z</vt:filetime>
  </property>
</Properties>
</file>